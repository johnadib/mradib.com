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4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8406865a96477f" /><Relationship Type="http://schemas.openxmlformats.org/officeDocument/2006/relationships/extended-properties" Target="/docProps/app.xml" Id="R632821b54fc74a08" /><Relationship Type="http://schemas.openxmlformats.org/officeDocument/2006/relationships/officeDocument" Target="/ppt/presentation.xml" Id="R662569ee04244a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42230a66134ed8"/>
  </p:sldMasterIdLst>
  <p:notesMasterIdLst>
    <p:notesMasterId xmlns:r="http://schemas.openxmlformats.org/officeDocument/2006/relationships" r:id="R3a68f822e5c44050"/>
  </p:notesMasterIdLst>
  <p:sldIdLst>
    <p:sldId xmlns:r="http://schemas.openxmlformats.org/officeDocument/2006/relationships" id="256" r:id="R6242b6770eb2477c"/>
    <p:sldId xmlns:r="http://schemas.openxmlformats.org/officeDocument/2006/relationships" id="257" r:id="R6ea11f2429794158"/>
    <p:sldId xmlns:r="http://schemas.openxmlformats.org/officeDocument/2006/relationships" id="258" r:id="Rab75239e9876451d"/>
    <p:sldId xmlns:r="http://schemas.openxmlformats.org/officeDocument/2006/relationships" id="259" r:id="R019d947971244bf8"/>
    <p:sldId xmlns:r="http://schemas.openxmlformats.org/officeDocument/2006/relationships" id="260" r:id="R23ef01c01baf451e"/>
    <p:sldId xmlns:r="http://schemas.openxmlformats.org/officeDocument/2006/relationships" id="261" r:id="R70393286cca6446f"/>
    <p:sldId xmlns:r="http://schemas.openxmlformats.org/officeDocument/2006/relationships" id="262" r:id="Re72aace4226541c0"/>
    <p:sldId xmlns:r="http://schemas.openxmlformats.org/officeDocument/2006/relationships" id="263" r:id="R772d18193f4f4526"/>
    <p:sldId xmlns:r="http://schemas.openxmlformats.org/officeDocument/2006/relationships" id="264" r:id="R201289880bea4489"/>
    <p:sldId xmlns:r="http://schemas.openxmlformats.org/officeDocument/2006/relationships" id="265" r:id="R3563a71e8a694864"/>
    <p:sldId xmlns:r="http://schemas.openxmlformats.org/officeDocument/2006/relationships" id="266" r:id="R22bd819a8d0e4362"/>
    <p:sldId xmlns:r="http://schemas.openxmlformats.org/officeDocument/2006/relationships" id="267" r:id="R400c23a07cda49a3"/>
    <p:sldId xmlns:r="http://schemas.openxmlformats.org/officeDocument/2006/relationships" id="268" r:id="R2027bcd67e694543"/>
    <p:sldId xmlns:r="http://schemas.openxmlformats.org/officeDocument/2006/relationships" id="269" r:id="R8ef3f876086d4634"/>
    <p:sldId xmlns:r="http://schemas.openxmlformats.org/officeDocument/2006/relationships" id="270" r:id="Rc25c60b2059d4b5d"/>
    <p:sldId xmlns:r="http://schemas.openxmlformats.org/officeDocument/2006/relationships" id="271" r:id="R74c385ffb3fb4801"/>
    <p:sldId xmlns:r="http://schemas.openxmlformats.org/officeDocument/2006/relationships" id="272" r:id="R9115697d294844b7"/>
    <p:sldId xmlns:r="http://schemas.openxmlformats.org/officeDocument/2006/relationships" id="273" r:id="R67fabeed0ad14146"/>
    <p:sldId xmlns:r="http://schemas.openxmlformats.org/officeDocument/2006/relationships" id="274" r:id="R3bf6dae782cf417d"/>
    <p:sldId xmlns:r="http://schemas.openxmlformats.org/officeDocument/2006/relationships" id="275" r:id="R31bca8e10fb64491"/>
    <p:sldId xmlns:r="http://schemas.openxmlformats.org/officeDocument/2006/relationships" id="276" r:id="Re54a2b1bf274466c"/>
    <p:sldId xmlns:r="http://schemas.openxmlformats.org/officeDocument/2006/relationships" id="277" r:id="Rd56f96b047ad4ae5"/>
    <p:sldId xmlns:r="http://schemas.openxmlformats.org/officeDocument/2006/relationships" id="278" r:id="Ra66d1e7da4ce4762"/>
    <p:sldId xmlns:r="http://schemas.openxmlformats.org/officeDocument/2006/relationships" id="279" r:id="Rbbb8f57e47f34056"/>
    <p:sldId xmlns:r="http://schemas.openxmlformats.org/officeDocument/2006/relationships" id="280" r:id="R0bc4414675444462"/>
    <p:sldId xmlns:r="http://schemas.openxmlformats.org/officeDocument/2006/relationships" id="281" r:id="R2a56e3d836de4214"/>
    <p:sldId xmlns:r="http://schemas.openxmlformats.org/officeDocument/2006/relationships" id="282" r:id="R5235662946bf45ab"/>
    <p:sldId xmlns:r="http://schemas.openxmlformats.org/officeDocument/2006/relationships" id="283" r:id="R913cbeb70c824ab3"/>
    <p:sldId xmlns:r="http://schemas.openxmlformats.org/officeDocument/2006/relationships" id="284" r:id="R387d2c6ed8d3405b"/>
    <p:sldId xmlns:r="http://schemas.openxmlformats.org/officeDocument/2006/relationships" id="285" r:id="R892c3e30d3e44657"/>
    <p:sldId xmlns:r="http://schemas.openxmlformats.org/officeDocument/2006/relationships" id="286" r:id="R1a267681a5d34a3e"/>
    <p:sldId xmlns:r="http://schemas.openxmlformats.org/officeDocument/2006/relationships" id="287" r:id="Re159c0961b8c41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50326b173a4ad7" /><Relationship Type="http://schemas.openxmlformats.org/officeDocument/2006/relationships/slideMaster" Target="/ppt/slideMasters/slideMaster1.xml" Id="R8842230a66134ed8" /><Relationship Type="http://schemas.openxmlformats.org/officeDocument/2006/relationships/notesMaster" Target="/ppt/notesMasters/notesMaster1.xml" Id="R3a68f822e5c44050" /><Relationship Type="http://schemas.openxmlformats.org/officeDocument/2006/relationships/presProps" Target="/ppt/presProps.xml" Id="Re9bfbc7787404ad9" /><Relationship Type="http://schemas.openxmlformats.org/officeDocument/2006/relationships/tableStyles" Target="/ppt/tableStyles.xml" Id="Rf28037ebd2314c25" /><Relationship Type="http://schemas.openxmlformats.org/officeDocument/2006/relationships/slide" Target="/ppt/slides/slide1.xml" Id="R6242b6770eb2477c" /><Relationship Type="http://schemas.openxmlformats.org/officeDocument/2006/relationships/slide" Target="/ppt/slides/slide2.xml" Id="R6ea11f2429794158" /><Relationship Type="http://schemas.openxmlformats.org/officeDocument/2006/relationships/slide" Target="/ppt/slides/slide3.xml" Id="Rab75239e9876451d" /><Relationship Type="http://schemas.openxmlformats.org/officeDocument/2006/relationships/slide" Target="/ppt/slides/slide4.xml" Id="R019d947971244bf8" /><Relationship Type="http://schemas.openxmlformats.org/officeDocument/2006/relationships/slide" Target="/ppt/slides/slide5.xml" Id="R23ef01c01baf451e" /><Relationship Type="http://schemas.openxmlformats.org/officeDocument/2006/relationships/slide" Target="/ppt/slides/slide6.xml" Id="R70393286cca6446f" /><Relationship Type="http://schemas.openxmlformats.org/officeDocument/2006/relationships/slide" Target="/ppt/slides/slide7.xml" Id="Re72aace4226541c0" /><Relationship Type="http://schemas.openxmlformats.org/officeDocument/2006/relationships/slide" Target="/ppt/slides/slide8.xml" Id="R772d18193f4f4526" /><Relationship Type="http://schemas.openxmlformats.org/officeDocument/2006/relationships/slide" Target="/ppt/slides/slide9.xml" Id="R201289880bea4489" /><Relationship Type="http://schemas.openxmlformats.org/officeDocument/2006/relationships/slide" Target="/ppt/slides/slide10.xml" Id="R3563a71e8a694864" /><Relationship Type="http://schemas.openxmlformats.org/officeDocument/2006/relationships/slide" Target="/ppt/slides/slide11.xml" Id="R22bd819a8d0e4362" /><Relationship Type="http://schemas.openxmlformats.org/officeDocument/2006/relationships/slide" Target="/ppt/slides/slide12.xml" Id="R400c23a07cda49a3" /><Relationship Type="http://schemas.openxmlformats.org/officeDocument/2006/relationships/slide" Target="/ppt/slides/slide13.xml" Id="R2027bcd67e694543" /><Relationship Type="http://schemas.openxmlformats.org/officeDocument/2006/relationships/slide" Target="/ppt/slides/slide14.xml" Id="R8ef3f876086d4634" /><Relationship Type="http://schemas.openxmlformats.org/officeDocument/2006/relationships/slide" Target="/ppt/slides/slide15.xml" Id="Rc25c60b2059d4b5d" /><Relationship Type="http://schemas.openxmlformats.org/officeDocument/2006/relationships/slide" Target="/ppt/slides/slide16.xml" Id="R74c385ffb3fb4801" /><Relationship Type="http://schemas.openxmlformats.org/officeDocument/2006/relationships/slide" Target="/ppt/slides/slide17.xml" Id="R9115697d294844b7" /><Relationship Type="http://schemas.openxmlformats.org/officeDocument/2006/relationships/slide" Target="/ppt/slides/slide18.xml" Id="R67fabeed0ad14146" /><Relationship Type="http://schemas.openxmlformats.org/officeDocument/2006/relationships/slide" Target="/ppt/slides/slide19.xml" Id="R3bf6dae782cf417d" /><Relationship Type="http://schemas.openxmlformats.org/officeDocument/2006/relationships/slide" Target="/ppt/slides/slide20.xml" Id="R31bca8e10fb64491" /><Relationship Type="http://schemas.openxmlformats.org/officeDocument/2006/relationships/slide" Target="/ppt/slides/slide21.xml" Id="Re54a2b1bf274466c" /><Relationship Type="http://schemas.openxmlformats.org/officeDocument/2006/relationships/slide" Target="/ppt/slides/slide22.xml" Id="Rd56f96b047ad4ae5" /><Relationship Type="http://schemas.openxmlformats.org/officeDocument/2006/relationships/slide" Target="/ppt/slides/slide23.xml" Id="Ra66d1e7da4ce4762" /><Relationship Type="http://schemas.openxmlformats.org/officeDocument/2006/relationships/slide" Target="/ppt/slides/slide24.xml" Id="Rbbb8f57e47f34056" /><Relationship Type="http://schemas.openxmlformats.org/officeDocument/2006/relationships/slide" Target="/ppt/slides/slide25.xml" Id="R0bc4414675444462" /><Relationship Type="http://schemas.openxmlformats.org/officeDocument/2006/relationships/slide" Target="/ppt/slides/slide26.xml" Id="R2a56e3d836de4214" /><Relationship Type="http://schemas.openxmlformats.org/officeDocument/2006/relationships/slide" Target="/ppt/slides/slide27.xml" Id="R5235662946bf45ab" /><Relationship Type="http://schemas.openxmlformats.org/officeDocument/2006/relationships/slide" Target="/ppt/slides/slide28.xml" Id="R913cbeb70c824ab3" /><Relationship Type="http://schemas.openxmlformats.org/officeDocument/2006/relationships/slide" Target="/ppt/slides/slide29.xml" Id="R387d2c6ed8d3405b" /><Relationship Type="http://schemas.openxmlformats.org/officeDocument/2006/relationships/slide" Target="/ppt/slides/slide30.xml" Id="R892c3e30d3e44657" /><Relationship Type="http://schemas.openxmlformats.org/officeDocument/2006/relationships/slide" Target="/ppt/slides/slide31.xml" Id="R1a267681a5d34a3e" /><Relationship Type="http://schemas.openxmlformats.org/officeDocument/2006/relationships/slide" Target="/ppt/slides/slide32.xml" Id="Re159c0961b8c41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f162efda4049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28e42d043b47db" /><Relationship Type="http://schemas.openxmlformats.org/officeDocument/2006/relationships/notesMaster" Target="/ppt/notesMasters/notesMaster1.xml" Id="Rc9583a4419ad49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37107d151a4f63" /><Relationship Type="http://schemas.openxmlformats.org/officeDocument/2006/relationships/notesMaster" Target="/ppt/notesMasters/notesMaster1.xml" Id="R841a5f7abe3f40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296c39dd04db9" /><Relationship Type="http://schemas.openxmlformats.org/officeDocument/2006/relationships/notesMaster" Target="/ppt/notesMasters/notesMaster1.xml" Id="R53035814269048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af9011aacf4478" /><Relationship Type="http://schemas.openxmlformats.org/officeDocument/2006/relationships/notesMaster" Target="/ppt/notesMasters/notesMaster1.xml" Id="R37c6734186e949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d7d40b52b94391" /><Relationship Type="http://schemas.openxmlformats.org/officeDocument/2006/relationships/notesMaster" Target="/ppt/notesMasters/notesMaster1.xml" Id="Rcf80cc9eeac8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5d8ced1780492c" /><Relationship Type="http://schemas.openxmlformats.org/officeDocument/2006/relationships/notesMaster" Target="/ppt/notesMasters/notesMaster1.xml" Id="R0bf14c8a158a44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6ee474e51d41f3" /><Relationship Type="http://schemas.openxmlformats.org/officeDocument/2006/relationships/notesMaster" Target="/ppt/notesMasters/notesMaster1.xml" Id="R0122664399ec4c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2058d7bcf74a2c" /><Relationship Type="http://schemas.openxmlformats.org/officeDocument/2006/relationships/notesMaster" Target="/ppt/notesMasters/notesMaster1.xml" Id="R1dedcab8367a40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874391aeb149c5" /><Relationship Type="http://schemas.openxmlformats.org/officeDocument/2006/relationships/notesMaster" Target="/ppt/notesMasters/notesMaster1.xml" Id="R7c1069c328e247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996d7fe33f43b9" /><Relationship Type="http://schemas.openxmlformats.org/officeDocument/2006/relationships/notesMaster" Target="/ppt/notesMasters/notesMaster1.xml" Id="Rf16a57c840db40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629ee9377c43b2" /><Relationship Type="http://schemas.openxmlformats.org/officeDocument/2006/relationships/notesMaster" Target="/ppt/notesMasters/notesMaster1.xml" Id="Rc23bbd209f0f4a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65560e0b7d49ea" /><Relationship Type="http://schemas.openxmlformats.org/officeDocument/2006/relationships/notesMaster" Target="/ppt/notesMasters/notesMaster1.xml" Id="Ra44c84b9349e40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1e3084ab474dbc" /><Relationship Type="http://schemas.openxmlformats.org/officeDocument/2006/relationships/notesMaster" Target="/ppt/notesMasters/notesMaster1.xml" Id="R41a71c42d6d64f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b552ee783a4070" /><Relationship Type="http://schemas.openxmlformats.org/officeDocument/2006/relationships/notesMaster" Target="/ppt/notesMasters/notesMaster1.xml" Id="R4599ebad1b4d42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e8b6843391456e" /><Relationship Type="http://schemas.openxmlformats.org/officeDocument/2006/relationships/notesMaster" Target="/ppt/notesMasters/notesMaster1.xml" Id="Rca023369f26141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65571d9b33464e" /><Relationship Type="http://schemas.openxmlformats.org/officeDocument/2006/relationships/notesMaster" Target="/ppt/notesMasters/notesMaster1.xml" Id="R035a5adbb97b49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e8f34c12844682" /><Relationship Type="http://schemas.openxmlformats.org/officeDocument/2006/relationships/notesMaster" Target="/ppt/notesMasters/notesMaster1.xml" Id="R685332c321e54ef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eb33b8195544b4" /><Relationship Type="http://schemas.openxmlformats.org/officeDocument/2006/relationships/notesMaster" Target="/ppt/notesMasters/notesMaster1.xml" Id="R4bc170acc80b4d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226fa81d7a46f9" /><Relationship Type="http://schemas.openxmlformats.org/officeDocument/2006/relationships/notesMaster" Target="/ppt/notesMasters/notesMaster1.xml" Id="Re0eaf353d79146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f4370d3b494610" /><Relationship Type="http://schemas.openxmlformats.org/officeDocument/2006/relationships/notesMaster" Target="/ppt/notesMasters/notesMaster1.xml" Id="Ra204d97f5f1a4e6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d69259c4204089" /><Relationship Type="http://schemas.openxmlformats.org/officeDocument/2006/relationships/notesMaster" Target="/ppt/notesMasters/notesMaster1.xml" Id="Rb0b269519bf74a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8ab7a63c494ab3" /><Relationship Type="http://schemas.openxmlformats.org/officeDocument/2006/relationships/notesMaster" Target="/ppt/notesMasters/notesMaster1.xml" Id="Rebd01f24440845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bb8137dbd74075" /><Relationship Type="http://schemas.openxmlformats.org/officeDocument/2006/relationships/notesMaster" Target="/ppt/notesMasters/notesMaster1.xml" Id="R13ba9649f2604d3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e37b3bcfeef4569" /><Relationship Type="http://schemas.openxmlformats.org/officeDocument/2006/relationships/notesMaster" Target="/ppt/notesMasters/notesMaster1.xml" Id="R15badf627dd546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c743b51308c491d" /><Relationship Type="http://schemas.openxmlformats.org/officeDocument/2006/relationships/notesMaster" Target="/ppt/notesMasters/notesMaster1.xml" Id="R59cbc210c2c042f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c7b88d2a08a4f59" /><Relationship Type="http://schemas.openxmlformats.org/officeDocument/2006/relationships/notesMaster" Target="/ppt/notesMasters/notesMaster1.xml" Id="R9127bd7ccb1f4ae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f08b6f6f31041b7" /><Relationship Type="http://schemas.openxmlformats.org/officeDocument/2006/relationships/notesMaster" Target="/ppt/notesMasters/notesMaster1.xml" Id="R05af4c8b5f654bb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18219e34ca943bd" /><Relationship Type="http://schemas.openxmlformats.org/officeDocument/2006/relationships/notesMaster" Target="/ppt/notesMasters/notesMaster1.xml" Id="Rb2d711e7ecb445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5f36395721548fa" /><Relationship Type="http://schemas.openxmlformats.org/officeDocument/2006/relationships/notesMaster" Target="/ppt/notesMasters/notesMaster1.xml" Id="R884d2d914ea64d8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0a1ce2cf2f14234" /><Relationship Type="http://schemas.openxmlformats.org/officeDocument/2006/relationships/notesMaster" Target="/ppt/notesMasters/notesMaster1.xml" Id="R9bb7628cadff443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60cc2635f2648c6" /><Relationship Type="http://schemas.openxmlformats.org/officeDocument/2006/relationships/notesMaster" Target="/ppt/notesMasters/notesMaster1.xml" Id="R2721346e353a432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85135f40eda4833" /><Relationship Type="http://schemas.openxmlformats.org/officeDocument/2006/relationships/notesMaster" Target="/ppt/notesMasters/notesMaster1.xml" Id="Re43a172462e148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Code finished. Confidence missing.</a:t>
            </a:r>
          </a:p>
          <a:p xmlns:a="http://schemas.openxmlformats.org/drawingml/2006/main">
            <a:r>
              <a:t>• React Native + AI adoption</a:t>
            </a:r>
          </a:p>
          <a:p xmlns:a="http://schemas.openxmlformats.org/drawingml/2006/main">
            <a:r>
              <a:t>• Verification inside everyday development</a:t>
            </a:r>
          </a:p>
          <a:p xmlns:a="http://schemas.openxmlformats.org/drawingml/2006/main">
            <a:r>
              <a:t>• John Adib · MrAdib.com</a:t>
            </a:r>
          </a:p>
          <a:p xmlns:a="http://schemas.openxmlformats.org/drawingml/2006/main">
            <a:r>
              <a:t>• React Native London Meetup. 22 October 2026</a:t>
            </a:r>
          </a:p>
          <a:p xmlns:a="http://schemas.openxmlformats.org/drawingml/2006/main">
            <a:r>
              <a:t>• Funding Circle, 71 Queen Victoria Street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Regressions every release</a:t>
            </a:r>
          </a:p>
          <a:p xmlns:a="http://schemas.openxmlformats.org/drawingml/2006/main">
            <a:r>
              <a:t>• Previously checked behaviour breaks again</a:t>
            </a:r>
          </a:p>
          <a:p xmlns:a="http://schemas.openxmlformats.org/drawingml/2006/main">
            <a:r>
              <a:t>• Repeated work. Falling confidence.</a:t>
            </a:r>
          </a:p>
          <a:p xmlns:a="http://schemas.openxmlformats.org/drawingml/2006/main">
            <a:r>
              <a:t>• First-hand experience, not an incident-rate metric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Small unit-test suite</a:t>
            </a:r>
          </a:p>
          <a:p xmlns:a="http://schemas.openxmlformats.org/drawingml/2006/main">
            <a:r>
              <a:t>• End-to-end checks outside CI</a:t>
            </a:r>
          </a:p>
          <a:p xmlns:a="http://schemas.openxmlformats.org/drawingml/2006/main">
            <a:r>
              <a:t>• Nobody ran them</a:t>
            </a:r>
          </a:p>
          <a:p xmlns:a="http://schemas.openxmlformats.org/drawingml/2006/main">
            <a:r>
              <a:t>• Files existed. Reliable feedback did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More than three days of app QA</a:t>
            </a:r>
          </a:p>
          <a:p xmlns:a="http://schemas.openxmlformats.org/drawingml/2006/main">
            <a:r>
              <a:t>• Engineering, product, UX/design</a:t>
            </a:r>
          </a:p>
          <a:p xmlns:a="http://schemas.openxmlformats.org/drawingml/2006/main">
            <a:r>
              <a:t>• Many people pause their own work</a:t>
            </a:r>
          </a:p>
          <a:p xmlns:a="http://schemas.openxmlformats.org/drawingml/2006/main">
            <a:r>
              <a:t>• The cost: interrupted progress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Days waiting for approval</a:t>
            </a:r>
          </a:p>
          <a:p xmlns:a="http://schemas.openxmlformats.org/drawingml/2006/main">
            <a:r>
              <a:t>• Sign-off chain holds the whole release</a:t>
            </a:r>
          </a:p>
          <a:p xmlns:a="http://schemas.openxmlformats.org/drawingml/2006/main">
            <a:r>
              <a:t>• One feature delays other work</a:t>
            </a:r>
          </a:p>
          <a:p xmlns:a="http://schemas.openxmlformats.org/drawingml/2006/main">
            <a:r>
              <a:t>• Later: approve the feature flag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Existing projects delayed over a quarter</a:t>
            </a:r>
          </a:p>
          <a:p xmlns:a="http://schemas.openxmlformats.org/drawingml/2006/main">
            <a:r>
              <a:t>• Regression work + slow QA + release queues</a:t>
            </a:r>
          </a:p>
          <a:p xmlns:a="http://schemas.openxmlformats.org/drawingml/2006/main">
            <a:r>
              <a:t>• Backlog uncertainty</a:t>
            </a:r>
          </a:p>
          <a:p xmlns:a="http://schemas.openxmlformats.org/drawingml/2006/main">
            <a:r>
              <a:t>• Process problem, not individual blame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John Adib · London</a:t>
            </a:r>
          </a:p>
          <a:p xmlns:a="http://schemas.openxmlformats.org/drawingml/2006/main">
            <a:r>
              <a:t>• 2× co-founder. Former CTO. 18 years.</a:t>
            </a:r>
          </a:p>
          <a:p xmlns:a="http://schemas.openxmlformats.org/drawingml/2006/main">
            <a:r>
              <a:t>• Engineering leader + mentor</a:t>
            </a:r>
          </a:p>
          <a:p xmlns:a="http://schemas.openxmlformats.org/drawingml/2006/main">
            <a:r>
              <a:t>• Product engineering. Broader ownership.</a:t>
            </a:r>
          </a:p>
          <a:p xmlns:a="http://schemas.openxmlformats.org/drawingml/2006/main">
            <a:r>
              <a:t>• I love moving mountains.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Repeat the good engineering habits</a:t>
            </a:r>
          </a:p>
          <a:p xmlns:a="http://schemas.openxmlformats.org/drawingml/2006/main">
            <a:r>
              <a:t>• AI adoption includes verification</a:t>
            </a:r>
          </a:p>
          <a:p xmlns:a="http://schemas.openxmlformats.org/drawingml/2006/main">
            <a:r>
              <a:t>• Seven changes, one development loop</a:t>
            </a:r>
          </a:p>
          <a:p xmlns:a="http://schemas.openxmlformats.org/drawingml/2006/main">
            <a:r>
              <a:t>• First: reusable 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cook: coordinate; sherlock: discover</a:t>
            </a:r>
          </a:p>
          <a:p xmlns:a="http://schemas.openxmlformats.org/drawingml/2006/main">
            <a:r>
              <a:t>• dig: research; mastermind: plan</a:t>
            </a:r>
          </a:p>
          <a:p xmlns:a="http://schemas.openxmlformats.org/drawingml/2006/main">
            <a:r>
              <a:t>• michelin: implement; mugshot: capture</a:t>
            </a:r>
          </a:p>
          <a:p xmlns:a="http://schemas.openxmlformats.org/drawingml/2006/main">
            <a:r>
              <a:t>• parole: evaluate feedback; saul: communicate</a:t>
            </a:r>
          </a:p>
          <a:p xmlns:a="http://schemas.openxmlformats.org/drawingml/2006/main">
            <a:r>
              <a:t>• One workflow. Focus next on Michelin.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18 years of engineering judgement, written down</a:t>
            </a:r>
          </a:p>
          <a:p xmlns:a="http://schemas.openxmlformats.org/drawingml/2006/main">
            <a:r>
              <a:t>• Reuse: code, components, patterns, tools</a:t>
            </a:r>
          </a:p>
          <a:p xmlns:a="http://schemas.openxmlformats.org/drawingml/2006/main">
            <a:r>
              <a:t>• Separation: UI, state, business decisions</a:t>
            </a:r>
          </a:p>
          <a:p xmlns:a="http://schemas.openxmlformats.org/drawingml/2006/main">
            <a:r>
              <a:t>• Quality: tests, readability, actual check results</a:t>
            </a:r>
          </a:p>
          <a:p xmlns:a="http://schemas.openxmlformats.org/drawingml/2006/main">
            <a:r>
              <a:t>• Shared standards for implementation and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Next: meaningful tests</a:t>
            </a:r>
          </a:p>
          <a:p xmlns:a="http://schemas.openxmlformats.org/drawingml/2006/main">
            <a:r>
              <a:t>• Expected behaviour + failure case</a:t>
            </a:r>
          </a:p>
          <a:p xmlns:a="http://schemas.openxmlformats.org/drawingml/2006/main">
            <a:r>
              <a:t>• Every correction leaves protection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Before editing: read the testing guidelines</a:t>
            </a:r>
          </a:p>
          <a:p xmlns:a="http://schemas.openxmlformats.org/drawingml/2006/main">
            <a:r>
              <a:t>• New code must include meaningful tests</a:t>
            </a:r>
          </a:p>
          <a:p xmlns:a="http://schemas.openxmlformats.org/drawingml/2006/main">
            <a:r>
              <a:t>• Bug fix: reproduce failure, prove the fix, preserve working behaviour</a:t>
            </a:r>
          </a:p>
          <a:p xmlns:a="http://schemas.openxmlformats.org/drawingml/2006/main">
            <a:r>
              <a:t>• Human-readable test titles help people and AI understand intent</a:t>
            </a:r>
          </a:p>
          <a:p xmlns:a="http://schemas.openxmlformats.org/drawingml/2006/main">
            <a:r>
              <a:t>• Never lower the bar. Raise it gradually.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April: 113 files. September: 1,669. 8 October: 2,257</a:t>
            </a:r>
          </a:p>
          <a:p xmlns:a="http://schemas.openxmlformats.org/drawingml/2006/main">
            <a:r>
              <a:t>• Dashed line: joined in April</a:t>
            </a:r>
          </a:p>
          <a:p xmlns:a="http://schemas.openxmlformats.org/drawingml/2006/main">
            <a:r>
              <a:t>• October is a dated checkpoint, not month end</a:t>
            </a:r>
          </a:p>
          <a:p xmlns:a="http://schemas.openxmlformats.org/drawingml/2006/main">
            <a:r>
              <a:t>• Files can contain many tests. Coverage is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CI on every PR</a:t>
            </a:r>
          </a:p>
          <a:p xmlns:a="http://schemas.openxmlformats.org/drawingml/2006/main">
            <a:r>
              <a:t>• Lint, types, tests and build</a:t>
            </a:r>
          </a:p>
          <a:p xmlns:a="http://schemas.openxmlformats.org/drawingml/2006/main">
            <a:r>
              <a:t>• Failed checks block the pipeline</a:t>
            </a:r>
          </a:p>
          <a:p xmlns:a="http://schemas.openxmlformats.org/drawingml/2006/main">
            <a:r>
              <a:t>• Parole watches results. Michelin makes valid fixes.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Automated CI on every PR</a:t>
            </a:r>
          </a:p>
          <a:p xmlns:a="http://schemas.openxmlformats.org/drawingml/2006/main">
            <a:r>
              <a:t>• Parole continuously checks the results</a:t>
            </a:r>
          </a:p>
          <a:p xmlns:a="http://schemas.openxmlformats.org/drawingml/2006/main">
            <a:r>
              <a:t>• Evaluate the failure and pass valid work to Michelin</a:t>
            </a:r>
          </a:p>
          <a:p xmlns:a="http://schemas.openxmlformats.org/drawingml/2006/main">
            <a:r>
              <a:t>• Michelin fixes, commits and pushes</a:t>
            </a:r>
          </a:p>
          <a:p xmlns:a="http://schemas.openxmlformats.org/drawingml/2006/main">
            <a:r>
              <a:t>• New commit triggers CI and another review. Repeat until clear.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September: 72.02%. 2 October: 75.04%. 8 October: 99.26%</a:t>
            </a:r>
          </a:p>
          <a:p xmlns:a="http://schemas.openxmlformats.org/drawingml/2006/main">
            <a:r>
              <a:t>• Four Jest coverage shards merged</a:t>
            </a:r>
          </a:p>
          <a:p xmlns:a="http://schemas.openxmlformats.org/drawingml/2006/main">
            <a:r>
              <a:t>• Covered lines: 19,178 to 22,903</a:t>
            </a:r>
          </a:p>
          <a:p xmlns:a="http://schemas.openxmlformats.org/drawingml/2006/main">
            <a:r>
              <a:t>• Eligible lines: 25,555 to 23,072. Scope excludes helpers and dev code</a:t>
            </a:r>
          </a:p>
          <a:p xmlns:a="http://schemas.openxmlformats.org/drawingml/2006/main">
            <a:r>
              <a:t>• New tests and scope both affect the percentage</a:t>
            </a:r>
          </a:p>
          <a:p xmlns:a="http://schemas.openxmlformats.org/drawingml/2006/main">
            <a:r>
              <a:t>• Thresholds pinned to measured baseline. Coverage is not test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Maestro on Android and iOS</a:t>
            </a:r>
          </a:p>
          <a:p xmlns:a="http://schemas.openxmlformats.org/drawingml/2006/main">
            <a:r>
              <a:t>• Label-selected PR smoke and full runs</a:t>
            </a:r>
          </a:p>
          <a:p xmlns:a="http://schemas.openxmlformats.org/drawingml/2006/main">
            <a:r>
              <a:t>• Scheduled suite overnight</a:t>
            </a:r>
          </a:p>
          <a:p xmlns:a="http://schemas.openxmlformats.org/drawingml/2006/main">
            <a:r>
              <a:t>• Device results need their own scope. Nightly is not a universal release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PR labels select smoke or full device checks</a:t>
            </a:r>
          </a:p>
          <a:p xmlns:a="http://schemas.openxmlformats.org/drawingml/2006/main">
            <a:r>
              <a:t>• 33 nightly jobs. 23 iOS, 10 Android</a:t>
            </a:r>
          </a:p>
          <a:p xmlns:a="http://schemas.openxmlformats.org/drawingml/2006/main">
            <a:r>
              <a:t>• Configured jobs do not establish passing tests</a:t>
            </a:r>
          </a:p>
          <a:p xmlns:a="http://schemas.openxmlformats.org/drawingml/2006/main">
            <a:r>
              <a:t>• Nightly failures inform the team. No claim that all releases are blocked</a:t>
            </a:r>
          </a:p>
          <a:p xmlns:a="http://schemas.openxmlformats.org/drawingml/2006/main">
            <a:r>
              <a:t>• Recordings and logs support investigation.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April: 14. September: 225. 8 October: 404 YAML files</a:t>
            </a:r>
          </a:p>
          <a:p xmlns:a="http://schemas.openxmlformats.org/drawingml/2006/main">
            <a:r>
              <a:t>• Inventory includes several file roles</a:t>
            </a:r>
          </a:p>
          <a:p xmlns:a="http://schemas.openxmlformats.org/drawingml/2006/main">
            <a:r>
              <a:t>• 99 non-exempt routes reached in inventory</a:t>
            </a:r>
          </a:p>
          <a:p xmlns:a="http://schemas.openxmlformats.org/drawingml/2006/main">
            <a:r>
              <a:t>• CI-run leaves reach 28 routes, 28.3%. 71 quarantine-only</a:t>
            </a:r>
          </a:p>
          <a:p xmlns:a="http://schemas.openxmlformats.org/drawingml/2006/main">
            <a:r>
              <a:t>• 12 exempt routes. Not complete execution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Human review queues took days</a:t>
            </a:r>
          </a:p>
          <a:p xmlns:a="http://schemas.openxmlformats.org/drawingml/2006/main">
            <a:r>
              <a:t>• Three AI reviewers on every PR</a:t>
            </a:r>
          </a:p>
          <a:p xmlns:a="http://schemas.openxmlformats.org/drawingml/2006/main">
            <a:r>
              <a:t>• Custom mobile reviewer runs hourly</a:t>
            </a:r>
          </a:p>
          <a:p xmlns:a="http://schemas.openxmlformats.org/drawingml/2006/main">
            <a:r>
              <a:t>• Repository guidelines provide React Native context</a:t>
            </a:r>
          </a:p>
          <a:p xmlns:a="http://schemas.openxmlformats.org/drawingml/2006/main">
            <a:r>
              <a:t>• Parole’s feedback loop connects this to 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CodeRabbit + Qodo Merge + cubic</a:t>
            </a:r>
          </a:p>
          <a:p xmlns:a="http://schemas.openxmlformats.org/drawingml/2006/main">
            <a:r>
              <a:t>• Every PR receives automated feedback</a:t>
            </a:r>
          </a:p>
          <a:p xmlns:a="http://schemas.openxmlformats.org/drawingml/2006/main">
            <a:r>
              <a:t>• Custom Cursor reviewer runs hourly</a:t>
            </a:r>
          </a:p>
          <a:p xmlns:a="http://schemas.openxmlformats.org/drawingml/2006/main">
            <a:r>
              <a:t>• React Native context in the review prompt</a:t>
            </a:r>
          </a:p>
          <a:p xmlns:a="http://schemas.openxmlformats.org/drawingml/2006/main">
            <a:r>
              <a:t>• Different perspectives. Parole evaluates the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Guidelines committed to the repository</a:t>
            </a:r>
          </a:p>
          <a:p xmlns:a="http://schemas.openxmlformats.org/drawingml/2006/main">
            <a:r>
              <a:t>• React Native + iOS/Android expectations</a:t>
            </a:r>
          </a:p>
          <a:p xmlns:a="http://schemas.openxmlformats.org/drawingml/2006/main">
            <a:r>
              <a:t>• Component reuse, separation of concerns, meaningful tests</a:t>
            </a:r>
          </a:p>
          <a:p xmlns:a="http://schemas.openxmlformats.org/drawingml/2006/main">
            <a:r>
              <a:t>• Reviewers read the same rules used for implementation</a:t>
            </a:r>
          </a:p>
          <a:p xmlns:a="http://schemas.openxmlformats.org/drawingml/2006/main">
            <a:r>
              <a:t>• Explain incorrect feedback. Refine the guidance. No guarantee of catching everything.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Next: Sentry</a:t>
            </a:r>
          </a:p>
          <a:p xmlns:a="http://schemas.openxmlformats.org/drawingml/2006/main">
            <a:r>
              <a:t>• Production feedback returns to development</a:t>
            </a:r>
          </a:p>
          <a:p xmlns:a="http://schemas.openxmlformats.org/drawingml/2006/main">
            <a:r>
              <a:t>• July: systematic error cleanup</a:t>
            </a:r>
          </a:p>
          <a:p xmlns:a="http://schemas.openxmlformats.org/drawingml/2006/main">
            <a:r>
              <a:t>• Prioritise reproducible problems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Investigate context + revision + flags</a:t>
            </a:r>
          </a:p>
          <a:p xmlns:a="http://schemas.openxmlformats.org/drawingml/2006/main">
            <a:r>
              <a:t>• Reproduce before correcting</a:t>
            </a:r>
          </a:p>
          <a:p xmlns:a="http://schemas.openxmlformats.org/drawingml/2006/main">
            <a:r>
              <a:t>• Bounded fix + regression check</a:t>
            </a:r>
          </a:p>
          <a:p xmlns:a="http://schemas.openxmlformats.org/drawingml/2006/main">
            <a:r>
              <a:t>• Return fresh evidence to review</a:t>
            </a:r>
          </a:p>
          <a:p xmlns:a="http://schemas.openxmlformats.org/drawingml/2006/main">
            <a:r>
              <a:t>• Recorded event does not always mean a user crash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107 complete days: 7 July to 21 October</a:t>
            </a:r>
          </a:p>
          <a:p xmlns:a="http://schemas.openxmlformats.org/drawingml/2006/main">
            <a:r>
              <a:t>• Windows: 7 Jul to 5 Aug vs 22 Sep to 21 Oct</a:t>
            </a:r>
          </a:p>
          <a:p xmlns:a="http://schemas.openxmlformats.org/drawingml/2006/main">
            <a:r>
              <a:t>• 364,417 then 127,531 events. About 65% fewer</a:t>
            </a:r>
          </a:p>
          <a:p xmlns:a="http://schemas.openxmlformats.org/drawingml/2006/main">
            <a:r>
              <a:t>• Android snapshot: about 690 to 290 events/day. Short window</a:t>
            </a:r>
          </a:p>
          <a:p xmlns:a="http://schemas.openxmlformats.org/drawingml/2006/main">
            <a:r>
              <a:t>• October new error types: 37, not the earlier zero</a:t>
            </a:r>
          </a:p>
          <a:p xmlns:a="http://schemas.openxmlformats.org/drawingml/2006/main">
            <a:r>
              <a:t>• Weekly crashes: 458, 409, then 887. Monitoring still matters</a:t>
            </a:r>
          </a:p>
          <a:p xmlns:a="http://schemas.openxmlformats.org/drawingml/2006/main">
            <a:r>
              <a:t>• Fixes, filters and sampling affect counts. No usage denominator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Finally: delivery</a:t>
            </a:r>
          </a:p>
          <a:p xmlns:a="http://schemas.openxmlformats.org/drawingml/2006/main">
            <a:r>
              <a:t>• Small verified changes</a:t>
            </a:r>
          </a:p>
          <a:p xmlns:a="http://schemas.openxmlformats.org/drawingml/2006/main">
            <a:r>
              <a:t>• Feature activation separated from code release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Canary build after every merge</a:t>
            </a:r>
          </a:p>
          <a:p xmlns:a="http://schemas.openxmlformats.org/drawingml/2006/main">
            <a:r>
              <a:t>• Weekday nightly beta when main changes. iOS TestFlight + Android</a:t>
            </a:r>
          </a:p>
          <a:p xmlns:a="http://schemas.openxmlformats.org/drawingml/2006/main">
            <a:r>
              <a:t>• Separate installs allow before/after comparison</a:t>
            </a:r>
          </a:p>
          <a:p xmlns:a="http://schemas.openxmlformats.org/drawingml/2006/main">
            <a:r>
              <a:t>• Deep links and payment flows need that comparison</a:t>
            </a:r>
          </a:p>
          <a:p xmlns:a="http://schemas.openxmlformats.org/drawingml/2006/main">
            <a:r>
              <a:t>• Skills generate specific TestFlight change notes and testing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Return to the days-long approval queue</a:t>
            </a:r>
          </a:p>
          <a:p xmlns:a="http://schemas.openxmlformats.org/drawingml/2006/main">
            <a:r>
              <a:t>• Small increments behind feature flags</a:t>
            </a:r>
          </a:p>
          <a:p xmlns:a="http://schemas.openxmlformats.org/drawingml/2006/main">
            <a:r>
              <a:t>• Ship verified code; decide activation separately</a:t>
            </a:r>
          </a:p>
          <a:p xmlns:a="http://schemas.openxmlformats.org/drawingml/2006/main">
            <a:r>
              <a:t>• Check enabled and disabled behaviour</a:t>
            </a:r>
          </a:p>
          <a:p xmlns:a="http://schemas.openxmlformats.org/drawingml/2006/main">
            <a:r>
              <a:t>• Mobile flag needs code in the installed 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September: 188 mobile PRs. October to 8th: 126</a:t>
            </a:r>
          </a:p>
          <a:p xmlns:a="http://schemas.openxmlformats.org/drawingml/2006/main">
            <a:r>
              <a:t>• October: 79 test PRs, 22 fixes, 17 features</a:t>
            </a:r>
          </a:p>
          <a:p xmlns:a="http://schemas.openxmlformats.org/drawingml/2006/main">
            <a:r>
              <a:t>• Partial month. Exclude from full-month averages</a:t>
            </a:r>
          </a:p>
          <a:p xmlns:a="http://schemas.openxmlformats.org/drawingml/2006/main">
            <a:r>
              <a:t>• April joining marker. Process changed in May</a:t>
            </a:r>
          </a:p>
          <a:p xmlns:a="http://schemas.openxmlformats.org/drawingml/2006/main">
            <a:r>
              <a:t>• PR count is activity, not productivity or features delivered.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Onboarding myself to the team, codebase and business</a:t>
            </a:r>
          </a:p>
          <a:p xmlns:a="http://schemas.openxmlformats.org/drawingml/2006/main">
            <a:r>
              <a:t>• Design system and monorepo, each could be its own talk</a:t>
            </a:r>
          </a:p>
          <a:p xmlns:a="http://schemas.openxmlformats.org/drawingml/2006/main">
            <a:r>
              <a:t>• Transition from engineering delivery to product ownership</a:t>
            </a:r>
          </a:p>
          <a:p xmlns:a="http://schemas.openxmlformats.org/drawingml/2006/main">
            <a:r>
              <a:t>• AI adoption across the development loop</a:t>
            </a:r>
          </a:p>
          <a:p xmlns:a="http://schemas.openxmlformats.org/drawingml/2006/main">
            <a:r>
              <a:t>• Harness: the environment around AI, not just the model</a:t>
            </a:r>
          </a:p>
          <a:p xmlns:a="http://schemas.openxmlformats.org/drawingml/2006/main">
            <a:r>
              <a:t>• A few months of change, many challenges beyond today’s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Lessons to adapt, not a universal five-step recipe</a:t>
            </a:r>
          </a:p>
          <a:p xmlns:a="http://schemas.openxmlformats.org/drawingml/2006/main">
            <a:r>
              <a:t>• Start with your team’s actual bottleneck</a:t>
            </a:r>
          </a:p>
          <a:p xmlns:a="http://schemas.openxmlformats.org/drawingml/2006/main">
            <a:r>
              <a:t>• Clear expectations and meaningful checks matter everywhere</a:t>
            </a:r>
          </a:p>
          <a:p xmlns:a="http://schemas.openxmlformats.org/drawingml/2006/main">
            <a:r>
              <a:t>• Tools, approval boundaries and rollout depend on context</a:t>
            </a:r>
          </a:p>
          <a:p xmlns:a="http://schemas.openxmlformats.org/drawingml/2006/main">
            <a:r>
              <a:t>• Start small. Inspect the outcome. Expand what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Regressions every release. Days of QA and approvals.</a:t>
            </a:r>
          </a:p>
          <a:p xmlns:a="http://schemas.openxmlformats.org/drawingml/2006/main">
            <a:r>
              <a:t>• Skills → tests → CI → device evidence</a:t>
            </a:r>
          </a:p>
          <a:p xmlns:a="http://schemas.openxmlformats.org/drawingml/2006/main">
            <a:r>
              <a:t>• Review → production feedback → delivery</a:t>
            </a:r>
          </a:p>
          <a:p xmlns:a="http://schemas.openxmlformats.org/drawingml/2006/main">
            <a:r>
              <a:t>• Less repetitive QA. More confidence. Faster delivery.</a:t>
            </a:r>
          </a:p>
          <a:p xmlns:a="http://schemas.openxmlformats.org/drawingml/2006/main">
            <a:r>
              <a:t>• Evidence has limits. Human judgement still matters.</a:t>
            </a:r>
          </a:p>
          <a:p xmlns:a="http://schemas.openxmlformats.org/drawingml/2006/main">
            <a:r>
              <a:t>• QR: social profiles, talks and contact details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730e12d394e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3e384c5d44f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8eb83ca3840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8c413ec4c4a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9624803a145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f086b75de49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3CBD00-8D65-42F3-A764-E40EF72CCB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13A54A-FF8B-4961-8BBD-B5A7F4BD97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960A4B-FDA3-4864-9895-2EE7DF7466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F7E426-F2FE-42E7-84E9-3657D6000B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BC23A6-4121-47F0-9E76-11B5C4801D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9B8F4C-DA63-4291-9688-0A8325E1F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4AA645-B0BD-40A4-A7BA-52027A1301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120AA4-4023-48E3-AD83-6303D93905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0B7AB8-5A91-4CC4-85BA-AEFCBF3C7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634336-67C4-4BD3-8934-66A2493858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ecfc92b8f041a1" /><Relationship Type="http://schemas.openxmlformats.org/officeDocument/2006/relationships/slideLayout" Target="/ppt/slideLayouts/slideLayout1.xml" Id="R59075ff2ad904cfd" /><Relationship Type="http://schemas.openxmlformats.org/officeDocument/2006/relationships/slideLayout" Target="/ppt/slideLayouts/slideLayout2.xml" Id="R01b3147700804227" /><Relationship Type="http://schemas.openxmlformats.org/officeDocument/2006/relationships/slideLayout" Target="/ppt/slideLayouts/slideLayout3.xml" Id="R154e65c378fa46c6" /><Relationship Type="http://schemas.openxmlformats.org/officeDocument/2006/relationships/slideLayout" Target="/ppt/slideLayouts/slideLayout4.xml" Id="Rcca716f072884e49" /><Relationship Type="http://schemas.openxmlformats.org/officeDocument/2006/relationships/slideLayout" Target="/ppt/slideLayouts/slideLayout5.xml" Id="Rae6d0e6fc6094943" /><Relationship Type="http://schemas.openxmlformats.org/officeDocument/2006/relationships/slideLayout" Target="/ppt/slideLayouts/slideLayout6.xml" Id="R0c62b224bccc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75ff2ad904cfd"/>
    <p:sldLayoutId xmlns:r="http://schemas.openxmlformats.org/officeDocument/2006/relationships" id="2147483650" r:id="R01b3147700804227"/>
    <p:sldLayoutId xmlns:r="http://schemas.openxmlformats.org/officeDocument/2006/relationships" id="2147483651" r:id="R154e65c378fa46c6"/>
    <p:sldLayoutId xmlns:r="http://schemas.openxmlformats.org/officeDocument/2006/relationships" id="2147483652" r:id="Rcca716f072884e49"/>
    <p:sldLayoutId xmlns:r="http://schemas.openxmlformats.org/officeDocument/2006/relationships" id="2147483653" r:id="Rae6d0e6fc6094943"/>
    <p:sldLayoutId xmlns:r="http://schemas.openxmlformats.org/officeDocument/2006/relationships" id="2147483654" r:id="R0c62b224bccc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c3ee3437b4b9c" /><Relationship Type="http://schemas.openxmlformats.org/officeDocument/2006/relationships/image" Target="/ppt/media/image.png" Id="R0063f45d5a8647c0" /><Relationship Type="http://schemas.openxmlformats.org/officeDocument/2006/relationships/image" Target="/ppt/media/image.jpeg" Id="R43b76e69ac034c9e" /><Relationship Type="http://schemas.openxmlformats.org/officeDocument/2006/relationships/notesSlide" Target="/ppt/notesSlides/notesSlide1.xml" Id="Re9668e92f6cd47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63d605e01400d" /><Relationship Type="http://schemas.openxmlformats.org/officeDocument/2006/relationships/notesSlide" Target="/ppt/notesSlides/notesSlide2.xml" Id="Rd3114889c5bb47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e6af2a9484b02" /><Relationship Type="http://schemas.openxmlformats.org/officeDocument/2006/relationships/notesSlide" Target="/ppt/notesSlides/notesSlide3.xml" Id="R7b43b50e3a034e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dfa54b4c447c5" /><Relationship Type="http://schemas.openxmlformats.org/officeDocument/2006/relationships/notesSlide" Target="/ppt/notesSlides/notesSlide4.xml" Id="Reafc1cff06aa4e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11bc4be98458e" /><Relationship Type="http://schemas.openxmlformats.org/officeDocument/2006/relationships/notesSlide" Target="/ppt/notesSlides/notesSlide5.xml" Id="Rf5c0fc52d04f4a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f81dd9dd049f4" /><Relationship Type="http://schemas.openxmlformats.org/officeDocument/2006/relationships/notesSlide" Target="/ppt/notesSlides/notesSlide6.xml" Id="R7e96b72a405e40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a508e20b6447b" /><Relationship Type="http://schemas.openxmlformats.org/officeDocument/2006/relationships/image" Target="/ppt/media/image2.jpeg" Id="R1032bb7791d34e3f" /><Relationship Type="http://schemas.openxmlformats.org/officeDocument/2006/relationships/notesSlide" Target="/ppt/notesSlides/notesSlide7.xml" Id="R56ae230b853d43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342c16eda4f60" /><Relationship Type="http://schemas.openxmlformats.org/officeDocument/2006/relationships/image" Target="/ppt/media/image2.png" Id="R51a0e4a412d241e6" /><Relationship Type="http://schemas.openxmlformats.org/officeDocument/2006/relationships/image" Target="/ppt/media/image3.png" Id="R420391959ca748a9" /><Relationship Type="http://schemas.openxmlformats.org/officeDocument/2006/relationships/image" Target="/ppt/media/image4.png" Id="R3e4a2d119b344a01" /><Relationship Type="http://schemas.openxmlformats.org/officeDocument/2006/relationships/image" Target="/ppt/media/image5.png" Id="R0a7bd7e666e2481c" /><Relationship Type="http://schemas.openxmlformats.org/officeDocument/2006/relationships/image" Target="/ppt/media/image6.png" Id="Raec940a647044d14" /><Relationship Type="http://schemas.openxmlformats.org/officeDocument/2006/relationships/image" Target="/ppt/media/image7.png" Id="R05a0b8d1a7464809" /><Relationship Type="http://schemas.openxmlformats.org/officeDocument/2006/relationships/notesSlide" Target="/ppt/notesSlides/notesSlide8.xml" Id="Rbd7d4e9be40f42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a58e81f964a90" /><Relationship Type="http://schemas.openxmlformats.org/officeDocument/2006/relationships/notesSlide" Target="/ppt/notesSlides/notesSlide9.xml" Id="R1bd143b95a4849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acea9cc994a34" /><Relationship Type="http://schemas.openxmlformats.org/officeDocument/2006/relationships/notesSlide" Target="/ppt/notesSlides/notesSlide10.xml" Id="Rf3267261a04647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13793309140d8" /><Relationship Type="http://schemas.openxmlformats.org/officeDocument/2006/relationships/image" Target="/ppt/media/image8.png" Id="R8301c60e88db4c00" /><Relationship Type="http://schemas.openxmlformats.org/officeDocument/2006/relationships/image" Target="/ppt/media/image9.png" Id="R7f5c1921fda747ad" /><Relationship Type="http://schemas.openxmlformats.org/officeDocument/2006/relationships/image" Target="/ppt/media/image10.png" Id="R0e3712ec383f4a5c" /><Relationship Type="http://schemas.openxmlformats.org/officeDocument/2006/relationships/image" Target="/ppt/media/image11.png" Id="R6dc11a11970e40c3" /><Relationship Type="http://schemas.openxmlformats.org/officeDocument/2006/relationships/image" Target="/ppt/media/image12.png" Id="R044173c270ca4c64" /><Relationship Type="http://schemas.openxmlformats.org/officeDocument/2006/relationships/notesSlide" Target="/ppt/notesSlides/notesSlide11.xml" Id="Ra98b7318bb3045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80e94ed524f11" /><Relationship Type="http://schemas.openxmlformats.org/officeDocument/2006/relationships/notesSlide" Target="/ppt/notesSlides/notesSlide12.xml" Id="Rcf156e8879504d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9424f7162942ec" /><Relationship Type="http://schemas.openxmlformats.org/officeDocument/2006/relationships/chart" Target="/ppt/slides/charts/chart1.xml" Id="Re28c96a1c6da4793" /><Relationship Type="http://schemas.openxmlformats.org/officeDocument/2006/relationships/notesSlide" Target="/ppt/notesSlides/notesSlide13.xml" Id="R1fc0c7daf1b64d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74df05b0f482b" /><Relationship Type="http://schemas.openxmlformats.org/officeDocument/2006/relationships/image" Target="/ppt/media/image13.png" Id="R9d39e2d59e9f4e22" /><Relationship Type="http://schemas.openxmlformats.org/officeDocument/2006/relationships/image" Target="/ppt/media/image14.png" Id="Rba7043427b0847ee" /><Relationship Type="http://schemas.openxmlformats.org/officeDocument/2006/relationships/image" Target="/ppt/media/image15.png" Id="Re4379604c04c4490" /><Relationship Type="http://schemas.openxmlformats.org/officeDocument/2006/relationships/image" Target="/ppt/media/image16.png" Id="Rfac6cc75abf345b7" /><Relationship Type="http://schemas.openxmlformats.org/officeDocument/2006/relationships/notesSlide" Target="/ppt/notesSlides/notesSlide14.xml" Id="R3e33947552194c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205f13bc941e6" /><Relationship Type="http://schemas.openxmlformats.org/officeDocument/2006/relationships/notesSlide" Target="/ppt/notesSlides/notesSlide15.xml" Id="R828273027e9c48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2b1fa95474ac7" /><Relationship Type="http://schemas.openxmlformats.org/officeDocument/2006/relationships/notesSlide" Target="/ppt/notesSlides/notesSlide16.xml" Id="Ref1dd01b5d994d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be7e1abff4c47" /><Relationship Type="http://schemas.openxmlformats.org/officeDocument/2006/relationships/image" Target="/ppt/media/image17.png" Id="Re97398a5197d43c6" /><Relationship Type="http://schemas.openxmlformats.org/officeDocument/2006/relationships/image" Target="/ppt/media/image18.png" Id="R64fbb91b9718499e" /><Relationship Type="http://schemas.openxmlformats.org/officeDocument/2006/relationships/image" Target="/ppt/media/image19.png" Id="Rc01057b0d1b24bde" /><Relationship Type="http://schemas.openxmlformats.org/officeDocument/2006/relationships/notesSlide" Target="/ppt/notesSlides/notesSlide17.xml" Id="R43a6d3ef57b94d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128b89de749d3" /><Relationship Type="http://schemas.openxmlformats.org/officeDocument/2006/relationships/notesSlide" Target="/ppt/notesSlides/notesSlide18.xml" Id="Rb14e474363a046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936f934bc4206" /><Relationship Type="http://schemas.openxmlformats.org/officeDocument/2006/relationships/chart" Target="/ppt/slides/charts/chart2.xml" Id="R545ee295da1342f8" /><Relationship Type="http://schemas.openxmlformats.org/officeDocument/2006/relationships/notesSlide" Target="/ppt/notesSlides/notesSlide19.xml" Id="R8ba0621d3da442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92e42d6634201" /><Relationship Type="http://schemas.openxmlformats.org/officeDocument/2006/relationships/image" Target="/ppt/media/image20.png" Id="R38b354baf59c493d" /><Relationship Type="http://schemas.openxmlformats.org/officeDocument/2006/relationships/image" Target="/ppt/media/image21.png" Id="Re4809be919824dba" /><Relationship Type="http://schemas.openxmlformats.org/officeDocument/2006/relationships/notesSlide" Target="/ppt/notesSlides/notesSlide20.xml" Id="Rec56be3a43f8443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25d31a4234bcd" /><Relationship Type="http://schemas.openxmlformats.org/officeDocument/2006/relationships/notesSlide" Target="/ppt/notesSlides/notesSlide21.xml" Id="Rf493ec20a0ec494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f3749d0754003" /><Relationship Type="http://schemas.openxmlformats.org/officeDocument/2006/relationships/notesSlide" Target="/ppt/notesSlides/notesSlide22.xml" Id="Rb2741af0c67d4b2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fb5a54f4194e70" /><Relationship Type="http://schemas.openxmlformats.org/officeDocument/2006/relationships/image" Target="/ppt/media/image22.png" Id="R59013f34cc8d4b08" /><Relationship Type="http://schemas.openxmlformats.org/officeDocument/2006/relationships/notesSlide" Target="/ppt/notesSlides/notesSlide23.xml" Id="R90ea4be19df348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30dd304d44beb" /><Relationship Type="http://schemas.openxmlformats.org/officeDocument/2006/relationships/notesSlide" Target="/ppt/notesSlides/notesSlide24.xml" Id="Ra4b810def34d4c8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705ea5d55453b" /><Relationship Type="http://schemas.openxmlformats.org/officeDocument/2006/relationships/chart" Target="/ppt/slides/charts/chart3.xml" Id="R6d9bc9eb01704135" /><Relationship Type="http://schemas.openxmlformats.org/officeDocument/2006/relationships/notesSlide" Target="/ppt/notesSlides/notesSlide25.xml" Id="R12fa3c5571004d4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c65d625a4438f" /><Relationship Type="http://schemas.openxmlformats.org/officeDocument/2006/relationships/notesSlide" Target="/ppt/notesSlides/notesSlide26.xml" Id="R932906a24a4b447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8cd48172648f5" /><Relationship Type="http://schemas.openxmlformats.org/officeDocument/2006/relationships/notesSlide" Target="/ppt/notesSlides/notesSlide27.xml" Id="R1b220f83ea9e43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d70035cad4223" /><Relationship Type="http://schemas.openxmlformats.org/officeDocument/2006/relationships/notesSlide" Target="/ppt/notesSlides/notesSlide28.xml" Id="R27a665d0f8254c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069d4f829e42f0" /><Relationship Type="http://schemas.openxmlformats.org/officeDocument/2006/relationships/chart" Target="/ppt/slides/charts/chart4.xml" Id="R7f442e33dfd94a3a" /><Relationship Type="http://schemas.openxmlformats.org/officeDocument/2006/relationships/notesSlide" Target="/ppt/notesSlides/notesSlide29.xml" Id="Raee2628eefa8445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8ff05aded4463" /><Relationship Type="http://schemas.openxmlformats.org/officeDocument/2006/relationships/notesSlide" Target="/ppt/notesSlides/notesSlide30.xml" Id="R46b929294a94485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5d5eeebff4ed3" /><Relationship Type="http://schemas.openxmlformats.org/officeDocument/2006/relationships/notesSlide" Target="/ppt/notesSlides/notesSlide31.xml" Id="Rf9497af0aeef488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5ea3303c74780" /><Relationship Type="http://schemas.openxmlformats.org/officeDocument/2006/relationships/image" Target="/ppt/media/image23.png" Id="R9c34878035314602" /><Relationship Type="http://schemas.openxmlformats.org/officeDocument/2006/relationships/notesSlide" Target="/ppt/notesSlides/notesSlide32.xml" Id="Rac2c60bf32314b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Unit-test files</c:v>
          </c:tx>
          <c:spPr>
            <a:solidFill xmlns:a="http://schemas.openxmlformats.org/drawingml/2006/main">
              <a:srgbClr val="00786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cat>
            <c:strRef>
              <c:f>'Chart Data'!$A$2:$A$11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Oct*</c:v>
                </c:pt>
              </c:strCache>
            </c:strRef>
          </c:cat>
          <c:val>
            <c:numRef>
              <c:f>'Chart Data'!$B$2:$B$11</c:f>
              <c:numCache>
                <c:formatCode>#,##0</c:formatCode>
                <c:ptCount val="10"/>
                <c:pt idx="0">
                  <c:v>93</c:v>
                </c:pt>
                <c:pt idx="1">
                  <c:v>95</c:v>
                </c:pt>
                <c:pt idx="2">
                  <c:v>98</c:v>
                </c:pt>
                <c:pt idx="3">
                  <c:v>113</c:v>
                </c:pt>
                <c:pt idx="4">
                  <c:v>164</c:v>
                </c:pt>
                <c:pt idx="5">
                  <c:v>250</c:v>
                </c:pt>
                <c:pt idx="6">
                  <c:v>395</c:v>
                </c:pt>
                <c:pt idx="7">
                  <c:v>1040</c:v>
                </c:pt>
                <c:pt idx="8">
                  <c:v>1669</c:v>
                </c:pt>
                <c:pt idx="9">
                  <c:v>2257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0">
                  <a:solidFill>
                    <a:srgbClr val="15181B"/>
                  </a:solidFill>
                  <a:latin typeface="Satoshi Variable"/>
                  <a:ea typeface="Satoshi Variable"/>
                  <a:cs typeface="Satoshi Variabl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0C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</a:p>
        </c:txPr>
        <c:crossAx val="48672768"/>
      </c:catAx>
      <c:valAx>
        <c:axId val="48672768"/>
        <c:scaling>
          <c:orientation val="minMax"/>
          <c:max val="2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0CB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</a:p>
        </c:txPr>
        <c:crossAx val="48650112"/>
        <c:crossBetween val="between"/>
        <c:majorUnit val="5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Maestro YAML files</c:v>
          </c:tx>
          <c:spPr>
            <a:solidFill xmlns:a="http://schemas.openxmlformats.org/drawingml/2006/main">
              <a:srgbClr val="00786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cat>
            <c:strRef>
              <c:f>'Chart Data'!$A$2:$A$11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Oct*</c:v>
                </c:pt>
              </c:strCache>
            </c:strRef>
          </c:cat>
          <c:val>
            <c:numRef>
              <c:f>'Chart Data'!$B$2:$B$11</c:f>
              <c:numCache>
                <c:formatCode>#,##0</c:formatCode>
                <c:ptCount val="10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129</c:v>
                </c:pt>
                <c:pt idx="5">
                  <c:v>135</c:v>
                </c:pt>
                <c:pt idx="6">
                  <c:v>136</c:v>
                </c:pt>
                <c:pt idx="7">
                  <c:v>147</c:v>
                </c:pt>
                <c:pt idx="8">
                  <c:v>225</c:v>
                </c:pt>
                <c:pt idx="9">
                  <c:v>404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0">
                  <a:solidFill>
                    <a:srgbClr val="15181B"/>
                  </a:solidFill>
                  <a:latin typeface="Satoshi Variable"/>
                  <a:ea typeface="Satoshi Variable"/>
                  <a:cs typeface="Satoshi Variabl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0C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</a:p>
        </c:txPr>
        <c:crossAx val="48672768"/>
      </c:catAx>
      <c:valAx>
        <c:axId val="48672768"/>
        <c:scaling>
          <c:orientation val="minMax"/>
          <c:max val="4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0CB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Recorded events per day</c:v>
          </c:tx>
          <c:spPr>
            <a:solidFill xmlns:a="http://schemas.openxmlformats.org/drawingml/2006/main">
              <a:srgbClr val="00786F"/>
            </a:solidFill>
            <a:ln xmlns:a="http://schemas.openxmlformats.org/drawingml/2006/main" w="28575">
              <a:solidFill>
                <a:srgbClr val="00786F"/>
              </a:solidFill>
              <a:prstDash val="solid"/>
            </a:ln>
          </c:spPr>
          <c:marker>
            <c:symbol val="none"/>
          </c:marker>
          <c:xVal>
            <c:numRef>
              <c:f>'Chart Data'!$A$2:$A$108</c:f>
              <c:numCache>
                <c:formatCode>d mmm</c:formatCode>
                <c:ptCount val="107"/>
                <c:pt idx="0">
                  <c:v>46210</c:v>
                </c:pt>
                <c:pt idx="1">
                  <c:v>46211</c:v>
                </c:pt>
                <c:pt idx="2">
                  <c:v>46212</c:v>
                </c:pt>
                <c:pt idx="3">
                  <c:v>46213</c:v>
                </c:pt>
                <c:pt idx="4">
                  <c:v>46214</c:v>
                </c:pt>
                <c:pt idx="5">
                  <c:v>46215</c:v>
                </c:pt>
                <c:pt idx="6">
                  <c:v>46216</c:v>
                </c:pt>
                <c:pt idx="7">
                  <c:v>46217</c:v>
                </c:pt>
                <c:pt idx="8">
                  <c:v>46218</c:v>
                </c:pt>
                <c:pt idx="9">
                  <c:v>46219</c:v>
                </c:pt>
                <c:pt idx="10">
                  <c:v>46220</c:v>
                </c:pt>
                <c:pt idx="11">
                  <c:v>46221</c:v>
                </c:pt>
                <c:pt idx="12">
                  <c:v>46222</c:v>
                </c:pt>
                <c:pt idx="13">
                  <c:v>46223</c:v>
                </c:pt>
                <c:pt idx="14">
                  <c:v>46224</c:v>
                </c:pt>
                <c:pt idx="15">
                  <c:v>46225</c:v>
                </c:pt>
                <c:pt idx="16">
                  <c:v>46226</c:v>
                </c:pt>
                <c:pt idx="17">
                  <c:v>46227</c:v>
                </c:pt>
                <c:pt idx="18">
                  <c:v>46228</c:v>
                </c:pt>
                <c:pt idx="19">
                  <c:v>46229</c:v>
                </c:pt>
                <c:pt idx="20">
                  <c:v>46230</c:v>
                </c:pt>
                <c:pt idx="21">
                  <c:v>46231</c:v>
                </c:pt>
                <c:pt idx="22">
                  <c:v>46232</c:v>
                </c:pt>
                <c:pt idx="23">
                  <c:v>46233</c:v>
                </c:pt>
                <c:pt idx="24">
                  <c:v>46234</c:v>
                </c:pt>
                <c:pt idx="25">
                  <c:v>46235</c:v>
                </c:pt>
                <c:pt idx="26">
                  <c:v>46236</c:v>
                </c:pt>
                <c:pt idx="27">
                  <c:v>46237</c:v>
                </c:pt>
                <c:pt idx="28">
                  <c:v>46238</c:v>
                </c:pt>
                <c:pt idx="29">
                  <c:v>46239</c:v>
                </c:pt>
                <c:pt idx="30">
                  <c:v>46240</c:v>
                </c:pt>
                <c:pt idx="31">
                  <c:v>46241</c:v>
                </c:pt>
                <c:pt idx="32">
                  <c:v>46242</c:v>
                </c:pt>
                <c:pt idx="33">
                  <c:v>46243</c:v>
                </c:pt>
                <c:pt idx="34">
                  <c:v>46244</c:v>
                </c:pt>
                <c:pt idx="35">
                  <c:v>46245</c:v>
                </c:pt>
                <c:pt idx="36">
                  <c:v>46246</c:v>
                </c:pt>
                <c:pt idx="37">
                  <c:v>46247</c:v>
                </c:pt>
                <c:pt idx="38">
                  <c:v>46248</c:v>
                </c:pt>
                <c:pt idx="39">
                  <c:v>46249</c:v>
                </c:pt>
                <c:pt idx="40">
                  <c:v>46250</c:v>
                </c:pt>
                <c:pt idx="41">
                  <c:v>46251</c:v>
                </c:pt>
                <c:pt idx="42">
                  <c:v>46252</c:v>
                </c:pt>
                <c:pt idx="43">
                  <c:v>46253</c:v>
                </c:pt>
                <c:pt idx="44">
                  <c:v>46254</c:v>
                </c:pt>
                <c:pt idx="45">
                  <c:v>46255</c:v>
                </c:pt>
                <c:pt idx="46">
                  <c:v>46256</c:v>
                </c:pt>
                <c:pt idx="47">
                  <c:v>46257</c:v>
                </c:pt>
                <c:pt idx="48">
                  <c:v>46258</c:v>
                </c:pt>
                <c:pt idx="49">
                  <c:v>46259</c:v>
                </c:pt>
                <c:pt idx="50">
                  <c:v>46260</c:v>
                </c:pt>
                <c:pt idx="51">
                  <c:v>46261</c:v>
                </c:pt>
                <c:pt idx="52">
                  <c:v>46262</c:v>
                </c:pt>
                <c:pt idx="53">
                  <c:v>46263</c:v>
                </c:pt>
                <c:pt idx="54">
                  <c:v>46264</c:v>
                </c:pt>
                <c:pt idx="55">
                  <c:v>46265</c:v>
                </c:pt>
                <c:pt idx="56">
                  <c:v>46266</c:v>
                </c:pt>
                <c:pt idx="57">
                  <c:v>46267</c:v>
                </c:pt>
                <c:pt idx="58">
                  <c:v>46268</c:v>
                </c:pt>
                <c:pt idx="59">
                  <c:v>46269</c:v>
                </c:pt>
                <c:pt idx="60">
                  <c:v>46270</c:v>
                </c:pt>
                <c:pt idx="61">
                  <c:v>46271</c:v>
                </c:pt>
                <c:pt idx="62">
                  <c:v>46272</c:v>
                </c:pt>
                <c:pt idx="63">
                  <c:v>46273</c:v>
                </c:pt>
                <c:pt idx="64">
                  <c:v>46274</c:v>
                </c:pt>
                <c:pt idx="65">
                  <c:v>46275</c:v>
                </c:pt>
                <c:pt idx="66">
                  <c:v>46276</c:v>
                </c:pt>
                <c:pt idx="67">
                  <c:v>46277</c:v>
                </c:pt>
                <c:pt idx="68">
                  <c:v>46278</c:v>
                </c:pt>
                <c:pt idx="69">
                  <c:v>46279</c:v>
                </c:pt>
                <c:pt idx="70">
                  <c:v>46280</c:v>
                </c:pt>
                <c:pt idx="71">
                  <c:v>46281</c:v>
                </c:pt>
                <c:pt idx="72">
                  <c:v>46282</c:v>
                </c:pt>
                <c:pt idx="73">
                  <c:v>46283</c:v>
                </c:pt>
                <c:pt idx="74">
                  <c:v>46284</c:v>
                </c:pt>
                <c:pt idx="75">
                  <c:v>46285</c:v>
                </c:pt>
                <c:pt idx="76">
                  <c:v>46286</c:v>
                </c:pt>
                <c:pt idx="77">
                  <c:v>46287</c:v>
                </c:pt>
                <c:pt idx="78">
                  <c:v>46288</c:v>
                </c:pt>
                <c:pt idx="79">
                  <c:v>46289</c:v>
                </c:pt>
                <c:pt idx="80">
                  <c:v>46290</c:v>
                </c:pt>
                <c:pt idx="81">
                  <c:v>46291</c:v>
                </c:pt>
                <c:pt idx="82">
                  <c:v>46292</c:v>
                </c:pt>
                <c:pt idx="83">
                  <c:v>46293</c:v>
                </c:pt>
                <c:pt idx="84">
                  <c:v>46294</c:v>
                </c:pt>
                <c:pt idx="85">
                  <c:v>46295</c:v>
                </c:pt>
                <c:pt idx="86">
                  <c:v>46296</c:v>
                </c:pt>
                <c:pt idx="87">
                  <c:v>46297</c:v>
                </c:pt>
                <c:pt idx="88">
                  <c:v>46298</c:v>
                </c:pt>
                <c:pt idx="89">
                  <c:v>46299</c:v>
                </c:pt>
                <c:pt idx="90">
                  <c:v>46300</c:v>
                </c:pt>
                <c:pt idx="91">
                  <c:v>46301</c:v>
                </c:pt>
                <c:pt idx="92">
                  <c:v>46302</c:v>
                </c:pt>
                <c:pt idx="93">
                  <c:v>46303</c:v>
                </c:pt>
                <c:pt idx="94">
                  <c:v>46304</c:v>
                </c:pt>
                <c:pt idx="95">
                  <c:v>46305</c:v>
                </c:pt>
                <c:pt idx="96">
                  <c:v>46306</c:v>
                </c:pt>
                <c:pt idx="97">
                  <c:v>46307</c:v>
                </c:pt>
                <c:pt idx="98">
                  <c:v>46308</c:v>
                </c:pt>
                <c:pt idx="99">
                  <c:v>46309</c:v>
                </c:pt>
                <c:pt idx="100">
                  <c:v>46310</c:v>
                </c:pt>
                <c:pt idx="101">
                  <c:v>46311</c:v>
                </c:pt>
                <c:pt idx="102">
                  <c:v>46312</c:v>
                </c:pt>
                <c:pt idx="103">
                  <c:v>46313</c:v>
                </c:pt>
                <c:pt idx="104">
                  <c:v>46314</c:v>
                </c:pt>
                <c:pt idx="105">
                  <c:v>46315</c:v>
                </c:pt>
                <c:pt idx="106">
                  <c:v>46316</c:v>
                </c:pt>
              </c:numCache>
            </c:numRef>
          </c:xVal>
          <c:yVal>
            <c:numRef>
              <c:f>'Chart Data'!$B$2:$B$108</c:f>
              <c:numCache>
                <c:formatCode>#,##0</c:formatCode>
                <c:ptCount val="107"/>
                <c:pt idx="0">
                  <c:v>24012</c:v>
                </c:pt>
                <c:pt idx="1">
                  <c:v>20186</c:v>
                </c:pt>
                <c:pt idx="2">
                  <c:v>18996</c:v>
                </c:pt>
                <c:pt idx="3">
                  <c:v>19756</c:v>
                </c:pt>
                <c:pt idx="4">
                  <c:v>23024</c:v>
                </c:pt>
                <c:pt idx="5">
                  <c:v>23245</c:v>
                </c:pt>
                <c:pt idx="6">
                  <c:v>16295</c:v>
                </c:pt>
                <c:pt idx="7">
                  <c:v>15949</c:v>
                </c:pt>
                <c:pt idx="8">
                  <c:v>16897</c:v>
                </c:pt>
                <c:pt idx="9">
                  <c:v>15846</c:v>
                </c:pt>
                <c:pt idx="10">
                  <c:v>17738</c:v>
                </c:pt>
                <c:pt idx="11">
                  <c:v>16197</c:v>
                </c:pt>
                <c:pt idx="12">
                  <c:v>17393</c:v>
                </c:pt>
                <c:pt idx="13">
                  <c:v>10078</c:v>
                </c:pt>
                <c:pt idx="14">
                  <c:v>7617</c:v>
                </c:pt>
                <c:pt idx="15">
                  <c:v>9141</c:v>
                </c:pt>
                <c:pt idx="16">
                  <c:v>6265</c:v>
                </c:pt>
                <c:pt idx="17">
                  <c:v>9794</c:v>
                </c:pt>
                <c:pt idx="18">
                  <c:v>8768</c:v>
                </c:pt>
                <c:pt idx="19">
                  <c:v>10718</c:v>
                </c:pt>
                <c:pt idx="20">
                  <c:v>8498</c:v>
                </c:pt>
                <c:pt idx="21">
                  <c:v>8371</c:v>
                </c:pt>
                <c:pt idx="22">
                  <c:v>5913</c:v>
                </c:pt>
                <c:pt idx="23">
                  <c:v>5496</c:v>
                </c:pt>
                <c:pt idx="24">
                  <c:v>5007</c:v>
                </c:pt>
                <c:pt idx="25">
                  <c:v>4590</c:v>
                </c:pt>
                <c:pt idx="26">
                  <c:v>5165</c:v>
                </c:pt>
                <c:pt idx="27">
                  <c:v>4218</c:v>
                </c:pt>
                <c:pt idx="28">
                  <c:v>4651</c:v>
                </c:pt>
                <c:pt idx="29">
                  <c:v>4593</c:v>
                </c:pt>
                <c:pt idx="30">
                  <c:v>4182</c:v>
                </c:pt>
                <c:pt idx="31">
                  <c:v>3842</c:v>
                </c:pt>
                <c:pt idx="32">
                  <c:v>4780</c:v>
                </c:pt>
                <c:pt idx="33">
                  <c:v>4634</c:v>
                </c:pt>
                <c:pt idx="34">
                  <c:v>4177</c:v>
                </c:pt>
                <c:pt idx="35">
                  <c:v>3653</c:v>
                </c:pt>
                <c:pt idx="36">
                  <c:v>4288</c:v>
                </c:pt>
                <c:pt idx="37">
                  <c:v>4385</c:v>
                </c:pt>
                <c:pt idx="38">
                  <c:v>5033</c:v>
                </c:pt>
                <c:pt idx="39">
                  <c:v>5656</c:v>
                </c:pt>
                <c:pt idx="40">
                  <c:v>4126</c:v>
                </c:pt>
                <c:pt idx="41">
                  <c:v>3445</c:v>
                </c:pt>
                <c:pt idx="42">
                  <c:v>4120</c:v>
                </c:pt>
                <c:pt idx="43">
                  <c:v>4262</c:v>
                </c:pt>
                <c:pt idx="44">
                  <c:v>4618</c:v>
                </c:pt>
                <c:pt idx="45">
                  <c:v>5010</c:v>
                </c:pt>
                <c:pt idx="46">
                  <c:v>4141</c:v>
                </c:pt>
                <c:pt idx="47">
                  <c:v>5675</c:v>
                </c:pt>
                <c:pt idx="48">
                  <c:v>3831</c:v>
                </c:pt>
                <c:pt idx="49">
                  <c:v>4252</c:v>
                </c:pt>
                <c:pt idx="50">
                  <c:v>4041</c:v>
                </c:pt>
                <c:pt idx="51">
                  <c:v>5122</c:v>
                </c:pt>
                <c:pt idx="52">
                  <c:v>4364</c:v>
                </c:pt>
                <c:pt idx="53">
                  <c:v>5519</c:v>
                </c:pt>
                <c:pt idx="54">
                  <c:v>4933</c:v>
                </c:pt>
                <c:pt idx="55">
                  <c:v>4120</c:v>
                </c:pt>
                <c:pt idx="56">
                  <c:v>5575</c:v>
                </c:pt>
                <c:pt idx="57">
                  <c:v>2856</c:v>
                </c:pt>
                <c:pt idx="58">
                  <c:v>3542</c:v>
                </c:pt>
                <c:pt idx="59">
                  <c:v>4435</c:v>
                </c:pt>
                <c:pt idx="60">
                  <c:v>3839</c:v>
                </c:pt>
                <c:pt idx="61">
                  <c:v>4728</c:v>
                </c:pt>
                <c:pt idx="62">
                  <c:v>3747</c:v>
                </c:pt>
                <c:pt idx="63">
                  <c:v>4707</c:v>
                </c:pt>
                <c:pt idx="64">
                  <c:v>4024</c:v>
                </c:pt>
                <c:pt idx="65">
                  <c:v>3937</c:v>
                </c:pt>
                <c:pt idx="66">
                  <c:v>5324</c:v>
                </c:pt>
                <c:pt idx="67">
                  <c:v>5981</c:v>
                </c:pt>
                <c:pt idx="68">
                  <c:v>6254</c:v>
                </c:pt>
                <c:pt idx="69">
                  <c:v>6468</c:v>
                </c:pt>
                <c:pt idx="70">
                  <c:v>6111</c:v>
                </c:pt>
                <c:pt idx="71">
                  <c:v>5340</c:v>
                </c:pt>
                <c:pt idx="72">
                  <c:v>4087</c:v>
                </c:pt>
                <c:pt idx="73">
                  <c:v>7077</c:v>
                </c:pt>
                <c:pt idx="74">
                  <c:v>5791</c:v>
                </c:pt>
                <c:pt idx="75">
                  <c:v>8333</c:v>
                </c:pt>
                <c:pt idx="76">
                  <c:v>4433</c:v>
                </c:pt>
                <c:pt idx="77">
                  <c:v>8013</c:v>
                </c:pt>
                <c:pt idx="78">
                  <c:v>4019</c:v>
                </c:pt>
                <c:pt idx="79">
                  <c:v>4336</c:v>
                </c:pt>
                <c:pt idx="80">
                  <c:v>5115</c:v>
                </c:pt>
                <c:pt idx="81">
                  <c:v>5466</c:v>
                </c:pt>
                <c:pt idx="82">
                  <c:v>5764</c:v>
                </c:pt>
                <c:pt idx="83">
                  <c:v>5162</c:v>
                </c:pt>
                <c:pt idx="84">
                  <c:v>4156</c:v>
                </c:pt>
                <c:pt idx="85">
                  <c:v>4189</c:v>
                </c:pt>
                <c:pt idx="86">
                  <c:v>3871</c:v>
                </c:pt>
                <c:pt idx="87">
                  <c:v>5959</c:v>
                </c:pt>
                <c:pt idx="88">
                  <c:v>4219</c:v>
                </c:pt>
                <c:pt idx="89">
                  <c:v>5278</c:v>
                </c:pt>
                <c:pt idx="90">
                  <c:v>3105</c:v>
                </c:pt>
                <c:pt idx="91">
                  <c:v>3362</c:v>
                </c:pt>
                <c:pt idx="92">
                  <c:v>3689</c:v>
                </c:pt>
                <c:pt idx="93">
                  <c:v>3346</c:v>
                </c:pt>
                <c:pt idx="94">
                  <c:v>4558</c:v>
                </c:pt>
                <c:pt idx="95">
                  <c:v>4313</c:v>
                </c:pt>
                <c:pt idx="96">
                  <c:v>3924</c:v>
                </c:pt>
                <c:pt idx="97">
                  <c:v>4362</c:v>
                </c:pt>
                <c:pt idx="98">
                  <c:v>3412</c:v>
                </c:pt>
                <c:pt idx="99">
                  <c:v>3086</c:v>
                </c:pt>
                <c:pt idx="100">
                  <c:v>3524</c:v>
                </c:pt>
                <c:pt idx="101">
                  <c:v>4207</c:v>
                </c:pt>
                <c:pt idx="102">
                  <c:v>4041</c:v>
                </c:pt>
                <c:pt idx="103">
                  <c:v>3178</c:v>
                </c:pt>
                <c:pt idx="104">
                  <c:v>2750</c:v>
                </c:pt>
                <c:pt idx="105">
                  <c:v>4100</c:v>
                </c:pt>
                <c:pt idx="106">
                  <c:v>3027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0">
                  <a:solidFill>
                    <a:srgbClr val="15181B"/>
                  </a:solidFill>
                  <a:latin typeface="Satoshi Variable"/>
                  <a:ea typeface="Satoshi Variable"/>
                  <a:cs typeface="Satoshi Variabl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0CB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</a:p>
        </c:txPr>
        <c:crossAx val="48650112"/>
        <c:majorUnit val="5000"/>
      </c:valAx>
      <c:valAx>
        <c:axId val="48650112"/>
        <c:scaling>
          <c:orientation val="minMax"/>
          <c:max val="46316"/>
          <c:min val="46210"/>
        </c:scaling>
        <c:delete val="0"/>
        <c:axPos val="b"/>
        <c:numFmt formatCode="d mmm"/>
        <c:majorTickMark val="none"/>
        <c:minorTickMark val="none"/>
        <c:tickLblPos val="none"/>
        <c:spPr>
          <a:ln xmlns:a="http://schemas.openxmlformats.org/drawingml/2006/main" w="9525">
            <a:solidFill>
              <a:srgbClr val="CCD0C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</a:p>
        </c:txPr>
        <c:crossAx val="48672768"/>
        <c:majorUnit val="28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Merged mobile PRs</c:v>
          </c:tx>
          <c:spPr>
            <a:solidFill xmlns:a="http://schemas.openxmlformats.org/drawingml/2006/main">
              <a:srgbClr val="00786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58D9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86F"/>
              </a:solidFill>
            </c:spPr>
          </c:dPt>
          <c:cat>
            <c:strRef>
              <c:f>'Chart Data'!$A$2:$A$11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Oct*</c:v>
                </c:pt>
              </c:strCache>
            </c:strRef>
          </c:cat>
          <c:val>
            <c:numRef>
              <c:f>'Chart Data'!$B$2:$B$11</c:f>
              <c:numCache>
                <c:formatCode>#,##0</c:formatCode>
                <c:ptCount val="10"/>
                <c:pt idx="0">
                  <c:v>25</c:v>
                </c:pt>
                <c:pt idx="1">
                  <c:v>32</c:v>
                </c:pt>
                <c:pt idx="2">
                  <c:v>46</c:v>
                </c:pt>
                <c:pt idx="3">
                  <c:v>58</c:v>
                </c:pt>
                <c:pt idx="4">
                  <c:v>159</c:v>
                </c:pt>
                <c:pt idx="5">
                  <c:v>222</c:v>
                </c:pt>
                <c:pt idx="6">
                  <c:v>158</c:v>
                </c:pt>
                <c:pt idx="7">
                  <c:v>194</c:v>
                </c:pt>
                <c:pt idx="8">
                  <c:v>188</c:v>
                </c:pt>
                <c:pt idx="9">
                  <c:v>126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0">
                  <a:solidFill>
                    <a:srgbClr val="15181B"/>
                  </a:solidFill>
                  <a:latin typeface="Satoshi Variable"/>
                  <a:ea typeface="Satoshi Variable"/>
                  <a:cs typeface="Satoshi Variabl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0C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</a:p>
        </c:txPr>
        <c:crossAx val="48672768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0CB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8CCFA-C8CC-4CC5-9DAF-ECE9723390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3f45d5a8647c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eck title">
            <a:extLst xmlns:a="http://schemas.openxmlformats.org/drawingml/2006/main">
              <a:ext uri="{FF2B5EF4-FFF2-40B4-BE49-F238E27FC236}">
                <a16:creationId xmlns:a16="http://schemas.microsoft.com/office/drawing/2014/main" id="{4F3DAF3A-4302-459B-9310-1DB7594B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Beyond the QA</a:t>
            </a:r>
          </a:p>
          <a:p xmlns:a="http://schemas.openxmlformats.org/drawingml/2006/main">
            <a:pPr algn="l">
              <a:def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81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Bottleneck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6F89AA0-D3AE-4AEF-A468-3B23CC55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5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Building confidence in React Native with AI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BCFD3-882F-4401-A35F-3C5FA1F555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76e69ac034c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5143500"/>
            <a:ext cx="685800" cy="685800"/>
          </a:xfrm>
          <a:prstGeom xmlns:a="http://schemas.openxmlformats.org/drawingml/2006/main" prst="ellipse">
            <a:avLst/>
          </a:prstGeom>
        </p:spPr>
      </p:pic>
      <p:sp>
        <p:nvSpPr>
          <p:cNvPr id="5" name="Speaker">
            <a:extLst xmlns:a="http://schemas.openxmlformats.org/drawingml/2006/main">
              <a:ext uri="{FF2B5EF4-FFF2-40B4-BE49-F238E27FC236}">
                <a16:creationId xmlns:a16="http://schemas.microsoft.com/office/drawing/2014/main" id="{64ECF8E0-3CCF-41F2-B659-901E03D5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F6F4EE"/>
                </a:solidFill>
                <a:latin typeface="Satoshi Variable"/>
                <a:ea typeface="Satoshi Variable"/>
                <a:cs typeface="Satoshi Variable"/>
              </a:rPr>
              <a:t>John Adib · MrAdib.com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AA5EB75-7951-426E-ADC9-C49E7E7E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9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Engineering Manager at Zapp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DA172E9-A30D-44F4-9839-EB4A1471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38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React Native London Meetup · Thursday 22 October 2026</a:t>
            </a:r>
          </a:p>
          <a:p xmlns:a="http://schemas.openxmlformats.org/drawingml/2006/main">
            <a:pPr algn="l">
              <a:def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650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Funding Circle · 71 Queen Victoria Street, London</a:t>
            </a:r>
          </a:p>
        </p:txBody>
      </p:sp>
    </p:spTree>
    <p:extLst>
      <p:ext uri="{BB962C8B-B14F-4D97-AF65-F5344CB8AC3E}">
        <p14:creationId xmlns:p14="http://schemas.microsoft.com/office/powerpoint/2010/main" val="2009769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FDE461-9D51-460B-8586-5B21DB76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5727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Regressions.</a:t>
            </a:r>
          </a:p>
          <a:p xmlns:a="http://schemas.openxmlformats.org/drawingml/2006/main">
            <a: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Every release.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3B60BAD-3582-4A9B-8E89-42764027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019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We kept returning to behaviour we had already checked.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D1501B0-8621-4B4F-9B0F-E9E12A7C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4851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0FFB18-3646-4071-B4FA-0867BBE2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5727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Tests existed.</a:t>
            </a:r>
          </a:p>
          <a:p xmlns:a="http://schemas.openxmlformats.org/drawingml/2006/main">
            <a: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Nobody ran them.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BBFDE91-A08E-4D5C-9EF7-5861D50C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019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A small test suite. End-to-end checks outside CI.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B633E65-7AE0-4601-A950-0AC1FD8D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1760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F3DE7E-4B95-4657-AFA1-EC67C313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5727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More than</a:t>
            </a:r>
          </a:p>
          <a:p xmlns:a="http://schemas.openxmlformats.org/drawingml/2006/main">
            <a: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three days of QA.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31D7BE2-A871-46E0-8CA9-DC5A7584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019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Engineering, product and UX/design.</a:t>
            </a:r>
          </a:p>
          <a:p xmlns:a="http://schemas.openxmlformats.org/drawingml/2006/main">
            <a: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Many people paused their own work.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D1B96EF-3329-402D-B10C-AC710792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6599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A20C66-4DE1-49D8-8723-B7A1403C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5727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Every release waited</a:t>
            </a:r>
          </a:p>
          <a:p xmlns:a="http://schemas.openxmlformats.org/drawingml/2006/main">
            <a: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days for approval.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A6D4B97-D05F-4673-BC5E-63DEB23D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019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A chain of sign-offs held up the whole release.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0D9B580-424A-4CDD-BEAB-87946A8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1634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524B1A-25AC-4C0D-A2AE-254920EB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5727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Projects postponed</a:t>
            </a:r>
          </a:p>
          <a:p xmlns:a="http://schemas.openxmlformats.org/drawingml/2006/main">
            <a:pPr algn="l">
              <a:def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defRPr>
            </a:pPr>
            <a:r>
              <a:rPr sz="6900" b="0">
                <a:solidFill>
                  <a:srgbClr val="F6F4EE"/>
                </a:solidFill>
                <a:latin typeface="Newsreader"/>
                <a:ea typeface="Newsreader"/>
                <a:cs typeface="Newsreader"/>
              </a:rPr>
              <a:t>by over a quarter.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B098A22-2489-4507-A058-1C577D7A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019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All the existing projects had slipped by more than a quarter.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33E45A-BB72-4C4A-A36D-5DB41667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B7BCC1"/>
                </a:solidFill>
                <a:latin typeface="Satoshi Variable"/>
                <a:ea typeface="Satoshi Variable"/>
                <a:cs typeface="Satoshi Variabl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0914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4218E-F54A-42A7-A13E-3B5B483441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2bb7791d34e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6850" y="847725"/>
            <a:ext cx="1638300" cy="1638300"/>
          </a:xfrm>
          <a:prstGeom xmlns:a="http://schemas.openxmlformats.org/drawingml/2006/main" prst="ellipse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F5D1E6-09F2-42C8-B3DF-576CF2AB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ctr">
              <a:def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645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John Adib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030582-1C72-4992-BC1B-43C11A7B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ctr">
              <a:def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33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The story of an EM in the era of AI</a:t>
            </a:r>
          </a:p>
        </p:txBody>
      </p:sp>
      <p:sp>
        <p:nvSpPr>
          <p:cNvPr id="4" name="Credentials">
            <a:extLst xmlns:a="http://schemas.openxmlformats.org/drawingml/2006/main">
              <a:ext uri="{FF2B5EF4-FFF2-40B4-BE49-F238E27FC236}">
                <a16:creationId xmlns:a16="http://schemas.microsoft.com/office/drawing/2014/main" id="{647B1C58-525A-4EDB-B64A-F139602C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0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2× co-founder. Former CTO. Engineering leader and mentor.</a:t>
            </a:r>
          </a:p>
        </p:txBody>
      </p:sp>
      <p:sp>
        <p:nvSpPr>
          <p:cNvPr id="5" name="Experience">
            <a:extLst xmlns:a="http://schemas.openxmlformats.org/drawingml/2006/main">
              <a:ext uri="{FF2B5EF4-FFF2-40B4-BE49-F238E27FC236}">
                <a16:creationId xmlns:a16="http://schemas.microsoft.com/office/drawing/2014/main" id="{2B1BEDE7-D529-4691-B561-91EDD89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18 years building and improving systems. I love moving mountains.</a:t>
            </a:r>
          </a:p>
        </p:txBody>
      </p:sp>
      <p:sp>
        <p:nvSpPr>
          <p:cNvPr id="6" name="Website">
            <a:extLst xmlns:a="http://schemas.openxmlformats.org/drawingml/2006/main">
              <a:ext uri="{FF2B5EF4-FFF2-40B4-BE49-F238E27FC236}">
                <a16:creationId xmlns:a16="http://schemas.microsoft.com/office/drawing/2014/main" id="{A3B2ABC9-384B-421C-B63A-90CFE848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MrAdib.com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D36BE10-AC0B-4A44-BB08-DCAE34D7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8218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7E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tive section">
            <a:extLst xmlns:a="http://schemas.openxmlformats.org/drawingml/2006/main">
              <a:ext uri="{FF2B5EF4-FFF2-40B4-BE49-F238E27FC236}">
                <a16:creationId xmlns:a16="http://schemas.microsoft.com/office/drawing/2014/main" id="{8A4EACCD-E704-4171-B943-712EF1CA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0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pPr>
            <a:r>
              <a: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rPr>
              <a:t>01  Skills</a:t>
            </a:r>
          </a:p>
        </p:txBody>
      </p:sp>
      <p:sp>
        <p:nvSpPr>
          <p:cNvPr id="2" name="Section description 0">
            <a:extLst xmlns:a="http://schemas.openxmlformats.org/drawingml/2006/main">
              <a:ext uri="{FF2B5EF4-FFF2-40B4-BE49-F238E27FC236}">
                <a16:creationId xmlns:a16="http://schemas.microsoft.com/office/drawing/2014/main" id="{DB0385BA-24A1-48F2-A3FB-EA5C8105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good engineering habits repeatable.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336B1-C0D5-487F-B219-ECCCEB0582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0e4a412d241e6"/>
          <a:stretch xmlns:a="http://schemas.openxmlformats.org/drawingml/2006/main"/>
        </p:blipFill>
        <p:spPr>
          <a:xfrm xmlns:a="http://schemas.openxmlformats.org/drawingml/2006/main">
            <a:off x="1333500" y="1362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0C2D5-8D5F-41CA-9D2E-EF8E17E879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391959ca748a9"/>
          <a:stretch xmlns:a="http://schemas.openxmlformats.org/drawingml/2006/main"/>
        </p:blipFill>
        <p:spPr>
          <a:xfrm xmlns:a="http://schemas.openxmlformats.org/drawingml/2006/main">
            <a:off x="1333500" y="2124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7E343-B6FF-44FA-99D4-28184FB342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a2d119b344a01"/>
          <a:stretch xmlns:a="http://schemas.openxmlformats.org/drawingml/2006/main"/>
        </p:blipFill>
        <p:spPr>
          <a:xfrm xmlns:a="http://schemas.openxmlformats.org/drawingml/2006/main">
            <a:off x="1333500" y="2886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5291D-04B3-4D2A-B0BD-42D886EEB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bd7e666e2481c"/>
          <a:stretch xmlns:a="http://schemas.openxmlformats.org/drawingml/2006/main"/>
        </p:blipFill>
        <p:spPr>
          <a:xfrm xmlns:a="http://schemas.openxmlformats.org/drawingml/2006/main">
            <a:off x="1333500" y="3648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FD8F6-D844-4ACE-9961-308EC6211F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940a647044d14"/>
          <a:stretch xmlns:a="http://schemas.openxmlformats.org/drawingml/2006/main"/>
        </p:blipFill>
        <p:spPr>
          <a:xfrm xmlns:a="http://schemas.openxmlformats.org/drawingml/2006/main">
            <a:off x="1333500" y="4410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B9DA8-C34C-4BB2-BD14-377FC7ACDD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0b8d1a7464809"/>
          <a:stretch xmlns:a="http://schemas.openxmlformats.org/drawingml/2006/main"/>
        </p:blipFill>
        <p:spPr>
          <a:xfrm xmlns:a="http://schemas.openxmlformats.org/drawingml/2006/main">
            <a:off x="1333500" y="5172075"/>
            <a:ext cx="9334500" cy="1143000"/>
          </a:xfrm>
          <a:prstGeom xmlns:a="http://schemas.openxmlformats.org/drawingml/2006/main" prst="rect">
            <a:avLst/>
          </a:prstGeom>
        </p:spPr>
      </p:pic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8B6E7F4-62E5-4A0B-A24C-5EA76A66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3817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A8F5FB1E-AFC3-4912-A570-5B5472C4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Eight skills. One development loop.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3FFDC87-0524-4425-97F8-AD0EEBFC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Each skill has a responsibility and an output.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15EDB10-E835-493E-9516-2B8E1227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cook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5EB18D-0924-4BAC-A558-D58BF9CC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Coordinates the task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B911E1-437F-4672-BA2B-80249E81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955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sherlock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CC94390-916C-4933-92F0-397D5B3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14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Discovers the repository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26C44C8-8D73-451B-8265-2B28F9D3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dig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53C623-71CB-4B7B-A128-A6B269B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Researches the behaviour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5D7F59-7516-494E-950C-E87EAE04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099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mastermind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34728C5-12D6-4D23-B72D-695715F7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29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Plans for approval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291E0E6-67C2-4C06-8B39-511123B4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michelin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1161EBF-6496-47AC-808C-172CD76F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Implements and verifies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52B9518-15CA-4DC7-9253-A172540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243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mugshot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7EE3E6D-3429-464A-A4C6-38469AB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43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Captures device evidence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F4E2773-A59C-4F2C-A66F-25D46887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parole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6E71D5-B30E-4497-B81B-715F49EE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Evaluates review feedback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4C80C5D-DDAD-4BA7-941D-1CE5D7C5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55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saul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E336E79-115B-4F90-BA55-E0DBD19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57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Communicates the result</a:t>
            </a:r>
          </a:p>
        </p:txBody>
      </p:sp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BFF1373-C072-427D-A501-629FBDAF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25997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20CEBBE2-0A54-4AA8-BDC9-C3C624A5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My engineering standards, written down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1F9668A-7A13-40B4-BD78-B5507F82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Michelin makes those standards part of every change.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B9888BD-B680-444E-8510-00E5642E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65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Reuse and consistency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9DA9771-8CBA-4575-A3D7-01665FC4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765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Build on existing code, patterns and tools.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3EBFEF-C9EF-4514-BC8C-8F35EB73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14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Separation of concerns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2E9800-C89B-4D3C-A6DB-06E3A4A0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14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Keep UI, state and business logic focused.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AD8382-E0C5-4341-9A20-411C669A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63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Quality bar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EEA4F8-E9B0-43C3-97F3-21D0387A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863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Meaningful tests. Readable code. Verified results.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3B69583-A03D-49B6-B830-1D424DC8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74412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7E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mpleted section 0">
            <a:extLst xmlns:a="http://schemas.openxmlformats.org/drawingml/2006/main">
              <a:ext uri="{FF2B5EF4-FFF2-40B4-BE49-F238E27FC236}">
                <a16:creationId xmlns:a16="http://schemas.microsoft.com/office/drawing/2014/main" id="{BD492A1D-8113-4290-8DA1-6BB795E1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0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01  Skills</a:t>
            </a:r>
          </a:p>
        </p:txBody>
      </p:sp>
      <p:sp>
        <p:nvSpPr>
          <p:cNvPr id="2" name="Section description 0">
            <a:extLst xmlns:a="http://schemas.openxmlformats.org/drawingml/2006/main">
              <a:ext uri="{FF2B5EF4-FFF2-40B4-BE49-F238E27FC236}">
                <a16:creationId xmlns:a16="http://schemas.microsoft.com/office/drawing/2014/main" id="{D909AB88-AF0B-4826-B05C-4D20D227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good engineering habits repeatable.</a:t>
            </a:r>
          </a:p>
        </p:txBody>
      </p:sp>
      <p:sp>
        <p:nvSpPr>
          <p:cNvPr id="3" name="Active section">
            <a:extLst xmlns:a="http://schemas.openxmlformats.org/drawingml/2006/main">
              <a:ext uri="{FF2B5EF4-FFF2-40B4-BE49-F238E27FC236}">
                <a16:creationId xmlns:a16="http://schemas.microsoft.com/office/drawing/2014/main" id="{E96F5A40-2567-40B3-BE42-B5ABCC8A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pPr>
            <a:r>
              <a: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rPr>
              <a:t>02  Testing</a:t>
            </a:r>
          </a:p>
        </p:txBody>
      </p:sp>
      <p:sp>
        <p:nvSpPr>
          <p:cNvPr id="4" name="Section description 1">
            <a:extLst xmlns:a="http://schemas.openxmlformats.org/drawingml/2006/main">
              <a:ext uri="{FF2B5EF4-FFF2-40B4-BE49-F238E27FC236}">
                <a16:creationId xmlns:a16="http://schemas.microsoft.com/office/drawing/2014/main" id="{12F312AF-8C54-4CB6-BFF1-E2775144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each check protect real behaviour.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23ED6-65D2-4B15-AE7F-EFD79A706B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1c60e88db4c00"/>
          <a:stretch xmlns:a="http://schemas.openxmlformats.org/drawingml/2006/main"/>
        </p:blipFill>
        <p:spPr>
          <a:xfrm xmlns:a="http://schemas.openxmlformats.org/drawingml/2006/main">
            <a:off x="1333500" y="2124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C42BE-C8BC-43E0-8FAB-FBA277E2B8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c1921fda747ad"/>
          <a:stretch xmlns:a="http://schemas.openxmlformats.org/drawingml/2006/main"/>
        </p:blipFill>
        <p:spPr>
          <a:xfrm xmlns:a="http://schemas.openxmlformats.org/drawingml/2006/main">
            <a:off x="1333500" y="2886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7E00C-8811-43D9-97FB-8948F0602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712ec383f4a5c"/>
          <a:stretch xmlns:a="http://schemas.openxmlformats.org/drawingml/2006/main"/>
        </p:blipFill>
        <p:spPr>
          <a:xfrm xmlns:a="http://schemas.openxmlformats.org/drawingml/2006/main">
            <a:off x="1333500" y="3648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4EDDB-8396-4449-85A2-0651E976E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11a11970e40c3"/>
          <a:stretch xmlns:a="http://schemas.openxmlformats.org/drawingml/2006/main"/>
        </p:blipFill>
        <p:spPr>
          <a:xfrm xmlns:a="http://schemas.openxmlformats.org/drawingml/2006/main">
            <a:off x="1333500" y="4410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A9565-4988-4228-B250-D013CE3BBD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173c270ca4c64"/>
          <a:stretch xmlns:a="http://schemas.openxmlformats.org/drawingml/2006/main"/>
        </p:blipFill>
        <p:spPr>
          <a:xfrm xmlns:a="http://schemas.openxmlformats.org/drawingml/2006/main">
            <a:off x="1333500" y="5172075"/>
            <a:ext cx="93345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8DEB9C1-A366-43DF-A704-A1AD1A29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36832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D6B2D2F-6BFF-4C99-9266-3A4B4EFB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The testing bar, written into the codebase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D5AEC04-DA2C-4FB8-BF18-84D89B1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Protect what works. Raise the bar with every change.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D9209A1-BB24-428B-9BC1-34DA41B4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698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New code needs tests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64EAD4F-FAAE-42DC-A4C5-DBED6AB5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6698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No test, no acceptance.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5070229-534B-47C9-B230-674C1334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138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Bug fixes prove both cases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7DA140-BA06-45A9-80CD-518CD0E7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138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The test fails before the fix and passes after it.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EF0D7E-8215-4281-A838-FFAED3C4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578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Titles explain behaviour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94DE16-36AB-4EEB-A5B5-186CB2E8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9578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Name the expected result in plain language.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B9C46E-3DC3-4A7E-8EBF-16A083DB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018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The bar keeps rising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D19B953-F7FD-403B-A64C-E138DAB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1018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Keep existing checks passing. Add protection as we go.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E2F93F5-C154-40BA-9AA0-C39CB2D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8980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6BE4A46-2DAC-405D-9B5E-6CDF0CF1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113 to 2,257 unit-test files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FDF34F6-6044-44DC-83EF-CFBDC6669304}"/>
              </a:ext>
            </a:extLst>
          </p:cNvPr>
          <p:cNvGraphicFramePr/>
          <p:nvPr/>
        </p:nvGraphicFramePr>
        <p:xfrm>
          <a:off xmlns:a="http://schemas.openxmlformats.org/drawingml/2006/main" x="723900" y="2381250"/>
          <a:ext xmlns:a="http://schemas.openxmlformats.org/drawingml/2006/main" cx="10744200" cy="3181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8c96a1c6da4793"/>
          </a:graphicData>
        </a:graphic>
      </p:graphicFrame>
      <p:sp>
        <p:nvSpPr>
          <p:cNvPr id="3" name="April month marker">
            <a:extLst xmlns:a="http://schemas.openxmlformats.org/drawingml/2006/main">
              <a:ext uri="{FF2B5EF4-FFF2-40B4-BE49-F238E27FC236}">
                <a16:creationId xmlns:a16="http://schemas.microsoft.com/office/drawing/2014/main" id="{50148B89-FC96-41F1-85EB-E22DC0B1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0" cy="2800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5F65"/>
            </a:solidFill>
            <a:prstDash val="dash"/>
          </a:ln>
        </p:spPr>
      </p:sp>
      <p:sp>
        <p:nvSpPr>
          <p:cNvPr id="4" name="April joining context">
            <a:extLst xmlns:a="http://schemas.openxmlformats.org/drawingml/2006/main">
              <a:ext uri="{FF2B5EF4-FFF2-40B4-BE49-F238E27FC236}">
                <a16:creationId xmlns:a16="http://schemas.microsoft.com/office/drawing/2014/main" id="{D6441970-2591-42C3-B85D-1D435FD1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Joined in April 2026</a:t>
            </a:r>
          </a:p>
        </p:txBody>
      </p:sp>
      <p:sp>
        <p:nvSpPr>
          <p:cNvPr id="5" name="Methodology">
            <a:extLst xmlns:a="http://schemas.openxmlformats.org/drawingml/2006/main">
              <a:ext uri="{FF2B5EF4-FFF2-40B4-BE49-F238E27FC236}">
                <a16:creationId xmlns:a16="http://schemas.microsoft.com/office/drawing/2014/main" id="{37E1D239-CC1B-4718-BBE0-A19A353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Month-end snapshots through September, then 8 October 2026. File count is not coverage.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BAA555-49F3-433E-834A-A695625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340744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7E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mpleted section 0">
            <a:extLst xmlns:a="http://schemas.openxmlformats.org/drawingml/2006/main">
              <a:ext uri="{FF2B5EF4-FFF2-40B4-BE49-F238E27FC236}">
                <a16:creationId xmlns:a16="http://schemas.microsoft.com/office/drawing/2014/main" id="{63097830-F341-45B8-9990-C5F1848C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0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01  Skills</a:t>
            </a:r>
          </a:p>
        </p:txBody>
      </p:sp>
      <p:sp>
        <p:nvSpPr>
          <p:cNvPr id="2" name="Section description 0">
            <a:extLst xmlns:a="http://schemas.openxmlformats.org/drawingml/2006/main">
              <a:ext uri="{FF2B5EF4-FFF2-40B4-BE49-F238E27FC236}">
                <a16:creationId xmlns:a16="http://schemas.microsoft.com/office/drawing/2014/main" id="{985FECC6-5A17-4045-A122-907797B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good engineering habits repeatable.</a:t>
            </a:r>
          </a:p>
        </p:txBody>
      </p:sp>
      <p:sp>
        <p:nvSpPr>
          <p:cNvPr id="3" name="Completed section 1">
            <a:extLst xmlns:a="http://schemas.openxmlformats.org/drawingml/2006/main">
              <a:ext uri="{FF2B5EF4-FFF2-40B4-BE49-F238E27FC236}">
                <a16:creationId xmlns:a16="http://schemas.microsoft.com/office/drawing/2014/main" id="{67A6ED77-7242-447A-9899-10BC7864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02  Testing</a:t>
            </a:r>
          </a:p>
        </p:txBody>
      </p:sp>
      <p:sp>
        <p:nvSpPr>
          <p:cNvPr id="4" name="Section description 1">
            <a:extLst xmlns:a="http://schemas.openxmlformats.org/drawingml/2006/main">
              <a:ext uri="{FF2B5EF4-FFF2-40B4-BE49-F238E27FC236}">
                <a16:creationId xmlns:a16="http://schemas.microsoft.com/office/drawing/2014/main" id="{3554C128-DD3D-4FED-98FD-221D07F9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each check protect real behaviour.</a:t>
            </a:r>
          </a:p>
        </p:txBody>
      </p:sp>
      <p:sp>
        <p:nvSpPr>
          <p:cNvPr id="5" name="Active section">
            <a:extLst xmlns:a="http://schemas.openxmlformats.org/drawingml/2006/main">
              <a:ext uri="{FF2B5EF4-FFF2-40B4-BE49-F238E27FC236}">
                <a16:creationId xmlns:a16="http://schemas.microsoft.com/office/drawing/2014/main" id="{C81FB40B-6368-4592-9CA1-5BDDD324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pPr>
            <a:r>
              <a: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rPr>
              <a:t>03  CI</a:t>
            </a:r>
          </a:p>
        </p:txBody>
      </p:sp>
      <p:sp>
        <p:nvSpPr>
          <p:cNvPr id="6" name="Section description 2">
            <a:extLst xmlns:a="http://schemas.openxmlformats.org/drawingml/2006/main">
              <a:ext uri="{FF2B5EF4-FFF2-40B4-BE49-F238E27FC236}">
                <a16:creationId xmlns:a16="http://schemas.microsoft.com/office/drawing/2014/main" id="{8E624ABA-535D-455A-B233-6408401E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14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Check every PR. Block the pipeline on failure.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76F6A-7D12-4F63-A5A3-93E2C41C92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9e2d59e9f4e22"/>
          <a:stretch xmlns:a="http://schemas.openxmlformats.org/drawingml/2006/main"/>
        </p:blipFill>
        <p:spPr>
          <a:xfrm xmlns:a="http://schemas.openxmlformats.org/drawingml/2006/main">
            <a:off x="1333500" y="2886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9B8BE-3557-4C42-B97B-8EA6DF9DF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043427b0847ee"/>
          <a:stretch xmlns:a="http://schemas.openxmlformats.org/drawingml/2006/main"/>
        </p:blipFill>
        <p:spPr>
          <a:xfrm xmlns:a="http://schemas.openxmlformats.org/drawingml/2006/main">
            <a:off x="1333500" y="3648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CBC35-BA1D-4EEA-9489-526DD1D4C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79604c04c4490"/>
          <a:stretch xmlns:a="http://schemas.openxmlformats.org/drawingml/2006/main"/>
        </p:blipFill>
        <p:spPr>
          <a:xfrm xmlns:a="http://schemas.openxmlformats.org/drawingml/2006/main">
            <a:off x="1333500" y="4410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E05EF-3093-4668-ABDD-B6B310773F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6cc75abf345b7"/>
          <a:stretch xmlns:a="http://schemas.openxmlformats.org/drawingml/2006/main"/>
        </p:blipFill>
        <p:spPr>
          <a:xfrm xmlns:a="http://schemas.openxmlformats.org/drawingml/2006/main">
            <a:off x="1333500" y="5172075"/>
            <a:ext cx="9334500" cy="1143000"/>
          </a:xfrm>
          <a:prstGeom xmlns:a="http://schemas.openxmlformats.org/drawingml/2006/main" prst="rect">
            <a:avLst/>
          </a:prstGeom>
        </p:spPr>
      </p:pic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8251977-906A-4386-AC1D-4E26C9F3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99152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572F3E5-09F3-40DC-BA48-6D47CF76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Every PR goes through CI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C9FC87E-5DA3-4A29-8293-BDC6D7E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Failed checks block the pipeline until they pass.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EA85AD9-A11D-42F8-9276-0C3B9B18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Run the checks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EB0A4E-FC53-4ACE-A412-29415146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62225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Lint, types, tests and build on every PR.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5DD0A8-E2CF-456B-8D04-17FFBD47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Parole evaluates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D18001-FCF6-4AAF-A8AB-71B4D49A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Watch CI results. Investigate each failure.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9EBF33-0FEA-4B86-8EF4-1EFCC3CC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Michelin fixes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2264AC-B9EC-4D7E-9A9F-58461618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72025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Make the correction. Commit, push and run again.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A62C1B3-8989-47E2-8B40-E611D43B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The loop repeats until the required checks pass.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C223B9F-DA3A-46CD-967D-ACCF0B9A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92637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7B414F3-E404-4D87-B65A-503046AA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The quality bar keeps rising</a:t>
            </a:r>
          </a:p>
        </p:txBody>
      </p:sp>
      <p:sp>
        <p:nvSpPr>
          <p:cNvPr id="2" name="Metric value">
            <a:extLst xmlns:a="http://schemas.openxmlformats.org/drawingml/2006/main">
              <a:ext uri="{FF2B5EF4-FFF2-40B4-BE49-F238E27FC236}">
                <a16:creationId xmlns:a16="http://schemas.microsoft.com/office/drawing/2014/main" id="{2C67EDCE-07B3-4B67-8562-BF92EAC5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defRPr>
            </a:pPr>
            <a:r>
              <a:rPr sz="13200" b="0">
                <a:solidFill>
                  <a:srgbClr val="00786F"/>
                </a:solidFill>
                <a:latin typeface="Newsreader"/>
                <a:ea typeface="Newsreader"/>
                <a:cs typeface="Newsreader"/>
              </a:rPr>
              <a:t>99.26%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43B9EF3-0F2D-4DEF-B2E8-1E314537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Line coverage, 8 October 2026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AB6301-87B6-46D3-BB7B-3513EDC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Measured scope changed. More tested lines, fewer eligible lines.</a:t>
            </a:r>
          </a:p>
          <a:p xmlns:a="http://schemas.openxmlformats.org/drawingml/2006/main">
            <a: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CI now preserves this baseline.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0A60E08-AE12-46C3-B7A2-69AC266A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194952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7E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mpleted section 0">
            <a:extLst xmlns:a="http://schemas.openxmlformats.org/drawingml/2006/main">
              <a:ext uri="{FF2B5EF4-FFF2-40B4-BE49-F238E27FC236}">
                <a16:creationId xmlns:a16="http://schemas.microsoft.com/office/drawing/2014/main" id="{02F5E829-782B-43ED-AA28-2B9BDB30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0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01  Skills</a:t>
            </a:r>
          </a:p>
        </p:txBody>
      </p:sp>
      <p:sp>
        <p:nvSpPr>
          <p:cNvPr id="2" name="Section description 0">
            <a:extLst xmlns:a="http://schemas.openxmlformats.org/drawingml/2006/main">
              <a:ext uri="{FF2B5EF4-FFF2-40B4-BE49-F238E27FC236}">
                <a16:creationId xmlns:a16="http://schemas.microsoft.com/office/drawing/2014/main" id="{D472B16A-EECA-4C53-8246-F0D06940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good engineering habits repeatable.</a:t>
            </a:r>
          </a:p>
        </p:txBody>
      </p:sp>
      <p:sp>
        <p:nvSpPr>
          <p:cNvPr id="3" name="Completed section 1">
            <a:extLst xmlns:a="http://schemas.openxmlformats.org/drawingml/2006/main">
              <a:ext uri="{FF2B5EF4-FFF2-40B4-BE49-F238E27FC236}">
                <a16:creationId xmlns:a16="http://schemas.microsoft.com/office/drawing/2014/main" id="{A3445DD2-F883-4482-9D4E-91C16193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02  Testing</a:t>
            </a:r>
          </a:p>
        </p:txBody>
      </p:sp>
      <p:sp>
        <p:nvSpPr>
          <p:cNvPr id="4" name="Section description 1">
            <a:extLst xmlns:a="http://schemas.openxmlformats.org/drawingml/2006/main">
              <a:ext uri="{FF2B5EF4-FFF2-40B4-BE49-F238E27FC236}">
                <a16:creationId xmlns:a16="http://schemas.microsoft.com/office/drawing/2014/main" id="{1B3E85A5-3868-4276-A4FB-99578BD7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each check protect real behaviour.</a:t>
            </a:r>
          </a:p>
        </p:txBody>
      </p:sp>
      <p:sp>
        <p:nvSpPr>
          <p:cNvPr id="5" name="Completed section 2">
            <a:extLst xmlns:a="http://schemas.openxmlformats.org/drawingml/2006/main">
              <a:ext uri="{FF2B5EF4-FFF2-40B4-BE49-F238E27FC236}">
                <a16:creationId xmlns:a16="http://schemas.microsoft.com/office/drawing/2014/main" id="{15EE1760-0E75-4940-AFBD-9A9C6AE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03  CI</a:t>
            </a:r>
          </a:p>
        </p:txBody>
      </p:sp>
      <p:sp>
        <p:nvSpPr>
          <p:cNvPr id="6" name="Section description 2">
            <a:extLst xmlns:a="http://schemas.openxmlformats.org/drawingml/2006/main">
              <a:ext uri="{FF2B5EF4-FFF2-40B4-BE49-F238E27FC236}">
                <a16:creationId xmlns:a16="http://schemas.microsoft.com/office/drawing/2014/main" id="{7ABD83B9-ECB7-4DC0-A1FB-7764A634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14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Check every PR. Block the pipeline on failure.</a:t>
            </a:r>
          </a:p>
        </p:txBody>
      </p:sp>
      <p:sp>
        <p:nvSpPr>
          <p:cNvPr id="7" name="Active section">
            <a:extLst xmlns:a="http://schemas.openxmlformats.org/drawingml/2006/main">
              <a:ext uri="{FF2B5EF4-FFF2-40B4-BE49-F238E27FC236}">
                <a16:creationId xmlns:a16="http://schemas.microsoft.com/office/drawing/2014/main" id="{1CA66CFC-1D76-48A9-8FC5-69F3B7F9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pPr>
            <a:r>
              <a: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rPr>
              <a:t>04  Device verification</a:t>
            </a:r>
          </a:p>
        </p:txBody>
      </p:sp>
      <p:sp>
        <p:nvSpPr>
          <p:cNvPr id="8" name="Section description 3">
            <a:extLst xmlns:a="http://schemas.openxmlformats.org/drawingml/2006/main">
              <a:ext uri="{FF2B5EF4-FFF2-40B4-BE49-F238E27FC236}">
                <a16:creationId xmlns:a16="http://schemas.microsoft.com/office/drawing/2014/main" id="{F90BE755-B502-4EB8-A580-DBCB00D4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76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Maestro checks on iOS and Android. Recorded results and failures.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C3C50-D56A-4467-9C1A-E2F332067D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398a5197d43c6"/>
          <a:stretch xmlns:a="http://schemas.openxmlformats.org/drawingml/2006/main"/>
        </p:blipFill>
        <p:spPr>
          <a:xfrm xmlns:a="http://schemas.openxmlformats.org/drawingml/2006/main">
            <a:off x="1333500" y="3648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6E7CC-2C1D-4728-8982-A287B763F0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bb91b9718499e"/>
          <a:stretch xmlns:a="http://schemas.openxmlformats.org/drawingml/2006/main"/>
        </p:blipFill>
        <p:spPr>
          <a:xfrm xmlns:a="http://schemas.openxmlformats.org/drawingml/2006/main">
            <a:off x="1333500" y="4410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47EE8-DF00-460E-9546-13731F302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057b0d1b24bde"/>
          <a:stretch xmlns:a="http://schemas.openxmlformats.org/drawingml/2006/main"/>
        </p:blipFill>
        <p:spPr>
          <a:xfrm xmlns:a="http://schemas.openxmlformats.org/drawingml/2006/main">
            <a:off x="1333500" y="5172075"/>
            <a:ext cx="93345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30BFE0E-A0CC-46CE-9F22-541706BA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54884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B574745F-2EA1-4258-A1B9-F88F3171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Maestro checks the app while we sleep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E23C889-1F74-4FA3-91BC-3654843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Android and iOS, with evidence of every failure.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EC37C2D-7107-4F19-B585-C5D23A15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Selected PRs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9CE6D96-A223-4240-9AF8-8D1ABBBA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62225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Run smoke tests when the relevant label is applied.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4C70AA-A913-4A35-9DE2-5DD0B252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Every night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6D586A-74C0-4DA0-8AE2-F8439E94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33 configured suite jobs across iOS and Android.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8401A3-A2F3-4C69-A6B6-ED626EC1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Investigate failures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F25BEA-662D-415E-9B50-6030FBE1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72025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Watch the video, inspect logs and fix the affected flow.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1AA35A-A954-4FA3-A9BE-E64F197D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Attach recordings and logs so people and AI can investigate.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99C5445-9CF6-40F1-8577-26283B05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21163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8370F50-C8F5-4748-8400-CAE20915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14 to 404 Maestro flow files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6F1D837-502F-4430-9A14-5228CF3E8388}"/>
              </a:ext>
            </a:extLst>
          </p:cNvPr>
          <p:cNvGraphicFramePr/>
          <p:nvPr/>
        </p:nvGraphicFramePr>
        <p:xfrm>
          <a:off xmlns:a="http://schemas.openxmlformats.org/drawingml/2006/main" x="723900" y="2381250"/>
          <a:ext xmlns:a="http://schemas.openxmlformats.org/drawingml/2006/main" cx="10744200" cy="3181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5ee295da1342f8"/>
          </a:graphicData>
        </a:graphic>
      </p:graphicFrame>
      <p:sp>
        <p:nvSpPr>
          <p:cNvPr id="3" name="April month marker">
            <a:extLst xmlns:a="http://schemas.openxmlformats.org/drawingml/2006/main">
              <a:ext uri="{FF2B5EF4-FFF2-40B4-BE49-F238E27FC236}">
                <a16:creationId xmlns:a16="http://schemas.microsoft.com/office/drawing/2014/main" id="{D2F5FE61-B462-4CB8-A01C-A4121C42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81250"/>
            <a:ext cx="0" cy="2800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5F65"/>
            </a:solidFill>
            <a:prstDash val="dash"/>
          </a:ln>
        </p:spPr>
      </p:sp>
      <p:sp>
        <p:nvSpPr>
          <p:cNvPr id="4" name="April joining context">
            <a:extLst xmlns:a="http://schemas.openxmlformats.org/drawingml/2006/main">
              <a:ext uri="{FF2B5EF4-FFF2-40B4-BE49-F238E27FC236}">
                <a16:creationId xmlns:a16="http://schemas.microsoft.com/office/drawing/2014/main" id="{CDACD9C8-43EC-492B-A83D-F4102AB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Joined in April 2026</a:t>
            </a:r>
          </a:p>
        </p:txBody>
      </p:sp>
      <p:sp>
        <p:nvSpPr>
          <p:cNvPr id="5" name="Methodology">
            <a:extLst xmlns:a="http://schemas.openxmlformats.org/drawingml/2006/main">
              <a:ext uri="{FF2B5EF4-FFF2-40B4-BE49-F238E27FC236}">
                <a16:creationId xmlns:a16="http://schemas.microsoft.com/office/drawing/2014/main" id="{A3971FE6-133A-4C91-B38C-8A145BBA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Month-end snapshots through September, then 8 October. Includes shared flows and suites.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8B1727F-D106-4BC6-B08D-E6CD67B8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727649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7E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mpleted section 0">
            <a:extLst xmlns:a="http://schemas.openxmlformats.org/drawingml/2006/main">
              <a:ext uri="{FF2B5EF4-FFF2-40B4-BE49-F238E27FC236}">
                <a16:creationId xmlns:a16="http://schemas.microsoft.com/office/drawing/2014/main" id="{98BFB056-1CA2-4C59-BD12-CF7CCA9E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0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01  Skills</a:t>
            </a:r>
          </a:p>
        </p:txBody>
      </p:sp>
      <p:sp>
        <p:nvSpPr>
          <p:cNvPr id="2" name="Section description 0">
            <a:extLst xmlns:a="http://schemas.openxmlformats.org/drawingml/2006/main">
              <a:ext uri="{FF2B5EF4-FFF2-40B4-BE49-F238E27FC236}">
                <a16:creationId xmlns:a16="http://schemas.microsoft.com/office/drawing/2014/main" id="{7A710066-D896-466B-A5EE-DD50CF0B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good engineering habits repeatable.</a:t>
            </a:r>
          </a:p>
        </p:txBody>
      </p:sp>
      <p:sp>
        <p:nvSpPr>
          <p:cNvPr id="3" name="Completed section 1">
            <a:extLst xmlns:a="http://schemas.openxmlformats.org/drawingml/2006/main">
              <a:ext uri="{FF2B5EF4-FFF2-40B4-BE49-F238E27FC236}">
                <a16:creationId xmlns:a16="http://schemas.microsoft.com/office/drawing/2014/main" id="{319A1264-E29F-43F3-B94E-F3FFF8EE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02  Testing</a:t>
            </a:r>
          </a:p>
        </p:txBody>
      </p:sp>
      <p:sp>
        <p:nvSpPr>
          <p:cNvPr id="4" name="Section description 1">
            <a:extLst xmlns:a="http://schemas.openxmlformats.org/drawingml/2006/main">
              <a:ext uri="{FF2B5EF4-FFF2-40B4-BE49-F238E27FC236}">
                <a16:creationId xmlns:a16="http://schemas.microsoft.com/office/drawing/2014/main" id="{AEB8FB03-F48D-4DAA-A181-5B801B3D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each check protect real behaviour.</a:t>
            </a:r>
          </a:p>
        </p:txBody>
      </p:sp>
      <p:sp>
        <p:nvSpPr>
          <p:cNvPr id="5" name="Completed section 2">
            <a:extLst xmlns:a="http://schemas.openxmlformats.org/drawingml/2006/main">
              <a:ext uri="{FF2B5EF4-FFF2-40B4-BE49-F238E27FC236}">
                <a16:creationId xmlns:a16="http://schemas.microsoft.com/office/drawing/2014/main" id="{241085CF-EA85-4302-A8AE-0C9D6FB4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03  CI</a:t>
            </a:r>
          </a:p>
        </p:txBody>
      </p:sp>
      <p:sp>
        <p:nvSpPr>
          <p:cNvPr id="6" name="Section description 2">
            <a:extLst xmlns:a="http://schemas.openxmlformats.org/drawingml/2006/main">
              <a:ext uri="{FF2B5EF4-FFF2-40B4-BE49-F238E27FC236}">
                <a16:creationId xmlns:a16="http://schemas.microsoft.com/office/drawing/2014/main" id="{41316DF3-D744-4521-85A3-3AB1C311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14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Check every PR. Block the pipeline on failure.</a:t>
            </a:r>
          </a:p>
        </p:txBody>
      </p:sp>
      <p:sp>
        <p:nvSpPr>
          <p:cNvPr id="7" name="Completed section 3">
            <a:extLst xmlns:a="http://schemas.openxmlformats.org/drawingml/2006/main">
              <a:ext uri="{FF2B5EF4-FFF2-40B4-BE49-F238E27FC236}">
                <a16:creationId xmlns:a16="http://schemas.microsoft.com/office/drawing/2014/main" id="{D791225D-A59F-4409-8C3F-86E4588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04  Device verification</a:t>
            </a:r>
          </a:p>
        </p:txBody>
      </p:sp>
      <p:sp>
        <p:nvSpPr>
          <p:cNvPr id="8" name="Section description 3">
            <a:extLst xmlns:a="http://schemas.openxmlformats.org/drawingml/2006/main">
              <a:ext uri="{FF2B5EF4-FFF2-40B4-BE49-F238E27FC236}">
                <a16:creationId xmlns:a16="http://schemas.microsoft.com/office/drawing/2014/main" id="{4B340C26-55BC-4A16-80AB-03ED1972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76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Maestro checks on iOS and Android. Recorded results and failures.</a:t>
            </a:r>
          </a:p>
        </p:txBody>
      </p:sp>
      <p:sp>
        <p:nvSpPr>
          <p:cNvPr id="9" name="Active section">
            <a:extLst xmlns:a="http://schemas.openxmlformats.org/drawingml/2006/main">
              <a:ext uri="{FF2B5EF4-FFF2-40B4-BE49-F238E27FC236}">
                <a16:creationId xmlns:a16="http://schemas.microsoft.com/office/drawing/2014/main" id="{A43A9161-4551-42D3-B0AC-7B36E70F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38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pPr>
            <a:r>
              <a: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rPr>
              <a:t>05  AI reviewers</a:t>
            </a:r>
          </a:p>
        </p:txBody>
      </p:sp>
      <p:sp>
        <p:nvSpPr>
          <p:cNvPr id="10" name="Section description 4">
            <a:extLst xmlns:a="http://schemas.openxmlformats.org/drawingml/2006/main">
              <a:ext uri="{FF2B5EF4-FFF2-40B4-BE49-F238E27FC236}">
                <a16:creationId xmlns:a16="http://schemas.microsoft.com/office/drawing/2014/main" id="{07DF4221-2FB5-4E20-BCB3-D56377CE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38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Three reviewers on every PR. Shared mobile guidelines.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5C175-3BB5-4AF3-9F6B-1024969E8F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354baf59c493d"/>
          <a:stretch xmlns:a="http://schemas.openxmlformats.org/drawingml/2006/main"/>
        </p:blipFill>
        <p:spPr>
          <a:xfrm xmlns:a="http://schemas.openxmlformats.org/drawingml/2006/main">
            <a:off x="1333500" y="4410075"/>
            <a:ext cx="9334500" cy="11430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7E039-4182-4011-B183-CDA954DD53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09be919824dba"/>
          <a:stretch xmlns:a="http://schemas.openxmlformats.org/drawingml/2006/main"/>
        </p:blipFill>
        <p:spPr>
          <a:xfrm xmlns:a="http://schemas.openxmlformats.org/drawingml/2006/main">
            <a:off x="1333500" y="5172075"/>
            <a:ext cx="93345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51F6CAB-6D6B-433E-A675-B0D1C768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78878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EF73B529-07F7-44DF-8049-560A3435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Three AI reviewers. One mobile specialist.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450AC3D-E13B-4488-820D-898F3892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Review feedback arrives without waiting days for a person.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2A96183-5F27-4411-82CB-BEA0B8EF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65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CodeRabbit, Qodo, cubic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62F56C-3C57-4FD5-A06E-5447D22D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765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Three review perspectives on every PR.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B93397-9C89-4F9D-9162-F36301E5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14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Custom Cursor reviewer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09AFA4-F4B4-42B2-A09A-355CB665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14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An hourly review focused on React Native.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64CF9A-DA79-4ED0-87C7-89D9A4D7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63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A shared quality bar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E58D6C-1CF0-42AA-B16A-7E9ADBEB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863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All reviewers use the guidelines in the repository.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0FD9901-4E2C-492B-ADBA-5649CDC2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73242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5081065B-F46B-479F-89C6-9A84247B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Review guidelines live with the code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3B72DD1-9336-45B4-972F-643CF63A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Every AI reviewer starts with the same mobile context.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C9CFFA2-0E53-413B-8C1A-18752388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65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React Native standards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0D18897-8FF5-4E14-BF83-6CF04DCE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765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Mobile best practices and platform behaviour.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AEB649-3768-48E3-B16B-4C1CF83F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14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Engineering expectations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C7D694-539B-478A-A8C6-306B1390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14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Reuse existing code. Separate concerns. Require tests.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7C4573B-D948-43D7-AFCB-260B233B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63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Guidelines evolve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6FDC7C-75A9-49EB-B6FB-170C0401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863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Clarify missed context and improve future reviews.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46B2DF9-A18C-4A91-97F4-83D45E0A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665941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E7E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mpleted section 0">
            <a:extLst xmlns:a="http://schemas.openxmlformats.org/drawingml/2006/main">
              <a:ext uri="{FF2B5EF4-FFF2-40B4-BE49-F238E27FC236}">
                <a16:creationId xmlns:a16="http://schemas.microsoft.com/office/drawing/2014/main" id="{714BB11F-9D41-4457-871A-DF2C4CA8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0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01  Skills</a:t>
            </a:r>
          </a:p>
        </p:txBody>
      </p:sp>
      <p:sp>
        <p:nvSpPr>
          <p:cNvPr id="2" name="Section description 0">
            <a:extLst xmlns:a="http://schemas.openxmlformats.org/drawingml/2006/main">
              <a:ext uri="{FF2B5EF4-FFF2-40B4-BE49-F238E27FC236}">
                <a16:creationId xmlns:a16="http://schemas.microsoft.com/office/drawing/2014/main" id="{65757EE2-0382-4FF1-A1A8-B7E10092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good engineering habits repeatable.</a:t>
            </a:r>
          </a:p>
        </p:txBody>
      </p:sp>
      <p:sp>
        <p:nvSpPr>
          <p:cNvPr id="3" name="Completed section 1">
            <a:extLst xmlns:a="http://schemas.openxmlformats.org/drawingml/2006/main">
              <a:ext uri="{FF2B5EF4-FFF2-40B4-BE49-F238E27FC236}">
                <a16:creationId xmlns:a16="http://schemas.microsoft.com/office/drawing/2014/main" id="{7B0C3B9D-24F7-4A77-AD0B-F7770136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02  Testing</a:t>
            </a:r>
          </a:p>
        </p:txBody>
      </p:sp>
      <p:sp>
        <p:nvSpPr>
          <p:cNvPr id="4" name="Section description 1">
            <a:extLst xmlns:a="http://schemas.openxmlformats.org/drawingml/2006/main">
              <a:ext uri="{FF2B5EF4-FFF2-40B4-BE49-F238E27FC236}">
                <a16:creationId xmlns:a16="http://schemas.microsoft.com/office/drawing/2014/main" id="{0FB65897-EF72-4DA1-9B4E-DE67C65D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each check protect real behaviour.</a:t>
            </a:r>
          </a:p>
        </p:txBody>
      </p:sp>
      <p:sp>
        <p:nvSpPr>
          <p:cNvPr id="5" name="Completed section 2">
            <a:extLst xmlns:a="http://schemas.openxmlformats.org/drawingml/2006/main">
              <a:ext uri="{FF2B5EF4-FFF2-40B4-BE49-F238E27FC236}">
                <a16:creationId xmlns:a16="http://schemas.microsoft.com/office/drawing/2014/main" id="{5597ED6A-6DC7-4C85-8A23-CAFC0F20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03  CI</a:t>
            </a:r>
          </a:p>
        </p:txBody>
      </p:sp>
      <p:sp>
        <p:nvSpPr>
          <p:cNvPr id="6" name="Section description 2">
            <a:extLst xmlns:a="http://schemas.openxmlformats.org/drawingml/2006/main">
              <a:ext uri="{FF2B5EF4-FFF2-40B4-BE49-F238E27FC236}">
                <a16:creationId xmlns:a16="http://schemas.microsoft.com/office/drawing/2014/main" id="{97038B07-BEA6-43E1-ACE8-893D1790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14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Check every PR. Block the pipeline on failure.</a:t>
            </a:r>
          </a:p>
        </p:txBody>
      </p:sp>
      <p:sp>
        <p:nvSpPr>
          <p:cNvPr id="7" name="Completed section 3">
            <a:extLst xmlns:a="http://schemas.openxmlformats.org/drawingml/2006/main">
              <a:ext uri="{FF2B5EF4-FFF2-40B4-BE49-F238E27FC236}">
                <a16:creationId xmlns:a16="http://schemas.microsoft.com/office/drawing/2014/main" id="{59BF2684-57FB-4A1A-8425-5ED8946B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04  Device verification</a:t>
            </a:r>
          </a:p>
        </p:txBody>
      </p:sp>
      <p:sp>
        <p:nvSpPr>
          <p:cNvPr id="8" name="Section description 3">
            <a:extLst xmlns:a="http://schemas.openxmlformats.org/drawingml/2006/main">
              <a:ext uri="{FF2B5EF4-FFF2-40B4-BE49-F238E27FC236}">
                <a16:creationId xmlns:a16="http://schemas.microsoft.com/office/drawing/2014/main" id="{781CC7B0-3380-4AD0-9231-F739DB4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76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Maestro checks on iOS and Android. Recorded results and failures.</a:t>
            </a:r>
          </a:p>
        </p:txBody>
      </p:sp>
      <p:sp>
        <p:nvSpPr>
          <p:cNvPr id="9" name="Completed section 4">
            <a:extLst xmlns:a="http://schemas.openxmlformats.org/drawingml/2006/main">
              <a:ext uri="{FF2B5EF4-FFF2-40B4-BE49-F238E27FC236}">
                <a16:creationId xmlns:a16="http://schemas.microsoft.com/office/drawing/2014/main" id="{BFB78E73-EEA8-4412-8C88-4AADBBD1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38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05  AI reviewers</a:t>
            </a:r>
          </a:p>
        </p:txBody>
      </p:sp>
      <p:sp>
        <p:nvSpPr>
          <p:cNvPr id="10" name="Section description 4">
            <a:extLst xmlns:a="http://schemas.openxmlformats.org/drawingml/2006/main">
              <a:ext uri="{FF2B5EF4-FFF2-40B4-BE49-F238E27FC236}">
                <a16:creationId xmlns:a16="http://schemas.microsoft.com/office/drawing/2014/main" id="{DDD498ED-3909-4A7F-ADEB-8BD3BADA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38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Three reviewers on every PR. Shared mobile guidelines.</a:t>
            </a:r>
          </a:p>
        </p:txBody>
      </p:sp>
      <p:sp>
        <p:nvSpPr>
          <p:cNvPr id="11" name="Active section">
            <a:extLst xmlns:a="http://schemas.openxmlformats.org/drawingml/2006/main">
              <a:ext uri="{FF2B5EF4-FFF2-40B4-BE49-F238E27FC236}">
                <a16:creationId xmlns:a16="http://schemas.microsoft.com/office/drawing/2014/main" id="{5C43B4E4-9677-492C-84C9-C4CE706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00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pPr>
            <a:r>
              <a: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rPr>
              <a:t>06  Sentry</a:t>
            </a:r>
          </a:p>
        </p:txBody>
      </p:sp>
      <p:sp>
        <p:nvSpPr>
          <p:cNvPr id="12" name="Section description 5">
            <a:extLst xmlns:a="http://schemas.openxmlformats.org/drawingml/2006/main">
              <a:ext uri="{FF2B5EF4-FFF2-40B4-BE49-F238E27FC236}">
                <a16:creationId xmlns:a16="http://schemas.microsoft.com/office/drawing/2014/main" id="{FDF85077-CD34-44B8-A571-56A4569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00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Turn production issues into the next regression check.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173C2-31EE-4D45-93B4-88F5521294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13f34cc8d4b08"/>
          <a:stretch xmlns:a="http://schemas.openxmlformats.org/drawingml/2006/main"/>
        </p:blipFill>
        <p:spPr>
          <a:xfrm xmlns:a="http://schemas.openxmlformats.org/drawingml/2006/main">
            <a:off x="1333500" y="5172075"/>
            <a:ext cx="9334500" cy="1143000"/>
          </a:xfrm>
          <a:prstGeom xmlns:a="http://schemas.openxmlformats.org/drawingml/2006/main" prst="rect">
            <a:avLst/>
          </a:prstGeom>
        </p:spPr>
      </p:pic>
      <p:sp>
        <p:nvSpPr>
          <p:cNvPr id="1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E4A5193-9308-4C0D-90F4-DBE5E679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441142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ABC39A7C-CE54-49B1-93FF-EAD6F952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Turn an issue into a regression check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8637592-AA3C-4C32-99D2-87A682C8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3613"/>
            <a:ext cx="790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01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3664089-3294-410B-8F00-86FBFC0F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33613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Investigate a recorded issue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58ACE8C-E415-477D-8757-3DD0ADCE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3213"/>
            <a:ext cx="790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38D6C9-3B29-40C5-A225-E353F7BF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43213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Reproduce the relevant behaviour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73B971-020B-4A7E-87A4-51260E3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52813"/>
            <a:ext cx="790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03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267B91-75F8-4B59-8652-88902ADB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52813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Make a bounded correction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A9A7B42-5FB0-47E4-B3CA-A7DE63A1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62413"/>
            <a:ext cx="790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04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A0B8CE0-363D-4F7A-86F2-0EBEF8C7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62413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Add a regression check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A367C4-787F-40C9-A927-F853D57E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72013"/>
            <a:ext cx="790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05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FDBA1BB-40D7-499E-BA2E-6606538E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72013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7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Return evidence to review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C41BE4-AF3A-4978-BC8C-2A931E8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A resurfacing issue becomes a focused development task.</a:t>
            </a:r>
          </a:p>
        </p:txBody>
      </p:sp>
      <p:sp>
        <p:nvSpPr>
          <p:cNvPr id="1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EC41806-C24A-4E23-8328-45DC0924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616222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FB51A2A-D9EF-4144-A821-E78836CA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Fewer recorded errors, with variation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56FD5F13-4E8B-49EF-A3F7-4B177E3B5AFB}"/>
              </a:ext>
            </a:extLst>
          </p:cNvPr>
          <p:cNvGraphicFramePr/>
          <p:nvPr/>
        </p:nvGraphicFramePr>
        <p:xfrm>
          <a:off xmlns:a="http://schemas.openxmlformats.org/drawingml/2006/main" x="723900" y="2381250"/>
          <a:ext xmlns:a="http://schemas.openxmlformats.org/drawingml/2006/main" cx="107442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9bc9eb01704135"/>
          </a:graphicData>
        </a:graphic>
      </p:graphicFrame>
      <p:sp>
        <p:nvSpPr>
          <p:cNvPr id="3" name="Date label">
            <a:extLst xmlns:a="http://schemas.openxmlformats.org/drawingml/2006/main">
              <a:ext uri="{FF2B5EF4-FFF2-40B4-BE49-F238E27FC236}">
                <a16:creationId xmlns:a16="http://schemas.microsoft.com/office/drawing/2014/main" id="{C2BC3757-E783-4F5A-B4CA-3604B959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435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7 Jul</a:t>
            </a:r>
          </a:p>
        </p:txBody>
      </p:sp>
      <p:sp>
        <p:nvSpPr>
          <p:cNvPr id="4" name="Date label">
            <a:extLst xmlns:a="http://schemas.openxmlformats.org/drawingml/2006/main">
              <a:ext uri="{FF2B5EF4-FFF2-40B4-BE49-F238E27FC236}">
                <a16:creationId xmlns:a16="http://schemas.microsoft.com/office/drawing/2014/main" id="{657AEE3A-5F71-4AA5-AD66-4CAAC96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435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11 Aug</a:t>
            </a:r>
          </a:p>
        </p:txBody>
      </p:sp>
      <p:sp>
        <p:nvSpPr>
          <p:cNvPr id="5" name="Date label">
            <a:extLst xmlns:a="http://schemas.openxmlformats.org/drawingml/2006/main">
              <a:ext uri="{FF2B5EF4-FFF2-40B4-BE49-F238E27FC236}">
                <a16:creationId xmlns:a16="http://schemas.microsoft.com/office/drawing/2014/main" id="{C10A58F7-640E-40F0-8367-0712DE6E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5435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15 Sep</a:t>
            </a:r>
          </a:p>
        </p:txBody>
      </p:sp>
      <p:sp>
        <p:nvSpPr>
          <p:cNvPr id="6" name="Date label">
            <a:extLst xmlns:a="http://schemas.openxmlformats.org/drawingml/2006/main">
              <a:ext uri="{FF2B5EF4-FFF2-40B4-BE49-F238E27FC236}">
                <a16:creationId xmlns:a16="http://schemas.microsoft.com/office/drawing/2014/main" id="{9DC2142F-AACB-4794-89A6-D5BB54DA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5435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21 Oct</a:t>
            </a:r>
          </a:p>
        </p:txBody>
      </p:sp>
      <p:sp>
        <p:nvSpPr>
          <p:cNvPr id="7" name="Methodology">
            <a:extLst xmlns:a="http://schemas.openxmlformats.org/drawingml/2006/main">
              <a:ext uri="{FF2B5EF4-FFF2-40B4-BE49-F238E27FC236}">
                <a16:creationId xmlns:a16="http://schemas.microsoft.com/office/drawing/2014/main" id="{F4B07D23-A945-4814-AD50-F8A76EA2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65% fewer events: 7 Jul to 5 Aug vs 22 Sep to 21 Oct 2026. Both windows are 30 complete days.</a:t>
            </a:r>
          </a:p>
          <a:p xmlns:a="http://schemas.openxmlformats.org/drawingml/2006/main">
            <a:pPr algn="l">
              <a:def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6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All environments. Fixes, filters and sampling affect counts. No usage denominator.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064118D-F8BD-4FB3-A140-523089FA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20181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7E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mpleted section 0">
            <a:extLst xmlns:a="http://schemas.openxmlformats.org/drawingml/2006/main">
              <a:ext uri="{FF2B5EF4-FFF2-40B4-BE49-F238E27FC236}">
                <a16:creationId xmlns:a16="http://schemas.microsoft.com/office/drawing/2014/main" id="{BDE1F5ED-8080-4D52-925B-D936723C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0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01  Skills</a:t>
            </a:r>
          </a:p>
        </p:txBody>
      </p:sp>
      <p:sp>
        <p:nvSpPr>
          <p:cNvPr id="2" name="Section description 0">
            <a:extLst xmlns:a="http://schemas.openxmlformats.org/drawingml/2006/main">
              <a:ext uri="{FF2B5EF4-FFF2-40B4-BE49-F238E27FC236}">
                <a16:creationId xmlns:a16="http://schemas.microsoft.com/office/drawing/2014/main" id="{205870DC-D2BA-4570-B8B5-4C0EE33F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good engineering habits repeatable.</a:t>
            </a:r>
          </a:p>
        </p:txBody>
      </p:sp>
      <p:sp>
        <p:nvSpPr>
          <p:cNvPr id="3" name="Completed section 1">
            <a:extLst xmlns:a="http://schemas.openxmlformats.org/drawingml/2006/main">
              <a:ext uri="{FF2B5EF4-FFF2-40B4-BE49-F238E27FC236}">
                <a16:creationId xmlns:a16="http://schemas.microsoft.com/office/drawing/2014/main" id="{B634FAC0-6CA2-4ABA-9658-BCFDA77F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02  Testing</a:t>
            </a:r>
          </a:p>
        </p:txBody>
      </p:sp>
      <p:sp>
        <p:nvSpPr>
          <p:cNvPr id="4" name="Section description 1">
            <a:extLst xmlns:a="http://schemas.openxmlformats.org/drawingml/2006/main">
              <a:ext uri="{FF2B5EF4-FFF2-40B4-BE49-F238E27FC236}">
                <a16:creationId xmlns:a16="http://schemas.microsoft.com/office/drawing/2014/main" id="{8DC877EE-827D-4BA1-93EB-F5D430EA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Make each check protect real behaviour.</a:t>
            </a:r>
          </a:p>
        </p:txBody>
      </p:sp>
      <p:sp>
        <p:nvSpPr>
          <p:cNvPr id="5" name="Completed section 2">
            <a:extLst xmlns:a="http://schemas.openxmlformats.org/drawingml/2006/main">
              <a:ext uri="{FF2B5EF4-FFF2-40B4-BE49-F238E27FC236}">
                <a16:creationId xmlns:a16="http://schemas.microsoft.com/office/drawing/2014/main" id="{88503F9F-1604-4BF9-912D-BA52D496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03  CI</a:t>
            </a:r>
          </a:p>
        </p:txBody>
      </p:sp>
      <p:sp>
        <p:nvSpPr>
          <p:cNvPr id="6" name="Section description 2">
            <a:extLst xmlns:a="http://schemas.openxmlformats.org/drawingml/2006/main">
              <a:ext uri="{FF2B5EF4-FFF2-40B4-BE49-F238E27FC236}">
                <a16:creationId xmlns:a16="http://schemas.microsoft.com/office/drawing/2014/main" id="{40124EDB-4D37-458F-9D49-AC12F7F4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14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Check every PR. Block the pipeline on failure.</a:t>
            </a:r>
          </a:p>
        </p:txBody>
      </p:sp>
      <p:sp>
        <p:nvSpPr>
          <p:cNvPr id="7" name="Completed section 3">
            <a:extLst xmlns:a="http://schemas.openxmlformats.org/drawingml/2006/main">
              <a:ext uri="{FF2B5EF4-FFF2-40B4-BE49-F238E27FC236}">
                <a16:creationId xmlns:a16="http://schemas.microsoft.com/office/drawing/2014/main" id="{577B7E5F-1DD3-484C-9ACA-630F098D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04  Device verification</a:t>
            </a:r>
          </a:p>
        </p:txBody>
      </p:sp>
      <p:sp>
        <p:nvSpPr>
          <p:cNvPr id="8" name="Section description 3">
            <a:extLst xmlns:a="http://schemas.openxmlformats.org/drawingml/2006/main">
              <a:ext uri="{FF2B5EF4-FFF2-40B4-BE49-F238E27FC236}">
                <a16:creationId xmlns:a16="http://schemas.microsoft.com/office/drawing/2014/main" id="{98463DA7-907D-4C9C-B8F5-934C17BA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76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Maestro checks on iOS and Android. Recorded results and failures.</a:t>
            </a:r>
          </a:p>
        </p:txBody>
      </p:sp>
      <p:sp>
        <p:nvSpPr>
          <p:cNvPr id="9" name="Completed section 4">
            <a:extLst xmlns:a="http://schemas.openxmlformats.org/drawingml/2006/main">
              <a:ext uri="{FF2B5EF4-FFF2-40B4-BE49-F238E27FC236}">
                <a16:creationId xmlns:a16="http://schemas.microsoft.com/office/drawing/2014/main" id="{66A441FA-529C-4ED8-91A9-DB348DF0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38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05  AI reviewers</a:t>
            </a:r>
          </a:p>
        </p:txBody>
      </p:sp>
      <p:sp>
        <p:nvSpPr>
          <p:cNvPr id="10" name="Section description 4">
            <a:extLst xmlns:a="http://schemas.openxmlformats.org/drawingml/2006/main">
              <a:ext uri="{FF2B5EF4-FFF2-40B4-BE49-F238E27FC236}">
                <a16:creationId xmlns:a16="http://schemas.microsoft.com/office/drawing/2014/main" id="{6FCCDAF5-A8D4-44DA-94BC-403E6E3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38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Three reviewers on every PR. Shared mobile guidelines.</a:t>
            </a:r>
          </a:p>
        </p:txBody>
      </p:sp>
      <p:sp>
        <p:nvSpPr>
          <p:cNvPr id="11" name="Completed section 5">
            <a:extLst xmlns:a="http://schemas.openxmlformats.org/drawingml/2006/main">
              <a:ext uri="{FF2B5EF4-FFF2-40B4-BE49-F238E27FC236}">
                <a16:creationId xmlns:a16="http://schemas.microsoft.com/office/drawing/2014/main" id="{6ACDEEBD-2890-43E4-AC8C-51EA682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00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defRPr>
            </a:pPr>
            <a:r>
              <a:rPr sz="2550" b="0">
                <a:solidFill>
                  <a:srgbClr val="536582"/>
                </a:solidFill>
                <a:latin typeface="Newsreader"/>
                <a:ea typeface="Newsreader"/>
                <a:cs typeface="Newsreader"/>
              </a:rPr>
              <a:t>06  Sentry</a:t>
            </a:r>
          </a:p>
        </p:txBody>
      </p:sp>
      <p:sp>
        <p:nvSpPr>
          <p:cNvPr id="12" name="Section description 5">
            <a:extLst xmlns:a="http://schemas.openxmlformats.org/drawingml/2006/main">
              <a:ext uri="{FF2B5EF4-FFF2-40B4-BE49-F238E27FC236}">
                <a16:creationId xmlns:a16="http://schemas.microsoft.com/office/drawing/2014/main" id="{286C8F86-F0F9-49E8-B537-A8949615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00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Turn production issues into the next regression check.</a:t>
            </a:r>
          </a:p>
        </p:txBody>
      </p:sp>
      <p:sp>
        <p:nvSpPr>
          <p:cNvPr id="13" name="Active section">
            <a:extLst xmlns:a="http://schemas.openxmlformats.org/drawingml/2006/main">
              <a:ext uri="{FF2B5EF4-FFF2-40B4-BE49-F238E27FC236}">
                <a16:creationId xmlns:a16="http://schemas.microsoft.com/office/drawing/2014/main" id="{9BD23375-98CB-4D9F-9C9C-27F73F4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625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pPr>
            <a:r>
              <a:rPr sz="2550" b="1">
                <a:solidFill>
                  <a:srgbClr val="17243B"/>
                </a:solidFill>
                <a:latin typeface="Newsreader"/>
                <a:ea typeface="Newsreader"/>
                <a:cs typeface="Newsreader"/>
              </a:rPr>
              <a:t>07  Delivery</a:t>
            </a:r>
          </a:p>
        </p:txBody>
      </p:sp>
      <p:sp>
        <p:nvSpPr>
          <p:cNvPr id="14" name="Section description 6">
            <a:extLst xmlns:a="http://schemas.openxmlformats.org/drawingml/2006/main">
              <a:ext uri="{FF2B5EF4-FFF2-40B4-BE49-F238E27FC236}">
                <a16:creationId xmlns:a16="http://schemas.microsoft.com/office/drawing/2014/main" id="{C82298A9-0E06-4412-8AE1-78C9943A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62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Ship small changes. Activate features separately.</a:t>
            </a:r>
          </a:p>
        </p:txBody>
      </p:sp>
      <p:sp>
        <p:nvSpPr>
          <p:cNvPr id="1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C4CBED3-C9CB-4258-9A6E-418A6BB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193484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D429AA0-A185-4174-ADF5-C73B0100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Canary builds and nightly betas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D63C715-7A5F-447E-9B7E-E683A13C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TestFlight for iOS. Test builds for Android.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B313A2C-6493-4BA8-94A2-A31825EE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698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After each merge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203C9F-B762-48F8-890A-05FFD5E6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6698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A canary build to try the change.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B2B3CE0-5381-4B1E-A0F2-779431DB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138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Every night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2E2E8F-2C9B-4DED-BDF4-D500AAB4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138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An automated beta build for testing.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B39014-501D-44B0-92FD-8204B765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578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Side by side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806755-18B4-497F-9B7B-1882BDD2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9578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Install canary beside the normal app. Compare before and after.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E5FCD7C-F9FB-4D93-9648-BA82A9C2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018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Clear test instructions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B2F189-DD94-4751-8A69-99A08E3B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1018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Generated TestFlight notes explain what changed and what to test.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C6E385B-3F9F-4C95-92E1-FA8D9BD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5397366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08B58F39-4982-48A9-8199-D8E63988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Release the code. Approve the flag.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24D13F5-5E0A-4E44-8F96-80863875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Small changes ship behind feature flags.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41B241D-4DFE-40F1-B308-33D4AB53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65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Small increments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8CD3A98-981D-4494-8B1D-B46ACC97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765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Keep unfinished features hidden behind a flag.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69D9A0-ABF3-420B-A127-7F8174E0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14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Seamless releases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71B835-81D6-41D2-9925-5658CC38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14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Release verified code without the feature sign-off queue.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5BF2F5-6ECF-4A2F-8111-2315D2CD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6338"/>
            <a:ext cx="320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Focused approval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5FFCDA-8197-4F72-87F3-7851C3C9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86338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Approve activating the feature when it is ready.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18D95B8-4AE0-418C-9AFC-4207E4E0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409103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AF62102-4F81-4AD4-B16B-8D3778D7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The development rhythm changed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4BAEA88-50E1-464E-9C47-74562A27095B}"/>
              </a:ext>
            </a:extLst>
          </p:cNvPr>
          <p:cNvGraphicFramePr/>
          <p:nvPr/>
        </p:nvGraphicFramePr>
        <p:xfrm>
          <a:off xmlns:a="http://schemas.openxmlformats.org/drawingml/2006/main" x="723900" y="2381250"/>
          <a:ext xmlns:a="http://schemas.openxmlformats.org/drawingml/2006/main" cx="10744200" cy="3181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442e33dfd94a3a"/>
          </a:graphicData>
        </a:graphic>
      </p:graphicFrame>
      <p:sp>
        <p:nvSpPr>
          <p:cNvPr id="3" name="April month marker">
            <a:extLst xmlns:a="http://schemas.openxmlformats.org/drawingml/2006/main">
              <a:ext uri="{FF2B5EF4-FFF2-40B4-BE49-F238E27FC236}">
                <a16:creationId xmlns:a16="http://schemas.microsoft.com/office/drawing/2014/main" id="{18AD11EC-8B2F-40DE-A832-10189B7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81250"/>
            <a:ext cx="0" cy="2800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5F65"/>
            </a:solidFill>
            <a:prstDash val="dash"/>
          </a:ln>
        </p:spPr>
      </p:sp>
      <p:sp>
        <p:nvSpPr>
          <p:cNvPr id="4" name="April joining context">
            <a:extLst xmlns:a="http://schemas.openxmlformats.org/drawingml/2006/main">
              <a:ext uri="{FF2B5EF4-FFF2-40B4-BE49-F238E27FC236}">
                <a16:creationId xmlns:a16="http://schemas.microsoft.com/office/drawing/2014/main" id="{0710F0D6-2640-4FDA-A51B-C21C7BAB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Joined in April 2026</a:t>
            </a:r>
          </a:p>
        </p:txBody>
      </p:sp>
      <p:sp>
        <p:nvSpPr>
          <p:cNvPr id="5" name="Methodology">
            <a:extLst xmlns:a="http://schemas.openxmlformats.org/drawingml/2006/main">
              <a:ext uri="{FF2B5EF4-FFF2-40B4-BE49-F238E27FC236}">
                <a16:creationId xmlns:a16="http://schemas.microsoft.com/office/drawing/2014/main" id="{CA9619B7-BE99-4D8D-BEAD-DD4D1BBC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App and design-system PRs. October* covers 1 to 8 October only. Activity, not productivity.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C99CF3C-A785-4EB3-95C1-2CB09B39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60069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E7E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254CE40F-A77A-4141-99C6-53DEFD96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defRPr>
            </a:pPr>
            <a:r>
              <a:rPr sz="4050" b="0">
                <a:solidFill>
                  <a:srgbClr val="17243B"/>
                </a:solidFill>
                <a:latin typeface="Newsreader"/>
                <a:ea typeface="Newsreader"/>
                <a:cs typeface="Newsreader"/>
              </a:rPr>
              <a:t>There’s another talk in what we left out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3A288E4-68F4-4E73-8D51-3782179A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A few months of change across the team, codebase and business.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57004F9-E902-4494-A5B1-7230410B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4588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rPr>
              <a:t>Design system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7413326-F20B-4610-A79A-57C79215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4588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rPr>
              <a:t>A shared UI language and a consistent quality bar.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FF657C-89B9-45E9-AA8F-9FF2794A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2288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rPr>
              <a:t>Monorepo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82AF77-B52B-4794-BDAE-CD91FB3F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62288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rPr>
              <a:t>Shared code and coordinated changes.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E14D99-09EC-4D2D-B188-ECE03AD4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9988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rPr>
              <a:t>Ways of working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8CAD69-6B19-49D5-937D-BF796D4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09988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rPr>
              <a:t>Clearer ownership and everyday engineering habits.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4ED8CBD-933B-4212-BC91-EC559D4A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7688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rPr>
              <a:t>Product engineering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B71D7F-194E-4759-9E01-DA39C93C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57688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rPr>
              <a:t>Broader ownership, from product decisions to delivery.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9BF26EC-6671-4058-96F0-2204C78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5388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rPr>
              <a:t>AI development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94DAA6-6059-4137-AA2F-353B7402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05388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rPr>
              <a:t>Adoption across planning, code, review and verification.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092097E-0FEA-4D98-840E-F130F7F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3088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1">
                <a:solidFill>
                  <a:srgbClr val="385782"/>
                </a:solidFill>
                <a:latin typeface="Satoshi Variable"/>
                <a:ea typeface="Satoshi Variable"/>
                <a:cs typeface="Satoshi Variable"/>
              </a:rPr>
              <a:t>An AI harness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1E64DBC-7CE6-4AEE-9CC8-9E416D3F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53088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100" b="0">
                <a:solidFill>
                  <a:srgbClr val="17243B"/>
                </a:solidFill>
                <a:latin typeface="Satoshi Variable"/>
                <a:ea typeface="Satoshi Variable"/>
                <a:cs typeface="Satoshi Variable"/>
              </a:rPr>
              <a:t>Context, skills, tools and checks around the agents.</a:t>
            </a:r>
          </a:p>
        </p:txBody>
      </p:sp>
      <p:sp>
        <p:nvSpPr>
          <p:cNvPr id="1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22752FB-7E7D-440D-B273-94C4A7B1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36582"/>
                </a:solidFill>
                <a:latin typeface="Satoshi Variable"/>
                <a:ea typeface="Satoshi Variable"/>
                <a:cs typeface="Satoshi Variable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561233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0963D855-9D69-4592-8355-2DBAFC83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50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What I’d take into another team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A5C0988-CE7A-4FB0-847F-BB0D1059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073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Find the bottleneck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30846F-3133-4402-8A95-26222F3A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073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Start where repeated work slows delivery.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3A87F39-866C-4C3C-82DA-E3B74A28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513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Write down the bar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3EA553-086C-4C25-BD14-8ED113C9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513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Make quality expectations clear to people and AI.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3EB049-F5E5-4DF8-86F7-E91A4BA2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953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Close the feedback loop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147151-0EE2-4956-87E8-60FF5512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1953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Connect checks, evidence and fixes.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387E3C8-99AF-40C8-B84E-B48A08E8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3938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4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Adapt the rollout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B559CDE-769F-4717-8DF5-02008949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3938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325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Choose tools and release rules that fit your team.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3C4A44-82F5-491B-A8DA-9EC736CF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Keep the principles. Adapt the implementation.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41C3E16-7280-48C9-857B-1ECE78BD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330944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9D629792-2F5F-4E18-BF73-58E5F1EC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defPPr>
            <a:lvl1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1pPr>
            <a:lvl2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2pPr>
            <a:lvl3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3pPr>
            <a:lvl4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4pPr>
            <a:lvl5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5pPr>
            <a:lvl6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6pPr>
            <a:lvl7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7pPr>
            <a:lvl8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8pPr>
            <a:lvl9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defRPr>
            </a:pPr>
            <a:r>
              <a:rPr sz="4050" b="0">
                <a:solidFill>
                  <a:srgbClr val="15181B"/>
                </a:solidFill>
                <a:latin typeface="Newsreader"/>
                <a:ea typeface="Newsreader"/>
                <a:cs typeface="Newsreader"/>
              </a:rPr>
              <a:t>Confidence in AI-assisted development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F6D61F-49DB-46D8-A6AF-BECEB6F1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2250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Seven practices for mobile development. One continuous loop.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AFED1FA-9396-465B-9FA1-67A1A3FF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Skills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FA429D4-228F-4A5C-8040-5D38EC14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860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Repeat good engineering habits.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6AEC6BB-2266-4D3C-BE62-133AB5CD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Testing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9BFE89-98A6-4058-A245-8E1110C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622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Protect behaviour with regression checks.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9CCC41-7664-4FB8-914D-1B0859CB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CI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83DC9D-B529-4631-9FB1-9175D74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385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Check every PR. Block failures until fixed.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B3896B-5AD6-40A8-A2C1-EDCC2077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Device verification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8FB82D-9726-4E13-AB5D-90B33813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147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Maestro smoke and nightly checks. Video evidence.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605EF5-CC9C-47E6-B016-A1433DEE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AI reviewers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FFDCF9C-667E-4725-870E-C705D12B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910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Mobile guidelines. Evaluate feedback. Fix valid issues.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04E37D-7275-4EBB-AC50-AC52FB29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Sentry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4ED3637-8BBE-47C2-811A-E66FF93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672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Turn production issues into regression checks.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0B55755-BDD6-4DE1-A68F-67F09E2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1">
                <a:solidFill>
                  <a:srgbClr val="00786F"/>
                </a:solidFill>
                <a:latin typeface="Satoshi Variable"/>
                <a:ea typeface="Satoshi Variable"/>
                <a:cs typeface="Satoshi Variable"/>
              </a:rPr>
              <a:t>Delivery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AB7A88D-6E5B-488E-A24E-8084AE7C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435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800" b="0">
                <a:solidFill>
                  <a:srgbClr val="15181B"/>
                </a:solidFill>
                <a:latin typeface="Satoshi Variable"/>
                <a:ea typeface="Satoshi Variable"/>
                <a:cs typeface="Satoshi Variable"/>
              </a:rPr>
              <a:t>Canary on merge. Nightly beta. Feature flags.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29A35-E6F1-4772-A4F1-BB7788187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4878035314602"/>
          <a:stretch xmlns:a="http://schemas.openxmlformats.org/drawingml/2006/main"/>
        </p:blipFill>
        <p:spPr>
          <a:xfrm xmlns:a="http://schemas.openxmlformats.org/drawingml/2006/main">
            <a:off x="9525000" y="3095625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18" name="Share page">
            <a:extLst xmlns:a="http://schemas.openxmlformats.org/drawingml/2006/main">
              <a:ext uri="{FF2B5EF4-FFF2-40B4-BE49-F238E27FC236}">
                <a16:creationId xmlns:a16="http://schemas.microsoft.com/office/drawing/2014/main" id="{75C61158-A4F8-4B1C-AF04-85DCD568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24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57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MrAdib.com/@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099E27C-8936-4562-A7A5-4E58B00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Less repetitive QA. More confidence. Faster delivery.</a:t>
            </a:r>
          </a:p>
          <a:p xmlns:a="http://schemas.openxmlformats.org/drawingml/2006/main">
            <a:pPr algn="l">
              <a:def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7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John Adib · MrAdib.com</a:t>
            </a:r>
          </a:p>
        </p:txBody>
      </p:sp>
      <p:sp>
        <p:nvSpPr>
          <p:cNvPr id="2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9936D9D-692A-41DB-949D-4451746E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defPPr>
            <a:lvl1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1pPr>
            <a:lvl2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2pPr>
            <a:lvl3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3pPr>
            <a:lvl4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4pPr>
            <a:lvl5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5pPr>
            <a:lvl6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6pPr>
            <a:lvl7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7pPr>
            <a:lvl8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8pPr>
            <a:lvl9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defRPr>
            </a:pPr>
            <a:r>
              <a:rPr sz="1425" b="0">
                <a:solidFill>
                  <a:srgbClr val="565F65"/>
                </a:solidFill>
                <a:latin typeface="Satoshi Variable"/>
                <a:ea typeface="Satoshi Variable"/>
                <a:cs typeface="Satoshi Variable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4248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2026-10-22T11:19:56.8270000Z</dcterms:created>
  <dcterms:modified xsi:type="dcterms:W3CDTF">2026-10-22T11:19:56.8270000Z</dcterms:modified>
</coreProperties>
</file>