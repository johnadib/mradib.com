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f8f2c7ef89431d" /><Relationship Type="http://schemas.openxmlformats.org/officeDocument/2006/relationships/extended-properties" Target="/docProps/app.xml" Id="R98cb3770a7444d0b" /><Relationship Type="http://schemas.openxmlformats.org/officeDocument/2006/relationships/officeDocument" Target="/ppt/presentation.xml" Id="Rd3788ed2d53845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bb899abc8e4010"/>
  </p:sldMasterIdLst>
  <p:notesMasterIdLst>
    <p:notesMasterId xmlns:r="http://schemas.openxmlformats.org/officeDocument/2006/relationships" r:id="R227f3259a8384314"/>
  </p:notesMasterIdLst>
  <p:sldIdLst>
    <p:sldId xmlns:r="http://schemas.openxmlformats.org/officeDocument/2006/relationships" id="256" r:id="R816a18b2a8ef420e"/>
    <p:sldId xmlns:r="http://schemas.openxmlformats.org/officeDocument/2006/relationships" id="257" r:id="R4627c973be3641f2"/>
    <p:sldId xmlns:r="http://schemas.openxmlformats.org/officeDocument/2006/relationships" id="258" r:id="Re2697793b52a4f17"/>
    <p:sldId xmlns:r="http://schemas.openxmlformats.org/officeDocument/2006/relationships" id="259" r:id="R2246054b89eb4f1f"/>
    <p:sldId xmlns:r="http://schemas.openxmlformats.org/officeDocument/2006/relationships" id="260" r:id="R14156d25f93243dc"/>
    <p:sldId xmlns:r="http://schemas.openxmlformats.org/officeDocument/2006/relationships" id="261" r:id="R23402588663b4da2"/>
    <p:sldId xmlns:r="http://schemas.openxmlformats.org/officeDocument/2006/relationships" id="262" r:id="R5e4d8f9a05d54aee"/>
    <p:sldId xmlns:r="http://schemas.openxmlformats.org/officeDocument/2006/relationships" id="263" r:id="R4b4c1cea41fb4f87"/>
    <p:sldId xmlns:r="http://schemas.openxmlformats.org/officeDocument/2006/relationships" id="264" r:id="R610a49b97e38457e"/>
    <p:sldId xmlns:r="http://schemas.openxmlformats.org/officeDocument/2006/relationships" id="265" r:id="R38ccbba758594066"/>
    <p:sldId xmlns:r="http://schemas.openxmlformats.org/officeDocument/2006/relationships" id="266" r:id="R75427144e0b34f57"/>
    <p:sldId xmlns:r="http://schemas.openxmlformats.org/officeDocument/2006/relationships" id="267" r:id="R40a72fecc3914e6d"/>
    <p:sldId xmlns:r="http://schemas.openxmlformats.org/officeDocument/2006/relationships" id="268" r:id="R505ccdf6fc1940a9"/>
    <p:sldId xmlns:r="http://schemas.openxmlformats.org/officeDocument/2006/relationships" id="269" r:id="R95c370205b154ced"/>
    <p:sldId xmlns:r="http://schemas.openxmlformats.org/officeDocument/2006/relationships" id="270" r:id="Rc954d9bf3a0346f6"/>
    <p:sldId xmlns:r="http://schemas.openxmlformats.org/officeDocument/2006/relationships" id="271" r:id="R21ecaf65f6264fb5"/>
    <p:sldId xmlns:r="http://schemas.openxmlformats.org/officeDocument/2006/relationships" id="272" r:id="R9ed237b90da74532"/>
    <p:sldId xmlns:r="http://schemas.openxmlformats.org/officeDocument/2006/relationships" id="273" r:id="R48aa6cad3b6e4ee3"/>
    <p:sldId xmlns:r="http://schemas.openxmlformats.org/officeDocument/2006/relationships" id="274" r:id="Rf700d5df1c8e4152"/>
    <p:sldId xmlns:r="http://schemas.openxmlformats.org/officeDocument/2006/relationships" id="275" r:id="Reff11af91d2d4584"/>
    <p:sldId xmlns:r="http://schemas.openxmlformats.org/officeDocument/2006/relationships" id="276" r:id="R701466577b5c4b70"/>
    <p:sldId xmlns:r="http://schemas.openxmlformats.org/officeDocument/2006/relationships" id="277" r:id="Ra12db1a7e5204f9f"/>
    <p:sldId xmlns:r="http://schemas.openxmlformats.org/officeDocument/2006/relationships" id="278" r:id="Rad10435470984e11"/>
    <p:sldId xmlns:r="http://schemas.openxmlformats.org/officeDocument/2006/relationships" id="279" r:id="Rd292dd5ea1224c8f"/>
    <p:sldId xmlns:r="http://schemas.openxmlformats.org/officeDocument/2006/relationships" id="280" r:id="R563784c825074a78"/>
    <p:sldId xmlns:r="http://schemas.openxmlformats.org/officeDocument/2006/relationships" id="281" r:id="R811825cc06384b77"/>
    <p:sldId xmlns:r="http://schemas.openxmlformats.org/officeDocument/2006/relationships" id="282" r:id="R152034ed041d4651"/>
    <p:sldId xmlns:r="http://schemas.openxmlformats.org/officeDocument/2006/relationships" id="283" r:id="Ra3b0d43e62af4d08"/>
    <p:sldId xmlns:r="http://schemas.openxmlformats.org/officeDocument/2006/relationships" id="284" r:id="Rc99208a0598c4bc9"/>
    <p:sldId xmlns:r="http://schemas.openxmlformats.org/officeDocument/2006/relationships" id="285" r:id="R36082f60f7e543d1"/>
    <p:sldId xmlns:r="http://schemas.openxmlformats.org/officeDocument/2006/relationships" id="286" r:id="R2804e27998f14843"/>
    <p:sldId xmlns:r="http://schemas.openxmlformats.org/officeDocument/2006/relationships" id="287" r:id="Rc62c30391c444c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0d2a57525d4a45" /><Relationship Type="http://schemas.openxmlformats.org/officeDocument/2006/relationships/slideMaster" Target="/ppt/slideMasters/slideMaster1.xml" Id="Rf3bb899abc8e4010" /><Relationship Type="http://schemas.openxmlformats.org/officeDocument/2006/relationships/notesMaster" Target="/ppt/notesMasters/notesMaster1.xml" Id="R227f3259a8384314" /><Relationship Type="http://schemas.openxmlformats.org/officeDocument/2006/relationships/presProps" Target="/ppt/presProps.xml" Id="R0aecb1eb40d04851" /><Relationship Type="http://schemas.openxmlformats.org/officeDocument/2006/relationships/tableStyles" Target="/ppt/tableStyles.xml" Id="Re1b6b6bae06c440f" /><Relationship Type="http://schemas.openxmlformats.org/officeDocument/2006/relationships/slide" Target="/ppt/slides/slide1.xml" Id="R816a18b2a8ef420e" /><Relationship Type="http://schemas.openxmlformats.org/officeDocument/2006/relationships/slide" Target="/ppt/slides/slide2.xml" Id="R4627c973be3641f2" /><Relationship Type="http://schemas.openxmlformats.org/officeDocument/2006/relationships/slide" Target="/ppt/slides/slide3.xml" Id="Re2697793b52a4f17" /><Relationship Type="http://schemas.openxmlformats.org/officeDocument/2006/relationships/slide" Target="/ppt/slides/slide4.xml" Id="R2246054b89eb4f1f" /><Relationship Type="http://schemas.openxmlformats.org/officeDocument/2006/relationships/slide" Target="/ppt/slides/slide5.xml" Id="R14156d25f93243dc" /><Relationship Type="http://schemas.openxmlformats.org/officeDocument/2006/relationships/slide" Target="/ppt/slides/slide6.xml" Id="R23402588663b4da2" /><Relationship Type="http://schemas.openxmlformats.org/officeDocument/2006/relationships/slide" Target="/ppt/slides/slide7.xml" Id="R5e4d8f9a05d54aee" /><Relationship Type="http://schemas.openxmlformats.org/officeDocument/2006/relationships/slide" Target="/ppt/slides/slide8.xml" Id="R4b4c1cea41fb4f87" /><Relationship Type="http://schemas.openxmlformats.org/officeDocument/2006/relationships/slide" Target="/ppt/slides/slide9.xml" Id="R610a49b97e38457e" /><Relationship Type="http://schemas.openxmlformats.org/officeDocument/2006/relationships/slide" Target="/ppt/slides/slide10.xml" Id="R38ccbba758594066" /><Relationship Type="http://schemas.openxmlformats.org/officeDocument/2006/relationships/slide" Target="/ppt/slides/slide11.xml" Id="R75427144e0b34f57" /><Relationship Type="http://schemas.openxmlformats.org/officeDocument/2006/relationships/slide" Target="/ppt/slides/slide12.xml" Id="R40a72fecc3914e6d" /><Relationship Type="http://schemas.openxmlformats.org/officeDocument/2006/relationships/slide" Target="/ppt/slides/slide13.xml" Id="R505ccdf6fc1940a9" /><Relationship Type="http://schemas.openxmlformats.org/officeDocument/2006/relationships/slide" Target="/ppt/slides/slide14.xml" Id="R95c370205b154ced" /><Relationship Type="http://schemas.openxmlformats.org/officeDocument/2006/relationships/slide" Target="/ppt/slides/slide15.xml" Id="Rc954d9bf3a0346f6" /><Relationship Type="http://schemas.openxmlformats.org/officeDocument/2006/relationships/slide" Target="/ppt/slides/slide16.xml" Id="R21ecaf65f6264fb5" /><Relationship Type="http://schemas.openxmlformats.org/officeDocument/2006/relationships/slide" Target="/ppt/slides/slide17.xml" Id="R9ed237b90da74532" /><Relationship Type="http://schemas.openxmlformats.org/officeDocument/2006/relationships/slide" Target="/ppt/slides/slide18.xml" Id="R48aa6cad3b6e4ee3" /><Relationship Type="http://schemas.openxmlformats.org/officeDocument/2006/relationships/slide" Target="/ppt/slides/slide19.xml" Id="Rf700d5df1c8e4152" /><Relationship Type="http://schemas.openxmlformats.org/officeDocument/2006/relationships/slide" Target="/ppt/slides/slide20.xml" Id="Reff11af91d2d4584" /><Relationship Type="http://schemas.openxmlformats.org/officeDocument/2006/relationships/slide" Target="/ppt/slides/slide21.xml" Id="R701466577b5c4b70" /><Relationship Type="http://schemas.openxmlformats.org/officeDocument/2006/relationships/slide" Target="/ppt/slides/slide22.xml" Id="Ra12db1a7e5204f9f" /><Relationship Type="http://schemas.openxmlformats.org/officeDocument/2006/relationships/slide" Target="/ppt/slides/slide23.xml" Id="Rad10435470984e11" /><Relationship Type="http://schemas.openxmlformats.org/officeDocument/2006/relationships/slide" Target="/ppt/slides/slide24.xml" Id="Rd292dd5ea1224c8f" /><Relationship Type="http://schemas.openxmlformats.org/officeDocument/2006/relationships/slide" Target="/ppt/slides/slide25.xml" Id="R563784c825074a78" /><Relationship Type="http://schemas.openxmlformats.org/officeDocument/2006/relationships/slide" Target="/ppt/slides/slide26.xml" Id="R811825cc06384b77" /><Relationship Type="http://schemas.openxmlformats.org/officeDocument/2006/relationships/slide" Target="/ppt/slides/slide27.xml" Id="R152034ed041d4651" /><Relationship Type="http://schemas.openxmlformats.org/officeDocument/2006/relationships/slide" Target="/ppt/slides/slide28.xml" Id="Ra3b0d43e62af4d08" /><Relationship Type="http://schemas.openxmlformats.org/officeDocument/2006/relationships/slide" Target="/ppt/slides/slide29.xml" Id="Rc99208a0598c4bc9" /><Relationship Type="http://schemas.openxmlformats.org/officeDocument/2006/relationships/slide" Target="/ppt/slides/slide30.xml" Id="R36082f60f7e543d1" /><Relationship Type="http://schemas.openxmlformats.org/officeDocument/2006/relationships/slide" Target="/ppt/slides/slide31.xml" Id="R2804e27998f14843" /><Relationship Type="http://schemas.openxmlformats.org/officeDocument/2006/relationships/slide" Target="/ppt/slides/slide32.xml" Id="Rc62c30391c444c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2d6e4dc07541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303a9952c64aab" /><Relationship Type="http://schemas.openxmlformats.org/officeDocument/2006/relationships/notesMaster" Target="/ppt/notesMasters/notesMaster1.xml" Id="Rf21326ec22ef49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5b1a8726fe447a" /><Relationship Type="http://schemas.openxmlformats.org/officeDocument/2006/relationships/notesMaster" Target="/ppt/notesMasters/notesMaster1.xml" Id="R5830dfbadf4746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aed158eab1473f" /><Relationship Type="http://schemas.openxmlformats.org/officeDocument/2006/relationships/notesMaster" Target="/ppt/notesMasters/notesMaster1.xml" Id="R06aab5a1cf0042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6c3fed65e447c8" /><Relationship Type="http://schemas.openxmlformats.org/officeDocument/2006/relationships/notesMaster" Target="/ppt/notesMasters/notesMaster1.xml" Id="R53c2476a27af4d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784c925ede4a61" /><Relationship Type="http://schemas.openxmlformats.org/officeDocument/2006/relationships/notesMaster" Target="/ppt/notesMasters/notesMaster1.xml" Id="R25c6097861ad4a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5c560dbd4f94e46" /><Relationship Type="http://schemas.openxmlformats.org/officeDocument/2006/relationships/notesMaster" Target="/ppt/notesMasters/notesMaster1.xml" Id="R1b8e89b92c884d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8856a944efc41c0" /><Relationship Type="http://schemas.openxmlformats.org/officeDocument/2006/relationships/notesMaster" Target="/ppt/notesMasters/notesMaster1.xml" Id="R763e36e7cf3749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d571bc12c84154" /><Relationship Type="http://schemas.openxmlformats.org/officeDocument/2006/relationships/notesMaster" Target="/ppt/notesMasters/notesMaster1.xml" Id="Raa5059e96efc43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e02b68c7374e6e" /><Relationship Type="http://schemas.openxmlformats.org/officeDocument/2006/relationships/notesMaster" Target="/ppt/notesMasters/notesMaster1.xml" Id="R528080bb6c264eb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b43c4a4204442c" /><Relationship Type="http://schemas.openxmlformats.org/officeDocument/2006/relationships/notesMaster" Target="/ppt/notesMasters/notesMaster1.xml" Id="R5dc4d7d82a4041c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a3ac8c508d4476" /><Relationship Type="http://schemas.openxmlformats.org/officeDocument/2006/relationships/notesMaster" Target="/ppt/notesMasters/notesMaster1.xml" Id="Re453a5ff8e4648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2ec06adaa0446c" /><Relationship Type="http://schemas.openxmlformats.org/officeDocument/2006/relationships/notesMaster" Target="/ppt/notesMasters/notesMaster1.xml" Id="R120890738c42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f55998ca28f4110" /><Relationship Type="http://schemas.openxmlformats.org/officeDocument/2006/relationships/notesMaster" Target="/ppt/notesMasters/notesMaster1.xml" Id="Rfe2c251df8bd4b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b3e5709e5374329" /><Relationship Type="http://schemas.openxmlformats.org/officeDocument/2006/relationships/notesMaster" Target="/ppt/notesMasters/notesMaster1.xml" Id="R9869d5a763c8427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0a588e4fd534309" /><Relationship Type="http://schemas.openxmlformats.org/officeDocument/2006/relationships/notesMaster" Target="/ppt/notesMasters/notesMaster1.xml" Id="Ra4da62e9efea430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b1afa51bf54984" /><Relationship Type="http://schemas.openxmlformats.org/officeDocument/2006/relationships/notesMaster" Target="/ppt/notesMasters/notesMaster1.xml" Id="Rd9ae68394f0849c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045e5ce69ee4e6a" /><Relationship Type="http://schemas.openxmlformats.org/officeDocument/2006/relationships/notesMaster" Target="/ppt/notesMasters/notesMaster1.xml" Id="Rf35a62f052dd44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ffdc8a96c0c4bbe" /><Relationship Type="http://schemas.openxmlformats.org/officeDocument/2006/relationships/notesMaster" Target="/ppt/notesMasters/notesMaster1.xml" Id="R80481cb15f0445f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1f57717f8904853" /><Relationship Type="http://schemas.openxmlformats.org/officeDocument/2006/relationships/notesMaster" Target="/ppt/notesMasters/notesMaster1.xml" Id="Rd81a4a56ac2a4fb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e34b849e78048b4" /><Relationship Type="http://schemas.openxmlformats.org/officeDocument/2006/relationships/notesMaster" Target="/ppt/notesMasters/notesMaster1.xml" Id="R6a558b72e44940d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4a273c7c8a74fcd" /><Relationship Type="http://schemas.openxmlformats.org/officeDocument/2006/relationships/notesMaster" Target="/ppt/notesMasters/notesMaster1.xml" Id="R67e5b1ab140943b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b2962ec374e400f" /><Relationship Type="http://schemas.openxmlformats.org/officeDocument/2006/relationships/notesMaster" Target="/ppt/notesMasters/notesMaster1.xml" Id="Rc4ac1aed4ee9489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c33175899294766" /><Relationship Type="http://schemas.openxmlformats.org/officeDocument/2006/relationships/notesMaster" Target="/ppt/notesMasters/notesMaster1.xml" Id="Rc4b28d57e9db4fa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5a26886e0e245b2" /><Relationship Type="http://schemas.openxmlformats.org/officeDocument/2006/relationships/notesMaster" Target="/ppt/notesMasters/notesMaster1.xml" Id="R889aa7dc978a4ff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fcd9dae58cb4ef2" /><Relationship Type="http://schemas.openxmlformats.org/officeDocument/2006/relationships/notesMaster" Target="/ppt/notesMasters/notesMaster1.xml" Id="Rab53d369a16c4b9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cc8f0ef53b84f34" /><Relationship Type="http://schemas.openxmlformats.org/officeDocument/2006/relationships/notesMaster" Target="/ppt/notesMasters/notesMaster1.xml" Id="R757b3923d6c84f7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deec86a1905433b" /><Relationship Type="http://schemas.openxmlformats.org/officeDocument/2006/relationships/notesMaster" Target="/ppt/notesMasters/notesMaster1.xml" Id="R19cf1fb28f14423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b3bc1f178d44ce0" /><Relationship Type="http://schemas.openxmlformats.org/officeDocument/2006/relationships/notesMaster" Target="/ppt/notesMasters/notesMaster1.xml" Id="R72cb81f60f20480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9568b3ef6af4330" /><Relationship Type="http://schemas.openxmlformats.org/officeDocument/2006/relationships/notesMaster" Target="/ppt/notesMasters/notesMaster1.xml" Id="R84a7e1716f3d43a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98c580b415c433a" /><Relationship Type="http://schemas.openxmlformats.org/officeDocument/2006/relationships/notesMaster" Target="/ppt/notesMasters/notesMaster1.xml" Id="R3a9d516fb453425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d208977c76d44f9" /><Relationship Type="http://schemas.openxmlformats.org/officeDocument/2006/relationships/notesMaster" Target="/ppt/notesMasters/notesMaster1.xml" Id="R326256496f884df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0430f295db6469c" /><Relationship Type="http://schemas.openxmlformats.org/officeDocument/2006/relationships/notesMaster" Target="/ppt/notesMasters/notesMaster1.xml" Id="R51b1dcf731284e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 finished. Confidence missing.</a:t>
            </a:r>
          </a:p>
          <a:p xmlns:a="http://schemas.openxmlformats.org/drawingml/2006/main">
            <a:r>
              <a:t>• React Native + AI adoption</a:t>
            </a:r>
          </a:p>
          <a:p xmlns:a="http://schemas.openxmlformats.org/drawingml/2006/main">
            <a:r>
              <a:t>• Verification inside everyday development</a:t>
            </a:r>
          </a:p>
          <a:p xmlns:a="http://schemas.openxmlformats.org/drawingml/2006/main">
            <a:r>
              <a:t>• John Adib · MrAdib.com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</a:t>
            </a:r>
          </a:p>
          <a:p xmlns:a="http://schemas.openxmlformats.org/drawingml/2006/main">
            <a:r>
              <a:t>• Previously checked behaviour breaks again</a:t>
            </a:r>
          </a:p>
          <a:p xmlns:a="http://schemas.openxmlformats.org/drawingml/2006/main">
            <a:r>
              <a:t>• Repeated work. Falling confidence.</a:t>
            </a:r>
          </a:p>
          <a:p xmlns:a="http://schemas.openxmlformats.org/drawingml/2006/main">
            <a:r>
              <a:t>• First-hand experience, not an incident-rate 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Small unit-test suite</a:t>
            </a:r>
          </a:p>
          <a:p xmlns:a="http://schemas.openxmlformats.org/drawingml/2006/main">
            <a:r>
              <a:t>• End-to-end checks outside CI</a:t>
            </a:r>
          </a:p>
          <a:p xmlns:a="http://schemas.openxmlformats.org/drawingml/2006/main">
            <a:r>
              <a:t>• Nobody ran them</a:t>
            </a:r>
          </a:p>
          <a:p xmlns:a="http://schemas.openxmlformats.org/drawingml/2006/main">
            <a:r>
              <a:t>• Files existed. Reliable feedback did not.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More than three days of app QA</a:t>
            </a:r>
          </a:p>
          <a:p xmlns:a="http://schemas.openxmlformats.org/drawingml/2006/main">
            <a:r>
              <a:t>• Engineering, product, UX/design</a:t>
            </a:r>
          </a:p>
          <a:p xmlns:a="http://schemas.openxmlformats.org/drawingml/2006/main">
            <a:r>
              <a:t>• Many people pause their own work</a:t>
            </a:r>
          </a:p>
          <a:p xmlns:a="http://schemas.openxmlformats.org/drawingml/2006/main">
            <a:r>
              <a:t>• The cost: interrupted progress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Days waiting for approval</a:t>
            </a:r>
          </a:p>
          <a:p xmlns:a="http://schemas.openxmlformats.org/drawingml/2006/main">
            <a:r>
              <a:t>• Sign-off chain holds the whole release</a:t>
            </a:r>
          </a:p>
          <a:p xmlns:a="http://schemas.openxmlformats.org/drawingml/2006/main">
            <a:r>
              <a:t>• One feature delays other work</a:t>
            </a:r>
          </a:p>
          <a:p xmlns:a="http://schemas.openxmlformats.org/drawingml/2006/main">
            <a:r>
              <a:t>• Later: approve the feature flag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Existing projects delayed over a quarter</a:t>
            </a:r>
          </a:p>
          <a:p xmlns:a="http://schemas.openxmlformats.org/drawingml/2006/main">
            <a:r>
              <a:t>• Regression work + slow QA + release queues</a:t>
            </a:r>
          </a:p>
          <a:p xmlns:a="http://schemas.openxmlformats.org/drawingml/2006/main">
            <a:r>
              <a:t>• Backlog uncertainty</a:t>
            </a:r>
          </a:p>
          <a:p xmlns:a="http://schemas.openxmlformats.org/drawingml/2006/main">
            <a:r>
              <a:t>• Process problem, not individual blame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John Adib · London</a:t>
            </a:r>
          </a:p>
          <a:p xmlns:a="http://schemas.openxmlformats.org/drawingml/2006/main">
            <a:r>
              <a:t>• 2× co-founder. Former CTO. 18 years.</a:t>
            </a:r>
          </a:p>
          <a:p xmlns:a="http://schemas.openxmlformats.org/drawingml/2006/main">
            <a:r>
              <a:t>• Engineering leader + mentor</a:t>
            </a:r>
          </a:p>
          <a:p xmlns:a="http://schemas.openxmlformats.org/drawingml/2006/main">
            <a:r>
              <a:t>• Product engineering. Broader ownership.</a:t>
            </a:r>
          </a:p>
          <a:p xmlns:a="http://schemas.openxmlformats.org/drawingml/2006/main">
            <a:r>
              <a:t>• I love moving mountains.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Repeat the good engineering habits</a:t>
            </a:r>
          </a:p>
          <a:p xmlns:a="http://schemas.openxmlformats.org/drawingml/2006/main">
            <a:r>
              <a:t>• AI adoption includes verification</a:t>
            </a:r>
          </a:p>
          <a:p xmlns:a="http://schemas.openxmlformats.org/drawingml/2006/main">
            <a:r>
              <a:t>• Seven changes, one development loop</a:t>
            </a:r>
          </a:p>
          <a:p xmlns:a="http://schemas.openxmlformats.org/drawingml/2006/main">
            <a:r>
              <a:t>• First: reusable 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cook: coordinate; sherlock: discover</a:t>
            </a:r>
          </a:p>
          <a:p xmlns:a="http://schemas.openxmlformats.org/drawingml/2006/main">
            <a:r>
              <a:t>• dig: research; mastermind: plan</a:t>
            </a:r>
          </a:p>
          <a:p xmlns:a="http://schemas.openxmlformats.org/drawingml/2006/main">
            <a:r>
              <a:t>• michelin: implement; mugshot: capture</a:t>
            </a:r>
          </a:p>
          <a:p xmlns:a="http://schemas.openxmlformats.org/drawingml/2006/main">
            <a:r>
              <a:t>• parole: evaluate feedback; saul: communicate</a:t>
            </a:r>
          </a:p>
          <a:p xmlns:a="http://schemas.openxmlformats.org/drawingml/2006/main">
            <a:r>
              <a:t>• One workflow. Focus next on Michelin.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18 years of engineering judgement, written down</a:t>
            </a:r>
          </a:p>
          <a:p xmlns:a="http://schemas.openxmlformats.org/drawingml/2006/main">
            <a:r>
              <a:t>• Reuse: code, components, patterns, tools</a:t>
            </a:r>
          </a:p>
          <a:p xmlns:a="http://schemas.openxmlformats.org/drawingml/2006/main">
            <a:r>
              <a:t>• Separation: UI, state, business decisions</a:t>
            </a:r>
          </a:p>
          <a:p xmlns:a="http://schemas.openxmlformats.org/drawingml/2006/main">
            <a:r>
              <a:t>• Quality: tests, readability, actual check results</a:t>
            </a:r>
          </a:p>
          <a:p xmlns:a="http://schemas.openxmlformats.org/drawingml/2006/main">
            <a:r>
              <a:t>• Shared standards for implementation and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meaningful tests</a:t>
            </a:r>
          </a:p>
          <a:p xmlns:a="http://schemas.openxmlformats.org/drawingml/2006/main">
            <a:r>
              <a:t>• Expected behaviour + failure case</a:t>
            </a:r>
          </a:p>
          <a:p xmlns:a="http://schemas.openxmlformats.org/drawingml/2006/main">
            <a:r>
              <a:t>• Every correction leaves protection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Before editing: read the testing guidelines</a:t>
            </a:r>
          </a:p>
          <a:p xmlns:a="http://schemas.openxmlformats.org/drawingml/2006/main">
            <a:r>
              <a:t>• New code must include meaningful tests</a:t>
            </a:r>
          </a:p>
          <a:p xmlns:a="http://schemas.openxmlformats.org/drawingml/2006/main">
            <a:r>
              <a:t>• Bug fix: reproduce failure, prove the fix, preserve working behaviour</a:t>
            </a:r>
          </a:p>
          <a:p xmlns:a="http://schemas.openxmlformats.org/drawingml/2006/main">
            <a:r>
              <a:t>• Human-readable test titles help people and AI understand intent</a:t>
            </a:r>
          </a:p>
          <a:p xmlns:a="http://schemas.openxmlformats.org/drawingml/2006/main">
            <a:r>
              <a:t>• Never lower the bar. Raise it gradually.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April: 113 files. September: 1,669 files.</a:t>
            </a:r>
          </a:p>
          <a:p xmlns:a="http://schemas.openxmlformats.org/drawingml/2006/main">
            <a:r>
              <a:t>• Dashed line: joined in April</a:t>
            </a:r>
          </a:p>
          <a:p xmlns:a="http://schemas.openxmlformats.org/drawingml/2006/main">
            <a:r>
              <a:t>• More protection added as the product evolves</a:t>
            </a:r>
          </a:p>
          <a:p xmlns:a="http://schemas.openxmlformats.org/drawingml/2006/main">
            <a:r>
              <a:t>• Same application across a repository move</a:t>
            </a:r>
          </a:p>
          <a:p xmlns:a="http://schemas.openxmlformats.org/drawingml/2006/main">
            <a:r>
              <a:t>• Files can contain many tests. Coverage is a separate measure.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CI on every PR</a:t>
            </a:r>
          </a:p>
          <a:p xmlns:a="http://schemas.openxmlformats.org/drawingml/2006/main">
            <a:r>
              <a:t>• Lint, types, tests and build</a:t>
            </a:r>
          </a:p>
          <a:p xmlns:a="http://schemas.openxmlformats.org/drawingml/2006/main">
            <a:r>
              <a:t>• Failed checks block the pipeline</a:t>
            </a:r>
          </a:p>
          <a:p xmlns:a="http://schemas.openxmlformats.org/drawingml/2006/main">
            <a:r>
              <a:t>• Parole watches results. Michelin makes valid fixes.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Automated CI on every PR</a:t>
            </a:r>
          </a:p>
          <a:p xmlns:a="http://schemas.openxmlformats.org/drawingml/2006/main">
            <a:r>
              <a:t>• Parole continuously checks the results</a:t>
            </a:r>
          </a:p>
          <a:p xmlns:a="http://schemas.openxmlformats.org/drawingml/2006/main">
            <a:r>
              <a:t>• Evaluate the failure and pass valid work to Michelin</a:t>
            </a:r>
          </a:p>
          <a:p xmlns:a="http://schemas.openxmlformats.org/drawingml/2006/main">
            <a:r>
              <a:t>• Michelin fixes, commits and pushes</a:t>
            </a:r>
          </a:p>
          <a:p xmlns:a="http://schemas.openxmlformats.org/drawingml/2006/main">
            <a:r>
              <a:t>• New commit triggers CI and another review. Repeat until clear.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 snapshot: 72% line coverage</a:t>
            </a:r>
          </a:p>
          <a:p xmlns:a="http://schemas.openxmlformats.org/drawingml/2006/main">
            <a:r>
              <a:t>• Coverage means lines executed during tests</a:t>
            </a:r>
          </a:p>
          <a:p xmlns:a="http://schemas.openxmlformats.org/drawingml/2006/main">
            <a:r>
              <a:t>• 1,669 files: month-end repository inventory</a:t>
            </a:r>
          </a:p>
          <a:p xmlns:a="http://schemas.openxmlformats.org/drawingml/2006/main">
            <a:r>
              <a:t>• 1,351 suites and 7,693 individual tests: one CI run</a:t>
            </a:r>
          </a:p>
          <a:p xmlns:a="http://schemas.openxmlformats.org/drawingml/2006/main">
            <a:r>
              <a:t>• Different units and snapshots. No measured zero-coverage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Maestro, the end-to-end testing tool</a:t>
            </a:r>
          </a:p>
          <a:p xmlns:a="http://schemas.openxmlformats.org/drawingml/2006/main">
            <a:r>
              <a:t>• Android and iOS</a:t>
            </a:r>
          </a:p>
          <a:p xmlns:a="http://schemas.openxmlformats.org/drawingml/2006/main">
            <a:r>
              <a:t>• Smoke checks on every PR</a:t>
            </a:r>
          </a:p>
          <a:p xmlns:a="http://schemas.openxmlformats.org/drawingml/2006/main">
            <a:r>
              <a:t>• Full suite overnight</a:t>
            </a:r>
          </a:p>
          <a:p xmlns:a="http://schemas.openxmlformats.org/drawingml/2006/main">
            <a:r>
              <a:t>• Failed nightly checks block delivery until fixed.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Smoke tests on every PR</a:t>
            </a:r>
          </a:p>
          <a:p xmlns:a="http://schemas.openxmlformats.org/drawingml/2006/main">
            <a:r>
              <a:t>• Full suite nightly on Android and iOS</a:t>
            </a:r>
          </a:p>
          <a:p xmlns:a="http://schemas.openxmlformats.org/drawingml/2006/main">
            <a:r>
              <a:t>• Morning starts with the nightly result</a:t>
            </a:r>
          </a:p>
          <a:p xmlns:a="http://schemas.openxmlformats.org/drawingml/2006/main">
            <a:r>
              <a:t>• A failed run blocks the release pipeline until fixed</a:t>
            </a:r>
          </a:p>
          <a:p xmlns:a="http://schemas.openxmlformats.org/drawingml/2006/main">
            <a:r>
              <a:t>• Maestro video + logs give the AI agent evidence to investigate.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14 YAML files through April; 225 by September</a:t>
            </a:r>
          </a:p>
          <a:p xmlns:a="http://schemas.openxmlformats.org/drawingml/2006/main">
            <a:r>
              <a:t>• Leaf flows + shared setup + suite entrypoints</a:t>
            </a:r>
          </a:p>
          <a:p xmlns:a="http://schemas.openxmlformats.org/drawingml/2006/main">
            <a:r>
              <a:t>• Runnable checks connected to development</a:t>
            </a:r>
          </a:p>
          <a:p xmlns:a="http://schemas.openxmlformats.org/drawingml/2006/main">
            <a:r>
              <a:t>• File counts do not prove journeys or platform coverage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Human review queues took days</a:t>
            </a:r>
          </a:p>
          <a:p xmlns:a="http://schemas.openxmlformats.org/drawingml/2006/main">
            <a:r>
              <a:t>• Three AI reviewers on every PR</a:t>
            </a:r>
          </a:p>
          <a:p xmlns:a="http://schemas.openxmlformats.org/drawingml/2006/main">
            <a:r>
              <a:t>• Custom mobile reviewer runs hourly</a:t>
            </a:r>
          </a:p>
          <a:p xmlns:a="http://schemas.openxmlformats.org/drawingml/2006/main">
            <a:r>
              <a:t>• Repository guidelines provide React Native context</a:t>
            </a:r>
          </a:p>
          <a:p xmlns:a="http://schemas.openxmlformats.org/drawingml/2006/main">
            <a:r>
              <a:t>• Parole’s feedback loop connects this to 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CodeRabbit + Qodo Merge + cubic</a:t>
            </a:r>
          </a:p>
          <a:p xmlns:a="http://schemas.openxmlformats.org/drawingml/2006/main">
            <a:r>
              <a:t>• Every PR receives automated feedback</a:t>
            </a:r>
          </a:p>
          <a:p xmlns:a="http://schemas.openxmlformats.org/drawingml/2006/main">
            <a:r>
              <a:t>• Custom Cursor reviewer runs hourly</a:t>
            </a:r>
          </a:p>
          <a:p xmlns:a="http://schemas.openxmlformats.org/drawingml/2006/main">
            <a:r>
              <a:t>• React Native context in the review prompt</a:t>
            </a:r>
          </a:p>
          <a:p xmlns:a="http://schemas.openxmlformats.org/drawingml/2006/main">
            <a:r>
              <a:t>• Different perspectives. Parole evaluates the feedback.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Guidelines committed to the repository</a:t>
            </a:r>
          </a:p>
          <a:p xmlns:a="http://schemas.openxmlformats.org/drawingml/2006/main">
            <a:r>
              <a:t>• React Native + iOS/Android expectations</a:t>
            </a:r>
          </a:p>
          <a:p xmlns:a="http://schemas.openxmlformats.org/drawingml/2006/main">
            <a:r>
              <a:t>• Component reuse, separation of concerns, meaningful tests</a:t>
            </a:r>
          </a:p>
          <a:p xmlns:a="http://schemas.openxmlformats.org/drawingml/2006/main">
            <a:r>
              <a:t>• Reviewers read the same rules used for implementation</a:t>
            </a:r>
          </a:p>
          <a:p xmlns:a="http://schemas.openxmlformats.org/drawingml/2006/main">
            <a:r>
              <a:t>• Explain incorrect feedback. Refine the guidance. No guarantee of catching everything.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Next: Sentry</a:t>
            </a:r>
          </a:p>
          <a:p xmlns:a="http://schemas.openxmlformats.org/drawingml/2006/main">
            <a:r>
              <a:t>• Production feedback returns to development</a:t>
            </a:r>
          </a:p>
          <a:p xmlns:a="http://schemas.openxmlformats.org/drawingml/2006/main">
            <a:r>
              <a:t>• July: systematic error cleanup</a:t>
            </a:r>
          </a:p>
          <a:p xmlns:a="http://schemas.openxmlformats.org/drawingml/2006/main">
            <a:r>
              <a:t>• Prioritise reproducible problems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Investigate context + revision + flags</a:t>
            </a:r>
          </a:p>
          <a:p xmlns:a="http://schemas.openxmlformats.org/drawingml/2006/main">
            <a:r>
              <a:t>• Reproduce before correcting</a:t>
            </a:r>
          </a:p>
          <a:p xmlns:a="http://schemas.openxmlformats.org/drawingml/2006/main">
            <a:r>
              <a:t>• Bounded fix + regression check</a:t>
            </a:r>
          </a:p>
          <a:p xmlns:a="http://schemas.openxmlformats.org/drawingml/2006/main">
            <a:r>
              <a:t>• Return fresh evidence to review</a:t>
            </a:r>
          </a:p>
          <a:p xmlns:a="http://schemas.openxmlformats.org/drawingml/2006/main">
            <a:r>
              <a:t>• Recorded event does not always mean a user crash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86 complete days: 7 July to 30 September</a:t>
            </a:r>
          </a:p>
          <a:p xmlns:a="http://schemas.openxmlformats.org/drawingml/2006/main">
            <a:r>
              <a:t>• Raw daily variation, including September rise</a:t>
            </a:r>
          </a:p>
          <a:p xmlns:a="http://schemas.openxmlformats.org/drawingml/2006/main">
            <a:r>
              <a:t>• All environments; no usage denominator</a:t>
            </a:r>
          </a:p>
          <a:p xmlns:a="http://schemas.openxmlformats.org/drawingml/2006/main">
            <a:r>
              <a:t>• Fixes, filters and sampling affect volume</a:t>
            </a:r>
          </a:p>
          <a:p xmlns:a="http://schemas.openxmlformats.org/drawingml/2006/main">
            <a:r>
              <a:t>• No crash-rate or AI-causality claim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Finally: delivery</a:t>
            </a:r>
          </a:p>
          <a:p xmlns:a="http://schemas.openxmlformats.org/drawingml/2006/main">
            <a:r>
              <a:t>• Small verified changes</a:t>
            </a:r>
          </a:p>
          <a:p xmlns:a="http://schemas.openxmlformats.org/drawingml/2006/main">
            <a:r>
              <a:t>• Feature activation separated from code release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Canary build after every PR</a:t>
            </a:r>
          </a:p>
          <a:p xmlns:a="http://schemas.openxmlformats.org/drawingml/2006/main">
            <a:r>
              <a:t>• Automated nightly beta. iOS TestFlight + Android</a:t>
            </a:r>
          </a:p>
          <a:p xmlns:a="http://schemas.openxmlformats.org/drawingml/2006/main">
            <a:r>
              <a:t>• Separate installs allow before/after comparison</a:t>
            </a:r>
          </a:p>
          <a:p xmlns:a="http://schemas.openxmlformats.org/drawingml/2006/main">
            <a:r>
              <a:t>• Deep links and payment flows need that comparison</a:t>
            </a:r>
          </a:p>
          <a:p xmlns:a="http://schemas.openxmlformats.org/drawingml/2006/main">
            <a:r>
              <a:t>• Skills generate specific TestFlight change notes and testing instructions.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Return to the days-long approval queue</a:t>
            </a:r>
          </a:p>
          <a:p xmlns:a="http://schemas.openxmlformats.org/drawingml/2006/main">
            <a:r>
              <a:t>• Small increments behind feature flags</a:t>
            </a:r>
          </a:p>
          <a:p xmlns:a="http://schemas.openxmlformats.org/drawingml/2006/main">
            <a:r>
              <a:t>• Ship verified code; decide activation separately</a:t>
            </a:r>
          </a:p>
          <a:p xmlns:a="http://schemas.openxmlformats.org/drawingml/2006/main">
            <a:r>
              <a:t>• Check enabled and disabled behaviour</a:t>
            </a:r>
          </a:p>
          <a:p xmlns:a="http://schemas.openxmlformats.org/drawingml/2006/main">
            <a:r>
              <a:t>• Mobile flag needs code in the installed 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September: 188 app/design-system PRs across two repos</a:t>
            </a:r>
          </a:p>
          <a:p xmlns:a="http://schemas.openxmlformats.org/drawingml/2006/main">
            <a:r>
              <a:t>• 77 original repository + 111 monorepo</a:t>
            </a:r>
          </a:p>
          <a:p xmlns:a="http://schemas.openxmlformats.org/drawingml/2006/main">
            <a:r>
              <a:t>• May onward also includes scoped design-system work</a:t>
            </a:r>
          </a:p>
          <a:p xmlns:a="http://schemas.openxmlformats.org/drawingml/2006/main">
            <a:r>
              <a:t>• April joining marker; process changed in May</a:t>
            </a:r>
          </a:p>
          <a:p xmlns:a="http://schemas.openxmlformats.org/drawingml/2006/main">
            <a:r>
              <a:t>• PR activity is not productivity, feature value or lead time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Onboarding myself to the team, codebase and business</a:t>
            </a:r>
          </a:p>
          <a:p xmlns:a="http://schemas.openxmlformats.org/drawingml/2006/main">
            <a:r>
              <a:t>• Design system and monorepo, each could be its own talk</a:t>
            </a:r>
          </a:p>
          <a:p xmlns:a="http://schemas.openxmlformats.org/drawingml/2006/main">
            <a:r>
              <a:t>• Transition from engineering delivery to product ownership</a:t>
            </a:r>
          </a:p>
          <a:p xmlns:a="http://schemas.openxmlformats.org/drawingml/2006/main">
            <a:r>
              <a:t>• AI adoption across the development loop</a:t>
            </a:r>
          </a:p>
          <a:p xmlns:a="http://schemas.openxmlformats.org/drawingml/2006/main">
            <a:r>
              <a:t>• Harness: the environment around AI, not just the model</a:t>
            </a:r>
          </a:p>
          <a:p xmlns:a="http://schemas.openxmlformats.org/drawingml/2006/main">
            <a:r>
              <a:t>• A few months of change, many challenges beyond today’s scope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Lessons to adapt, not a universal five-step recipe</a:t>
            </a:r>
          </a:p>
          <a:p xmlns:a="http://schemas.openxmlformats.org/drawingml/2006/main">
            <a:r>
              <a:t>• Start with your team’s actual bottleneck</a:t>
            </a:r>
          </a:p>
          <a:p xmlns:a="http://schemas.openxmlformats.org/drawingml/2006/main">
            <a:r>
              <a:t>• Clear expectations and meaningful checks matter everywhere</a:t>
            </a:r>
          </a:p>
          <a:p xmlns:a="http://schemas.openxmlformats.org/drawingml/2006/main">
            <a:r>
              <a:t>• Tools, approval boundaries and rollout depend on context</a:t>
            </a:r>
          </a:p>
          <a:p xmlns:a="http://schemas.openxmlformats.org/drawingml/2006/main">
            <a:r>
              <a:t>• Start small. Inspect the outcome. Expand what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• Regressions every release. Days of QA and approvals.</a:t>
            </a:r>
          </a:p>
          <a:p xmlns:a="http://schemas.openxmlformats.org/drawingml/2006/main">
            <a:r>
              <a:t>• Skills → tests → CI → device evidence</a:t>
            </a:r>
          </a:p>
          <a:p xmlns:a="http://schemas.openxmlformats.org/drawingml/2006/main">
            <a:r>
              <a:t>• Review → production feedback → delivery</a:t>
            </a:r>
          </a:p>
          <a:p xmlns:a="http://schemas.openxmlformats.org/drawingml/2006/main">
            <a:r>
              <a:t>• Less repetitive QA. More confidence. Faster delivery.</a:t>
            </a:r>
          </a:p>
          <a:p xmlns:a="http://schemas.openxmlformats.org/drawingml/2006/main">
            <a:r>
              <a:t>• Evidence has limits. Human judgement still matters.</a:t>
            </a:r>
          </a:p>
          <a:p xmlns:a="http://schemas.openxmlformats.org/drawingml/2006/main">
            <a:r>
              <a:t>• QR: social profiles, talks and contact details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7c6c5d6c444c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90c74b50ad4809" /><Relationship Type="http://schemas.openxmlformats.org/officeDocument/2006/relationships/slideLayout" Target="/ppt/slideLayouts/slideLayout1.xml" Id="R57f63230b41c4a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f63230b41c4a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69b8f9e684a65" /><Relationship Type="http://schemas.openxmlformats.org/officeDocument/2006/relationships/image" Target="/ppt/media/image.png" Id="R23af55394d554092" /><Relationship Type="http://schemas.openxmlformats.org/officeDocument/2006/relationships/image" Target="/ppt/media/image.jpeg" Id="R10b2a2c64f784bc5" /><Relationship Type="http://schemas.openxmlformats.org/officeDocument/2006/relationships/notesSlide" Target="/ppt/notesSlides/notesSlide1.xml" Id="R8d57ce3e8c974b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84b4c973c4467" /><Relationship Type="http://schemas.openxmlformats.org/officeDocument/2006/relationships/notesSlide" Target="/ppt/notesSlides/notesSlide2.xml" Id="Rd32cd9ae6cd249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6adc17b3f4571" /><Relationship Type="http://schemas.openxmlformats.org/officeDocument/2006/relationships/notesSlide" Target="/ppt/notesSlides/notesSlide3.xml" Id="R7b5b40d225b64e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4b0ad3dab47f8" /><Relationship Type="http://schemas.openxmlformats.org/officeDocument/2006/relationships/notesSlide" Target="/ppt/notesSlides/notesSlide4.xml" Id="Rd927608b48264c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065611bf54e9b" /><Relationship Type="http://schemas.openxmlformats.org/officeDocument/2006/relationships/notesSlide" Target="/ppt/notesSlides/notesSlide5.xml" Id="Rd26433af23a341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35283d2de42d3" /><Relationship Type="http://schemas.openxmlformats.org/officeDocument/2006/relationships/notesSlide" Target="/ppt/notesSlides/notesSlide6.xml" Id="R267fa5ff5a9e4f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f700fc83b49b5" /><Relationship Type="http://schemas.openxmlformats.org/officeDocument/2006/relationships/image" Target="/ppt/media/image2.jpeg" Id="R52f19aa3bfa345ee" /><Relationship Type="http://schemas.openxmlformats.org/officeDocument/2006/relationships/notesSlide" Target="/ppt/notesSlides/notesSlide7.xml" Id="R832225aba39440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1cc8894844ebe" /><Relationship Type="http://schemas.openxmlformats.org/officeDocument/2006/relationships/image" Target="/ppt/media/image2.png" Id="R93c05adbac4e42e0" /><Relationship Type="http://schemas.openxmlformats.org/officeDocument/2006/relationships/image" Target="/ppt/media/image3.png" Id="R934d94d259824344" /><Relationship Type="http://schemas.openxmlformats.org/officeDocument/2006/relationships/image" Target="/ppt/media/image4.png" Id="R9cd3abc13de44b50" /><Relationship Type="http://schemas.openxmlformats.org/officeDocument/2006/relationships/image" Target="/ppt/media/image5.png" Id="R23270bc18af24b38" /><Relationship Type="http://schemas.openxmlformats.org/officeDocument/2006/relationships/image" Target="/ppt/media/image6.png" Id="Rb4829226962549ea" /><Relationship Type="http://schemas.openxmlformats.org/officeDocument/2006/relationships/image" Target="/ppt/media/image7.png" Id="R60dc9553ad5c4fcd" /><Relationship Type="http://schemas.openxmlformats.org/officeDocument/2006/relationships/notesSlide" Target="/ppt/notesSlides/notesSlide8.xml" Id="R700694f02db842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6e2c55bc2437c" /><Relationship Type="http://schemas.openxmlformats.org/officeDocument/2006/relationships/notesSlide" Target="/ppt/notesSlides/notesSlide9.xml" Id="R64cc76827ab04b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7e978f6a74b15" /><Relationship Type="http://schemas.openxmlformats.org/officeDocument/2006/relationships/notesSlide" Target="/ppt/notesSlides/notesSlide10.xml" Id="R52205aea824848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2f2fcfa9d4a8d" /><Relationship Type="http://schemas.openxmlformats.org/officeDocument/2006/relationships/image" Target="/ppt/media/image8.png" Id="R16c5c02f70cb4b7c" /><Relationship Type="http://schemas.openxmlformats.org/officeDocument/2006/relationships/image" Target="/ppt/media/image9.png" Id="Rf541919a59cd42ea" /><Relationship Type="http://schemas.openxmlformats.org/officeDocument/2006/relationships/image" Target="/ppt/media/image10.png" Id="Rba960ad715914c71" /><Relationship Type="http://schemas.openxmlformats.org/officeDocument/2006/relationships/image" Target="/ppt/media/image11.png" Id="R84d277b8674a4410" /><Relationship Type="http://schemas.openxmlformats.org/officeDocument/2006/relationships/image" Target="/ppt/media/image12.png" Id="Rdfca83019a824970" /><Relationship Type="http://schemas.openxmlformats.org/officeDocument/2006/relationships/notesSlide" Target="/ppt/notesSlides/notesSlide11.xml" Id="R4366ba5cc1f341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78b3f446944ee" /><Relationship Type="http://schemas.openxmlformats.org/officeDocument/2006/relationships/notesSlide" Target="/ppt/notesSlides/notesSlide12.xml" Id="Re0d35a9567f948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b137bfcab24af7" /><Relationship Type="http://schemas.openxmlformats.org/officeDocument/2006/relationships/chart" Target="/ppt/slides/charts/chart1.xml" Id="R6665329d62554a87" /><Relationship Type="http://schemas.openxmlformats.org/officeDocument/2006/relationships/notesSlide" Target="/ppt/notesSlides/notesSlide13.xml" Id="Rcff7ea994b384b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e68401b8294487" /><Relationship Type="http://schemas.openxmlformats.org/officeDocument/2006/relationships/image" Target="/ppt/media/image13.png" Id="R3be2f77fdce44669" /><Relationship Type="http://schemas.openxmlformats.org/officeDocument/2006/relationships/image" Target="/ppt/media/image14.png" Id="R25b8a439d4d147a0" /><Relationship Type="http://schemas.openxmlformats.org/officeDocument/2006/relationships/image" Target="/ppt/media/image15.png" Id="R1d4ec999cad74ab8" /><Relationship Type="http://schemas.openxmlformats.org/officeDocument/2006/relationships/image" Target="/ppt/media/image16.png" Id="Rd08bfe3197b04950" /><Relationship Type="http://schemas.openxmlformats.org/officeDocument/2006/relationships/notesSlide" Target="/ppt/notesSlides/notesSlide14.xml" Id="Rb5dd9ad812f140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290443e694f53" /><Relationship Type="http://schemas.openxmlformats.org/officeDocument/2006/relationships/notesSlide" Target="/ppt/notesSlides/notesSlide15.xml" Id="Rd4b39f086c9e4da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4679da7764960" /><Relationship Type="http://schemas.openxmlformats.org/officeDocument/2006/relationships/notesSlide" Target="/ppt/notesSlides/notesSlide16.xml" Id="R4dcb1830295b48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49723e14f401e" /><Relationship Type="http://schemas.openxmlformats.org/officeDocument/2006/relationships/image" Target="/ppt/media/image17.png" Id="R1874032ccdb2457d" /><Relationship Type="http://schemas.openxmlformats.org/officeDocument/2006/relationships/image" Target="/ppt/media/image18.png" Id="Rdd6cdeb6e78445b9" /><Relationship Type="http://schemas.openxmlformats.org/officeDocument/2006/relationships/image" Target="/ppt/media/image19.png" Id="R1573c5e5b03e4087" /><Relationship Type="http://schemas.openxmlformats.org/officeDocument/2006/relationships/notesSlide" Target="/ppt/notesSlides/notesSlide17.xml" Id="R7ed21ea94725439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bb33f97e3d46b8" /><Relationship Type="http://schemas.openxmlformats.org/officeDocument/2006/relationships/notesSlide" Target="/ppt/notesSlides/notesSlide18.xml" Id="R9efa0ba4f0d649a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ccc810df94326" /><Relationship Type="http://schemas.openxmlformats.org/officeDocument/2006/relationships/chart" Target="/ppt/slides/charts/chart2.xml" Id="R8325e139d1ee458c" /><Relationship Type="http://schemas.openxmlformats.org/officeDocument/2006/relationships/notesSlide" Target="/ppt/notesSlides/notesSlide19.xml" Id="Rda0a4f162cf8496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2838b38c746e6" /><Relationship Type="http://schemas.openxmlformats.org/officeDocument/2006/relationships/image" Target="/ppt/media/image20.png" Id="Rfc2a7eb922074300" /><Relationship Type="http://schemas.openxmlformats.org/officeDocument/2006/relationships/image" Target="/ppt/media/image21.png" Id="Rbd089b2c21254640" /><Relationship Type="http://schemas.openxmlformats.org/officeDocument/2006/relationships/notesSlide" Target="/ppt/notesSlides/notesSlide20.xml" Id="R797ad7f0798b485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329ef6802401d" /><Relationship Type="http://schemas.openxmlformats.org/officeDocument/2006/relationships/notesSlide" Target="/ppt/notesSlides/notesSlide21.xml" Id="R222c9750a73940b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56e23b40641ae" /><Relationship Type="http://schemas.openxmlformats.org/officeDocument/2006/relationships/notesSlide" Target="/ppt/notesSlides/notesSlide22.xml" Id="R4a3a265edf7a42c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8118944ae49b0" /><Relationship Type="http://schemas.openxmlformats.org/officeDocument/2006/relationships/image" Target="/ppt/media/image22.png" Id="R0e533cd528724968" /><Relationship Type="http://schemas.openxmlformats.org/officeDocument/2006/relationships/notesSlide" Target="/ppt/notesSlides/notesSlide23.xml" Id="R42db53597b844eb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c8d4d301b4b4d" /><Relationship Type="http://schemas.openxmlformats.org/officeDocument/2006/relationships/notesSlide" Target="/ppt/notesSlides/notesSlide24.xml" Id="R118df4753063450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991d2adab464b" /><Relationship Type="http://schemas.openxmlformats.org/officeDocument/2006/relationships/chart" Target="/ppt/slides/charts/chart3.xml" Id="R469fd70a437e45df" /><Relationship Type="http://schemas.openxmlformats.org/officeDocument/2006/relationships/notesSlide" Target="/ppt/notesSlides/notesSlide25.xml" Id="R595be142e21b4f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3ae5c6b6a418d" /><Relationship Type="http://schemas.openxmlformats.org/officeDocument/2006/relationships/notesSlide" Target="/ppt/notesSlides/notesSlide26.xml" Id="R0cdf19c77eb4474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627d797784c31" /><Relationship Type="http://schemas.openxmlformats.org/officeDocument/2006/relationships/notesSlide" Target="/ppt/notesSlides/notesSlide27.xml" Id="R9f130ce430d74b3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195181b714844" /><Relationship Type="http://schemas.openxmlformats.org/officeDocument/2006/relationships/notesSlide" Target="/ppt/notesSlides/notesSlide28.xml" Id="R5e7ce5d15dc349a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235f01f14429a" /><Relationship Type="http://schemas.openxmlformats.org/officeDocument/2006/relationships/chart" Target="/ppt/slides/charts/chart4.xml" Id="R4096c68d80c9455f" /><Relationship Type="http://schemas.openxmlformats.org/officeDocument/2006/relationships/notesSlide" Target="/ppt/notesSlides/notesSlide29.xml" Id="R161d40a9e2a7477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00e7ddaff42e1" /><Relationship Type="http://schemas.openxmlformats.org/officeDocument/2006/relationships/notesSlide" Target="/ppt/notesSlides/notesSlide30.xml" Id="Re30b4d3c4e7d46a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cf568307b4101" /><Relationship Type="http://schemas.openxmlformats.org/officeDocument/2006/relationships/notesSlide" Target="/ppt/notesSlides/notesSlide31.xml" Id="Re0a1946c7a444e9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5dcaafff44b06" /><Relationship Type="http://schemas.openxmlformats.org/officeDocument/2006/relationships/image" Target="/ppt/media/image23.png" Id="Re67d8290df7c41b3" /><Relationship Type="http://schemas.openxmlformats.org/officeDocument/2006/relationships/notesSlide" Target="/ppt/notesSlides/notesSlide32.xml" Id="Rc24a4826ed8744a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Unit-test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93</c:v>
                </c:pt>
                <c:pt idx="1">
                  <c:v>95</c:v>
                </c:pt>
                <c:pt idx="2">
                  <c:v>98</c:v>
                </c:pt>
                <c:pt idx="3">
                  <c:v>113</c:v>
                </c:pt>
                <c:pt idx="4">
                  <c:v>164</c:v>
                </c:pt>
                <c:pt idx="5">
                  <c:v>250</c:v>
                </c:pt>
                <c:pt idx="6">
                  <c:v>395</c:v>
                </c:pt>
                <c:pt idx="7">
                  <c:v>1040</c:v>
                </c:pt>
                <c:pt idx="8">
                  <c:v>1669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18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60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Maestro YAML files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14</c:v>
                </c:pt>
                <c:pt idx="4">
                  <c:v>129</c:v>
                </c:pt>
                <c:pt idx="5">
                  <c:v>135</c:v>
                </c:pt>
                <c:pt idx="6">
                  <c:v>136</c:v>
                </c:pt>
                <c:pt idx="7">
                  <c:v>147</c:v>
                </c:pt>
                <c:pt idx="8">
                  <c:v>225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Recorded events per day</c:v>
          </c:tx>
          <c:spPr>
            <a:solidFill xmlns:a="http://schemas.openxmlformats.org/drawingml/2006/main">
              <a:srgbClr val="00786F"/>
            </a:solidFill>
            <a:ln xmlns:a="http://schemas.openxmlformats.org/drawingml/2006/main" w="28575">
              <a:solidFill>
                <a:srgbClr val="00786F"/>
              </a:solidFill>
              <a:prstDash val="solid"/>
            </a:ln>
          </c:spPr>
          <c:marker>
            <c:symbol val="none"/>
          </c:marker>
          <c:xVal>
            <c:numRef>
              <c:f>'Chart Data'!$A$2:$A$87</c:f>
              <c:numCache>
                <c:formatCode>d mmm</c:formatCode>
                <c:ptCount val="86"/>
                <c:pt idx="0">
                  <c:v>46210</c:v>
                </c:pt>
                <c:pt idx="1">
                  <c:v>46211</c:v>
                </c:pt>
                <c:pt idx="2">
                  <c:v>46212</c:v>
                </c:pt>
                <c:pt idx="3">
                  <c:v>46213</c:v>
                </c:pt>
                <c:pt idx="4">
                  <c:v>46214</c:v>
                </c:pt>
                <c:pt idx="5">
                  <c:v>46215</c:v>
                </c:pt>
                <c:pt idx="6">
                  <c:v>46216</c:v>
                </c:pt>
                <c:pt idx="7">
                  <c:v>46217</c:v>
                </c:pt>
                <c:pt idx="8">
                  <c:v>46218</c:v>
                </c:pt>
                <c:pt idx="9">
                  <c:v>46219</c:v>
                </c:pt>
                <c:pt idx="10">
                  <c:v>46220</c:v>
                </c:pt>
                <c:pt idx="11">
                  <c:v>46221</c:v>
                </c:pt>
                <c:pt idx="12">
                  <c:v>46222</c:v>
                </c:pt>
                <c:pt idx="13">
                  <c:v>46223</c:v>
                </c:pt>
                <c:pt idx="14">
                  <c:v>46224</c:v>
                </c:pt>
                <c:pt idx="15">
                  <c:v>46225</c:v>
                </c:pt>
                <c:pt idx="16">
                  <c:v>46226</c:v>
                </c:pt>
                <c:pt idx="17">
                  <c:v>46227</c:v>
                </c:pt>
                <c:pt idx="18">
                  <c:v>46228</c:v>
                </c:pt>
                <c:pt idx="19">
                  <c:v>46229</c:v>
                </c:pt>
                <c:pt idx="20">
                  <c:v>46230</c:v>
                </c:pt>
                <c:pt idx="21">
                  <c:v>46231</c:v>
                </c:pt>
                <c:pt idx="22">
                  <c:v>46232</c:v>
                </c:pt>
                <c:pt idx="23">
                  <c:v>46233</c:v>
                </c:pt>
                <c:pt idx="24">
                  <c:v>46234</c:v>
                </c:pt>
                <c:pt idx="25">
                  <c:v>46235</c:v>
                </c:pt>
                <c:pt idx="26">
                  <c:v>46236</c:v>
                </c:pt>
                <c:pt idx="27">
                  <c:v>46237</c:v>
                </c:pt>
                <c:pt idx="28">
                  <c:v>46238</c:v>
                </c:pt>
                <c:pt idx="29">
                  <c:v>46239</c:v>
                </c:pt>
                <c:pt idx="30">
                  <c:v>46240</c:v>
                </c:pt>
                <c:pt idx="31">
                  <c:v>46241</c:v>
                </c:pt>
                <c:pt idx="32">
                  <c:v>46242</c:v>
                </c:pt>
                <c:pt idx="33">
                  <c:v>46243</c:v>
                </c:pt>
                <c:pt idx="34">
                  <c:v>46244</c:v>
                </c:pt>
                <c:pt idx="35">
                  <c:v>46245</c:v>
                </c:pt>
                <c:pt idx="36">
                  <c:v>46246</c:v>
                </c:pt>
                <c:pt idx="37">
                  <c:v>46247</c:v>
                </c:pt>
                <c:pt idx="38">
                  <c:v>46248</c:v>
                </c:pt>
                <c:pt idx="39">
                  <c:v>46249</c:v>
                </c:pt>
                <c:pt idx="40">
                  <c:v>46250</c:v>
                </c:pt>
                <c:pt idx="41">
                  <c:v>46251</c:v>
                </c:pt>
                <c:pt idx="42">
                  <c:v>46252</c:v>
                </c:pt>
                <c:pt idx="43">
                  <c:v>46253</c:v>
                </c:pt>
                <c:pt idx="44">
                  <c:v>46254</c:v>
                </c:pt>
                <c:pt idx="45">
                  <c:v>46255</c:v>
                </c:pt>
                <c:pt idx="46">
                  <c:v>46256</c:v>
                </c:pt>
                <c:pt idx="47">
                  <c:v>46257</c:v>
                </c:pt>
                <c:pt idx="48">
                  <c:v>46258</c:v>
                </c:pt>
                <c:pt idx="49">
                  <c:v>46259</c:v>
                </c:pt>
                <c:pt idx="50">
                  <c:v>46260</c:v>
                </c:pt>
                <c:pt idx="51">
                  <c:v>46261</c:v>
                </c:pt>
                <c:pt idx="52">
                  <c:v>46262</c:v>
                </c:pt>
                <c:pt idx="53">
                  <c:v>46263</c:v>
                </c:pt>
                <c:pt idx="54">
                  <c:v>46264</c:v>
                </c:pt>
                <c:pt idx="55">
                  <c:v>46265</c:v>
                </c:pt>
                <c:pt idx="56">
                  <c:v>46266</c:v>
                </c:pt>
                <c:pt idx="57">
                  <c:v>46267</c:v>
                </c:pt>
                <c:pt idx="58">
                  <c:v>46268</c:v>
                </c:pt>
                <c:pt idx="59">
                  <c:v>46269</c:v>
                </c:pt>
                <c:pt idx="60">
                  <c:v>46270</c:v>
                </c:pt>
                <c:pt idx="61">
                  <c:v>46271</c:v>
                </c:pt>
                <c:pt idx="62">
                  <c:v>46272</c:v>
                </c:pt>
                <c:pt idx="63">
                  <c:v>46273</c:v>
                </c:pt>
                <c:pt idx="64">
                  <c:v>46274</c:v>
                </c:pt>
                <c:pt idx="65">
                  <c:v>46275</c:v>
                </c:pt>
                <c:pt idx="66">
                  <c:v>46276</c:v>
                </c:pt>
                <c:pt idx="67">
                  <c:v>46277</c:v>
                </c:pt>
                <c:pt idx="68">
                  <c:v>46278</c:v>
                </c:pt>
                <c:pt idx="69">
                  <c:v>46279</c:v>
                </c:pt>
                <c:pt idx="70">
                  <c:v>46280</c:v>
                </c:pt>
                <c:pt idx="71">
                  <c:v>46281</c:v>
                </c:pt>
                <c:pt idx="72">
                  <c:v>46282</c:v>
                </c:pt>
                <c:pt idx="73">
                  <c:v>46283</c:v>
                </c:pt>
                <c:pt idx="74">
                  <c:v>46284</c:v>
                </c:pt>
                <c:pt idx="75">
                  <c:v>46285</c:v>
                </c:pt>
                <c:pt idx="76">
                  <c:v>46286</c:v>
                </c:pt>
                <c:pt idx="77">
                  <c:v>46287</c:v>
                </c:pt>
                <c:pt idx="78">
                  <c:v>46288</c:v>
                </c:pt>
                <c:pt idx="79">
                  <c:v>46289</c:v>
                </c:pt>
                <c:pt idx="80">
                  <c:v>46290</c:v>
                </c:pt>
                <c:pt idx="81">
                  <c:v>46291</c:v>
                </c:pt>
                <c:pt idx="82">
                  <c:v>46292</c:v>
                </c:pt>
                <c:pt idx="83">
                  <c:v>46293</c:v>
                </c:pt>
                <c:pt idx="84">
                  <c:v>46294</c:v>
                </c:pt>
                <c:pt idx="85">
                  <c:v>46295</c:v>
                </c:pt>
              </c:numCache>
            </c:numRef>
          </c:xVal>
          <c:yVal>
            <c:numRef>
              <c:f>'Chart Data'!$B$2:$B$87</c:f>
              <c:numCache>
                <c:formatCode>#,##0</c:formatCode>
                <c:ptCount val="86"/>
                <c:pt idx="0">
                  <c:v>24012</c:v>
                </c:pt>
                <c:pt idx="1">
                  <c:v>20186</c:v>
                </c:pt>
                <c:pt idx="2">
                  <c:v>18996</c:v>
                </c:pt>
                <c:pt idx="3">
                  <c:v>19756</c:v>
                </c:pt>
                <c:pt idx="4">
                  <c:v>23024</c:v>
                </c:pt>
                <c:pt idx="5">
                  <c:v>23245</c:v>
                </c:pt>
                <c:pt idx="6">
                  <c:v>16295</c:v>
                </c:pt>
                <c:pt idx="7">
                  <c:v>15949</c:v>
                </c:pt>
                <c:pt idx="8">
                  <c:v>16897</c:v>
                </c:pt>
                <c:pt idx="9">
                  <c:v>15846</c:v>
                </c:pt>
                <c:pt idx="10">
                  <c:v>17738</c:v>
                </c:pt>
                <c:pt idx="11">
                  <c:v>16197</c:v>
                </c:pt>
                <c:pt idx="12">
                  <c:v>17393</c:v>
                </c:pt>
                <c:pt idx="13">
                  <c:v>10078</c:v>
                </c:pt>
                <c:pt idx="14">
                  <c:v>7617</c:v>
                </c:pt>
                <c:pt idx="15">
                  <c:v>9141</c:v>
                </c:pt>
                <c:pt idx="16">
                  <c:v>6265</c:v>
                </c:pt>
                <c:pt idx="17">
                  <c:v>9794</c:v>
                </c:pt>
                <c:pt idx="18">
                  <c:v>8768</c:v>
                </c:pt>
                <c:pt idx="19">
                  <c:v>10718</c:v>
                </c:pt>
                <c:pt idx="20">
                  <c:v>8498</c:v>
                </c:pt>
                <c:pt idx="21">
                  <c:v>8371</c:v>
                </c:pt>
                <c:pt idx="22">
                  <c:v>5913</c:v>
                </c:pt>
                <c:pt idx="23">
                  <c:v>5496</c:v>
                </c:pt>
                <c:pt idx="24">
                  <c:v>5007</c:v>
                </c:pt>
                <c:pt idx="25">
                  <c:v>4590</c:v>
                </c:pt>
                <c:pt idx="26">
                  <c:v>5165</c:v>
                </c:pt>
                <c:pt idx="27">
                  <c:v>4218</c:v>
                </c:pt>
                <c:pt idx="28">
                  <c:v>4651</c:v>
                </c:pt>
                <c:pt idx="29">
                  <c:v>4593</c:v>
                </c:pt>
                <c:pt idx="30">
                  <c:v>4182</c:v>
                </c:pt>
                <c:pt idx="31">
                  <c:v>3842</c:v>
                </c:pt>
                <c:pt idx="32">
                  <c:v>4780</c:v>
                </c:pt>
                <c:pt idx="33">
                  <c:v>4634</c:v>
                </c:pt>
                <c:pt idx="34">
                  <c:v>4177</c:v>
                </c:pt>
                <c:pt idx="35">
                  <c:v>3653</c:v>
                </c:pt>
                <c:pt idx="36">
                  <c:v>4288</c:v>
                </c:pt>
                <c:pt idx="37">
                  <c:v>4385</c:v>
                </c:pt>
                <c:pt idx="38">
                  <c:v>5033</c:v>
                </c:pt>
                <c:pt idx="39">
                  <c:v>5656</c:v>
                </c:pt>
                <c:pt idx="40">
                  <c:v>4126</c:v>
                </c:pt>
                <c:pt idx="41">
                  <c:v>3445</c:v>
                </c:pt>
                <c:pt idx="42">
                  <c:v>4120</c:v>
                </c:pt>
                <c:pt idx="43">
                  <c:v>4262</c:v>
                </c:pt>
                <c:pt idx="44">
                  <c:v>4618</c:v>
                </c:pt>
                <c:pt idx="45">
                  <c:v>5010</c:v>
                </c:pt>
                <c:pt idx="46">
                  <c:v>4141</c:v>
                </c:pt>
                <c:pt idx="47">
                  <c:v>5675</c:v>
                </c:pt>
                <c:pt idx="48">
                  <c:v>3831</c:v>
                </c:pt>
                <c:pt idx="49">
                  <c:v>4252</c:v>
                </c:pt>
                <c:pt idx="50">
                  <c:v>4041</c:v>
                </c:pt>
                <c:pt idx="51">
                  <c:v>5122</c:v>
                </c:pt>
                <c:pt idx="52">
                  <c:v>4364</c:v>
                </c:pt>
                <c:pt idx="53">
                  <c:v>5519</c:v>
                </c:pt>
                <c:pt idx="54">
                  <c:v>4933</c:v>
                </c:pt>
                <c:pt idx="55">
                  <c:v>4120</c:v>
                </c:pt>
                <c:pt idx="56">
                  <c:v>5575</c:v>
                </c:pt>
                <c:pt idx="57">
                  <c:v>2856</c:v>
                </c:pt>
                <c:pt idx="58">
                  <c:v>3542</c:v>
                </c:pt>
                <c:pt idx="59">
                  <c:v>4435</c:v>
                </c:pt>
                <c:pt idx="60">
                  <c:v>3839</c:v>
                </c:pt>
                <c:pt idx="61">
                  <c:v>4728</c:v>
                </c:pt>
                <c:pt idx="62">
                  <c:v>3747</c:v>
                </c:pt>
                <c:pt idx="63">
                  <c:v>4707</c:v>
                </c:pt>
                <c:pt idx="64">
                  <c:v>4024</c:v>
                </c:pt>
                <c:pt idx="65">
                  <c:v>3937</c:v>
                </c:pt>
                <c:pt idx="66">
                  <c:v>5324</c:v>
                </c:pt>
                <c:pt idx="67">
                  <c:v>5981</c:v>
                </c:pt>
                <c:pt idx="68">
                  <c:v>6254</c:v>
                </c:pt>
                <c:pt idx="69">
                  <c:v>6468</c:v>
                </c:pt>
                <c:pt idx="70">
                  <c:v>6111</c:v>
                </c:pt>
                <c:pt idx="71">
                  <c:v>5340</c:v>
                </c:pt>
                <c:pt idx="72">
                  <c:v>4087</c:v>
                </c:pt>
                <c:pt idx="73">
                  <c:v>7077</c:v>
                </c:pt>
                <c:pt idx="74">
                  <c:v>5791</c:v>
                </c:pt>
                <c:pt idx="75">
                  <c:v>8333</c:v>
                </c:pt>
                <c:pt idx="76">
                  <c:v>4433</c:v>
                </c:pt>
                <c:pt idx="77">
                  <c:v>8013</c:v>
                </c:pt>
                <c:pt idx="78">
                  <c:v>4019</c:v>
                </c:pt>
                <c:pt idx="79">
                  <c:v>4336</c:v>
                </c:pt>
                <c:pt idx="80">
                  <c:v>5115</c:v>
                </c:pt>
                <c:pt idx="81">
                  <c:v>5466</c:v>
                </c:pt>
                <c:pt idx="82">
                  <c:v>5764</c:v>
                </c:pt>
                <c:pt idx="83">
                  <c:v>5162</c:v>
                </c:pt>
                <c:pt idx="84">
                  <c:v>4156</c:v>
                </c:pt>
                <c:pt idx="85">
                  <c:v>4189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majorUnit val="5000"/>
      </c:valAx>
      <c:valAx>
        <c:axId val="48650112"/>
        <c:scaling>
          <c:orientation val="minMax"/>
          <c:max val="46295"/>
          <c:min val="46210"/>
        </c:scaling>
        <c:delete val="0"/>
        <c:axPos val="b"/>
        <c:numFmt formatCode="d mmm"/>
        <c:majorTickMark val="none"/>
        <c:minorTickMark val="none"/>
        <c:tickLblPos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  <c:majorUnit val="28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Merged mobile PRs</c:v>
          </c:tx>
          <c:spPr>
            <a:solidFill xmlns:a="http://schemas.openxmlformats.org/drawingml/2006/main">
              <a:srgbClr val="00786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58D9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00786F"/>
              </a:solidFill>
            </c:spPr>
          </c:dPt>
          <c:cat>
            <c:strRef>
              <c:f>'Chart Data'!$A$2:$A$10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'Chart Data'!$B$2:$B$10</c:f>
              <c:numCache>
                <c:formatCode>#,##0</c:formatCode>
                <c:ptCount val="9"/>
                <c:pt idx="0">
                  <c:v>25</c:v>
                </c:pt>
                <c:pt idx="1">
                  <c:v>32</c:v>
                </c:pt>
                <c:pt idx="2">
                  <c:v>46</c:v>
                </c:pt>
                <c:pt idx="3">
                  <c:v>58</c:v>
                </c:pt>
                <c:pt idx="4">
                  <c:v>159</c:v>
                </c:pt>
                <c:pt idx="5">
                  <c:v>222</c:v>
                </c:pt>
                <c:pt idx="6">
                  <c:v>158</c:v>
                </c:pt>
                <c:pt idx="7">
                  <c:v>194</c:v>
                </c:pt>
                <c:pt idx="8">
                  <c:v>188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5181B"/>
                  </a:solidFill>
                  <a:latin typeface="Satoshi Variable"/>
                  <a:ea typeface="Satoshi Variable"/>
                  <a:cs typeface="Satoshi Variabl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CD0C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CD0CB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f55394d55409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ck title">
            <a:extLst xmlns:a="http://schemas.openxmlformats.org/drawingml/2006/main">
              <a:ext uri="{FF2B5EF4-FFF2-40B4-BE49-F238E27FC236}">
                <a16:creationId xmlns:a16="http://schemas.microsoft.com/office/drawing/2014/main" id="{82A3A3E2-B2A0-49BB-A851-CE2C8DAEB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10668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Beyond the QA</a:t>
            </a:r>
          </a:p>
          <a:p xmlns:a="http://schemas.openxmlformats.org/drawingml/2006/main">
            <a:pPr algn="l">
              <a:def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81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A7EEA416-A42A-4017-B3F4-D435AE28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Building confidence in React Native with AI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b2a2c64f784bc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" y="5143500"/>
            <a:ext cx="685800" cy="685800"/>
          </a:xfrm>
          <a:prstGeom xmlns:a="http://schemas.openxmlformats.org/drawingml/2006/main" prst="ellipse">
            <a:avLst/>
          </a:prstGeom>
        </p:spPr>
      </p:pic>
      <p:sp>
        <p:nvSpPr>
          <p:cNvPr id="5" name="Speaker">
            <a:extLst xmlns:a="http://schemas.openxmlformats.org/drawingml/2006/main">
              <a:ext uri="{FF2B5EF4-FFF2-40B4-BE49-F238E27FC236}">
                <a16:creationId xmlns:a16="http://schemas.microsoft.com/office/drawing/2014/main" id="{EB4704C4-8352-4881-8651-81691A41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952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F6F4EE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29156FE-C716-47B1-B6A5-A37252D2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626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950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 Manager at Zapp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3DAB90D-B662-47DC-A81A-1F083602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817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React Native London</a:t>
            </a:r>
          </a:p>
        </p:txBody>
      </p:sp>
    </p:spTree>
    <p:extLst>
      <p:ext uri="{BB962C8B-B14F-4D97-AF65-F5344CB8AC3E}">
        <p14:creationId xmlns:p14="http://schemas.microsoft.com/office/powerpoint/2010/main" val="19752469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2DBBB71-6B34-41D8-92D0-26CE43CC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Regressions.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F2CBB4C-70DB-4D12-9845-719C9F21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We kept returning to behaviour we had already checked.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C26D012-F009-4470-BFB1-9191CF35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898300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0801319-1E05-4B0E-8D1F-4F5B7FAA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Tests existed.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Nobody ran them.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04ED6C8-EF8B-4A93-A8CA-A2A9623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small test suite. End-to-end checks outside CI.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B26295D-395C-49F2-9945-E3AAAF15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66998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7E3D55-AC36-4CDF-B66D-A5276922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More than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three days of QA.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02EC314-A33F-441F-81C9-1F20567E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Engineering, product and UX/design.</a:t>
            </a:r>
          </a:p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Many people paused their own work.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DCB276C-7F0C-402F-B4C3-9F60756F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529924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15C4C2A-AF34-46BE-9101-2E17DDBB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Every release waited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days for approval.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8119815-D817-45FD-ABF7-8813517B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 chain of sign-offs held up the whole release.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B2F0387-E57B-4970-A86B-F44FBAC3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01159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BA8E88A-7D4E-4587-B94D-BE0859CF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5727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Projects postponed</a:t>
            </a:r>
          </a:p>
          <a:p xmlns:a="http://schemas.openxmlformats.org/drawingml/2006/main">
            <a:pPr algn="l">
              <a:def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defRPr>
            </a:pPr>
            <a:r>
              <a:rPr sz="6900" b="0">
                <a:solidFill>
                  <a:srgbClr val="F6F4EE"/>
                </a:solidFill>
                <a:latin typeface="Newsreader"/>
                <a:ea typeface="Newsreader"/>
                <a:cs typeface="Newsreader"/>
              </a:rPr>
              <a:t>by over a quarter.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6A83B3D-4AC8-42B5-9169-44FBBA7B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67250"/>
            <a:ext cx="1019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All the existing projects had slipped by more than a quarter.</a:t>
            </a:r>
          </a:p>
        </p:txBody>
      </p:sp>
      <p:sp>
        <p:nvSpPr>
          <p:cNvPr id="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DE74AB56-59B0-42E9-81D5-8FB20D6E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B7BCC1"/>
                </a:solidFill>
                <a:latin typeface="Satoshi Variable"/>
                <a:ea typeface="Satoshi Variable"/>
                <a:cs typeface="Satoshi Variabl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176878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f19aa3bfa345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6850" y="847725"/>
            <a:ext cx="1638300" cy="1638300"/>
          </a:xfrm>
          <a:prstGeom xmlns:a="http://schemas.openxmlformats.org/drawingml/2006/main" prst="ellipse">
            <a:avLst/>
          </a:prstGeom>
        </p:spPr>
      </p:pic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52EF7F-C7EB-4CBA-8058-F0A4FB4B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64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John Adib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31D6EE-D8DF-4A4E-BA00-AC1DD332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33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story of an EM in the era of AI</a:t>
            </a:r>
          </a:p>
        </p:txBody>
      </p:sp>
      <p:sp>
        <p:nvSpPr>
          <p:cNvPr id="4" name="Credentials">
            <a:extLst xmlns:a="http://schemas.openxmlformats.org/drawingml/2006/main">
              <a:ext uri="{FF2B5EF4-FFF2-40B4-BE49-F238E27FC236}">
                <a16:creationId xmlns:a16="http://schemas.microsoft.com/office/drawing/2014/main" id="{98D10E60-ACCE-48B4-B04C-8AD171C3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0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2× co-founder. Former CTO. Engineering leader and mentor.</a:t>
            </a:r>
          </a:p>
        </p:txBody>
      </p:sp>
      <p:sp>
        <p:nvSpPr>
          <p:cNvPr id="5" name="Experience">
            <a:extLst xmlns:a="http://schemas.openxmlformats.org/drawingml/2006/main">
              <a:ext uri="{FF2B5EF4-FFF2-40B4-BE49-F238E27FC236}">
                <a16:creationId xmlns:a16="http://schemas.microsoft.com/office/drawing/2014/main" id="{FA916C11-D498-4784-B6DA-2658B5BC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 years building and improving systems. I love moving mountains.</a:t>
            </a:r>
          </a:p>
        </p:txBody>
      </p:sp>
      <p:sp>
        <p:nvSpPr>
          <p:cNvPr id="6" name="Website">
            <a:extLst xmlns:a="http://schemas.openxmlformats.org/drawingml/2006/main">
              <a:ext uri="{FF2B5EF4-FFF2-40B4-BE49-F238E27FC236}">
                <a16:creationId xmlns:a16="http://schemas.microsoft.com/office/drawing/2014/main" id="{8C1B79D9-897D-4068-97B0-A4F6A238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9CA8771-3D4F-4B46-AE6B-3AC0A80B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660914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5A30DC73-DAE9-4ABB-A768-B7E09C4C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46AEECA-C4BC-44A1-A171-8244CA9A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05adbac4e42e0"/>
          <a:stretch xmlns:a="http://schemas.openxmlformats.org/drawingml/2006/main"/>
        </p:blipFill>
        <p:spPr>
          <a:xfrm xmlns:a="http://schemas.openxmlformats.org/drawingml/2006/main">
            <a:off x="1333500" y="1362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d94d259824344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3abc13de44b50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270bc18af24b38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29226962549ea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c9553ad5c4fcd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F30B69BD-A467-421C-BA3C-4C3B8F5D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744025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">
            <a:extLst xmlns:a="http://schemas.openxmlformats.org/drawingml/2006/main">
              <a:ext uri="{FF2B5EF4-FFF2-40B4-BE49-F238E27FC236}">
                <a16:creationId xmlns:a16="http://schemas.microsoft.com/office/drawing/2014/main" id="{756D8BDD-D30D-4230-B60A-35AB333B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Eight skills. One development loop.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0068060-C0FC-43E6-B1AC-C5F27589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Each skill has a responsibility and an output.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B5A7489-641D-40E7-95D7-CBA96882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cook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3C840BF-1279-4AFD-8B44-7615BC64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Coordinates the task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0F95F8E-E39C-489D-B360-DA73025A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sherlock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5F06EF7-47D5-4902-9480-6D287FA3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14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Discovers the repository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9A7FB57-3A7E-47B0-AE88-9485A6DC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dig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449832F-CE38-4649-A607-CE91DCB4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Researches the behaviour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535DFBE-BB60-464D-8F0E-7A1DD0A6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mastermind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06573FF-C1B2-4D9A-BACF-E831CD9B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290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Plans for approval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BC32811-839A-4C25-9DF6-EFB058CD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06E066D-055E-4EC3-B25A-D11F2FCE0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Implements and verifies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1D902FD-024C-40F6-A85F-435B644F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mugshot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8D6D38B-6A4D-4FEA-957F-0847F16F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434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Captures device evidence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137997B-11AB-463B-939A-DDAFBAE90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19EFCD8-6ABA-41CF-80EA-514DF1A3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Evaluates review feedback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8C272EE-38E4-40A5-8663-CDAC5A44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3875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55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saul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914DEE3-E347-42C3-BE58-C5AE3E7E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657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Communicates the result</a:t>
            </a:r>
          </a:p>
        </p:txBody>
      </p:sp>
      <p:sp>
        <p:nvSpPr>
          <p:cNvPr id="1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3B8114F-F594-4713-848C-7182874E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921857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8417F8DB-A507-4268-9D95-3752E57D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My engineering standards, written down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F475E6C-FCD6-4FC0-8A41-AE13FB1D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Michelin makes those standards part of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46CA04FB-AB34-46ED-AC7E-0DFEFD1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Reuse and consistency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6A6D40C-1202-461E-90DC-CB9E29A2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Build on existing code, patterns and tools.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7A27779-A7E9-47E0-8668-4D4BE3C5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Separation of concerns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C1408D3-2531-4547-A349-AADFA7EE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UI, state and business logic focused.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07B4298-4C72-4C99-A3B0-A1A4FCF7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94C7883-A16F-4DF0-A809-74A4E77F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Meaningful tests. Readable code. Verified results.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29B7FCAF-CF73-4F55-80B4-94E63E52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908763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414BAE52-0E22-4964-8BAF-F698480D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1E4335DA-490E-4F2E-A5DB-5ED4514B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4CDB8BE5-A643-4925-B120-B154BAE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E238DD8B-9E17-477F-A970-7EA0E530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5c02f70cb4b7c"/>
          <a:stretch xmlns:a="http://schemas.openxmlformats.org/drawingml/2006/main"/>
        </p:blipFill>
        <p:spPr>
          <a:xfrm xmlns:a="http://schemas.openxmlformats.org/drawingml/2006/main">
            <a:off x="1333500" y="2124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1919a59cd42ea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960ad715914c71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277b8674a4410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a83019a824970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782DB31-AD19-4C5C-9DD7-121EB8F5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0075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D220C8C8-1236-4575-8C98-8F5972BB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testing bar, written into the codebase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D1331B1-BE70-4A49-B30F-EB146A33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Protect what works. Raise the bar with every change.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64BA1AB-5849-4E13-A81A-42F35771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New code needs tests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2D7BE61-122B-41ED-9D4B-0D9B469CD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No test, no acceptance.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E11A309-8B47-46F3-B4DA-8B34E9A5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Bug fixes prove both cases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E874895-D677-401A-A3C3-459804DD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The test fails before the fix and passes after it.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73AEE9F-2BBA-4823-A261-54D47F45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Titles explain behaviour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B2803F2-1C21-4742-875C-2875ABA9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Name the expected result in plain language.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4CDC2C3-90AD-4367-AEF9-2E94AA07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The bar keeps rising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117D2F5-4BE0-4B1C-AE67-2EDC731D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existing checks passing. Add protection as we go.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CD05FAE-C572-4E13-80B6-4D731F61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48266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8643C34-5242-43CC-9F51-265CA6CF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113 to 1,669 unit-test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665329d62554a87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78E1C7F9-69ED-4015-B7E9-881C3205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1A286B42-AF2A-43F9-A868-3756E99C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59E98B96-DBA0-4C13-8E4D-D4899004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test-file inventory, January to September 2026. File count does not measure coverage.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B8F171D-04E4-4595-8EA1-FD3C1312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237798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E921C1F2-BE1C-474E-BE69-F9669057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77DB0398-4028-43AE-B759-06AF84DA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67A03D94-4142-4E07-8AC2-261F1961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81B2E4F2-16D3-4D10-B1CE-32FF1F16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35A7CB20-67DE-42A3-81D5-CC6D3AE6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A115FE66-D640-4190-819C-7DBC6C8C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2f77fdce44669"/>
          <a:stretch xmlns:a="http://schemas.openxmlformats.org/drawingml/2006/main"/>
        </p:blipFill>
        <p:spPr>
          <a:xfrm xmlns:a="http://schemas.openxmlformats.org/drawingml/2006/main">
            <a:off x="1333500" y="2886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8a439d4d147a0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ec999cad74ab8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bfe3197b04950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1D41B0B-CC88-47A1-AC48-EFC28CCC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271896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1FE16F8B-4676-41A3-9FD7-ADC618DB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Every PR goes through CI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AE1839C-4D2C-4C69-BDC4-B6CF169A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Failed checks block the pipeline until they pass.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0F99A68-2523-4B83-B719-931DCBEC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Run the checks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4EAF5CDE-D357-4A15-AF3D-E8F63D82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Lint, types, tests and build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4F13449-582F-48C2-8AE2-A2F9CBF4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Parole evaluates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09B3E09-E41F-41DD-BA2C-9E25AB41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Watch CI results. Investigate each failure.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07199D3-6C3B-4012-9EE2-22073083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Michelin fixes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8A2F261-0F02-4103-A8D5-8FC42E36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the correction. Commit, push and run again.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745E6D6-E72A-4678-B538-12243E13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The loop repeats until the required checks pass.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0194299-DD15-4518-9383-570C5B14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102133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2CA6CE29-108B-4151-9FA6-3B0C0F14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quality bar keeps rising</a:t>
            </a:r>
          </a:p>
        </p:txBody>
      </p:sp>
      <p:sp>
        <p:nvSpPr>
          <p:cNvPr id="2" name="Metric value">
            <a:extLst xmlns:a="http://schemas.openxmlformats.org/drawingml/2006/main">
              <a:ext uri="{FF2B5EF4-FFF2-40B4-BE49-F238E27FC236}">
                <a16:creationId xmlns:a16="http://schemas.microsoft.com/office/drawing/2014/main" id="{33F0C5CB-7B63-4340-9B18-4E6456B3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76525"/>
            <a:ext cx="10287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defRPr>
            </a:pPr>
            <a:r>
              <a:rPr sz="13200" b="0">
                <a:solidFill>
                  <a:srgbClr val="00786F"/>
                </a:solidFill>
                <a:latin typeface="Newsreader"/>
                <a:ea typeface="Newsreader"/>
                <a:cs typeface="Newsreader"/>
              </a:rPr>
              <a:t>72%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E7BDB36-B3D5-44CF-9304-86043749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Line coverage, September 2026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250B434-2C71-4BE1-A914-11BE399A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9993906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B5B03F65-CBC8-4616-9D84-D1277BA1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4884559A-72E5-475A-9818-A2938989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94BCA6E7-00E5-4DD4-84CE-0BA838BB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D0AD2C26-0C1F-4A02-8D76-855F0A5D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F2FB6489-6B98-436D-AF76-AB6B7D4D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0B7FFB4F-A917-44A2-BDDE-CB7BCBD7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4DE8CF8B-ED80-47FD-BDF3-15082470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BB4FDBE1-12D7-4176-B933-8525425D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4032ccdb2457d"/>
          <a:stretch xmlns:a="http://schemas.openxmlformats.org/drawingml/2006/main"/>
        </p:blipFill>
        <p:spPr>
          <a:xfrm xmlns:a="http://schemas.openxmlformats.org/drawingml/2006/main">
            <a:off x="1333500" y="3648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cdeb6e78445b9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3c5e5b03e4087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2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B8F45720-CA06-40BE-ACF2-C44B8B24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429841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C9B2501E-608F-4921-90A8-095A7DCE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Maestro checks the app while we sleep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230A4A10-4A20-4F5D-AB1A-E96E9CB1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Android and iOS, with evidence of every failure.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E7DC6E2-1275-443F-A90F-C6522094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22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E76EC5D-7B82-4F01-B341-8E72CA12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22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smoke tests.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23D37C1-07F5-47E9-8C37-264FA35C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671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2DCF61D-9E1D-4F21-A751-0CA12B20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Run the full end-to-end suite.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1927B0D-558D-4E99-AB61-AC8B2F25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failure blocks delivery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BAA642A-9223-4C45-B69D-D28427A1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72025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Fix it first. Watch the video and inspect the logs.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3FE3A02-C0EE-4CF9-AD0F-7F1C6E40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Attach recordings and logs so people and AI can investigate.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C5AE1854-E24E-40D1-B981-469FA415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6402876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CA82044-F3D2-4A82-8ECB-A2E0DDC4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14 to 225 Maestro YAML files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25e139d1ee458c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E42DAEA2-5BFC-4CF6-B05B-1A75B978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1582BD08-A791-4FEB-836C-7F474C7A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206AA904-FCB4-4F30-8DE7-E4B18950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Month-end Maestro YAML files, January to September 2026. Includes shared flows and suites.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347B2FB-9CF0-40C8-84DC-854ED907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2451307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4C794464-EED6-4F98-9E08-A08F49A2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5F84B27-B748-4AC5-811B-130E2325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02B580A4-19F8-4E08-B8E0-401B2C9E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D39D7607-303F-459E-8F69-1DA414E6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E53BFC2F-837E-4F3C-ADA8-5589E995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92A36FCC-CBEB-4C31-8F21-809EAAA3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3D4D8234-8368-4286-A38F-DB4EE76E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82A30ECE-EB73-417B-AB8D-68B9FBDC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1B15D9E0-4EC2-412F-95E9-1EFC0CEF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7DA33A54-5695-4D84-9A7A-DE9F5406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a7eb922074300"/>
          <a:stretch xmlns:a="http://schemas.openxmlformats.org/drawingml/2006/main"/>
        </p:blipFill>
        <p:spPr>
          <a:xfrm xmlns:a="http://schemas.openxmlformats.org/drawingml/2006/main">
            <a:off x="1333500" y="4410075"/>
            <a:ext cx="9334500" cy="1143000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089b2c21254640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7B3F13F5-112A-4E3C-957D-01A86E1D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2951341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20760945-0697-40D6-8DB5-A6AA54F9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Three AI reviewers. One mobile specialist.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679CAE1-C3B0-48D5-9B81-DB392B0E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Review feedback arrives without waiting days for a person.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79389B0D-AD91-4752-8710-C97F7A8C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CodeRabbit, Qodo, cubic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AEE69E0F-FF6C-4168-977E-CD093531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Three review perspectives on every PR.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207C237-91EF-44F0-ADBD-C724ADA1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Custom Cursor reviewer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6C9690F-7B08-435C-B310-78464A18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hourly review focused on React Native.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811330A-18F5-4192-9055-7946EE14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 shared quality bar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E3055D8-E985-4CD6-B289-31AC372E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All reviewers use the guidelines in the repository.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6B4C732-FACC-4495-9573-3D52BA89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19093878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509C1B13-6146-4381-BC9E-6467E461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Review guidelines live with the code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1B9057C1-AC1E-4AC7-9233-896127E8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Every AI reviewer starts with the same mobile context.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8E4D2FF-7635-485D-AF53-2346AB34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React Native standards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51210B8-4624-42F4-9519-53037C6D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best practices and platform behaviour.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508F265-A3D0-47A1-8611-B1FAFCEB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Engineering expectations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7E310D3-07FA-448D-A3D3-16A42FF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Reuse existing code. Separate concerns. Require tests.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320166C-A90C-4AB3-BD12-5575C19C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Guidelines evolve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4A868DEE-2E91-40FE-AF16-3E46C149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Clarify missed context and improve future reviews.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97912DBA-7877-4B15-AA47-D39C7C3C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3057738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D9DEE9C0-9F69-4DC3-A44E-C36046A6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7B9036F-8B24-4C5E-9BC0-D007BAD7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A7BD2E91-E187-42C0-99D7-E5F72601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28D05F98-DB0A-49AF-ABF4-3EDF8CB9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B6163F1E-8121-4686-B1E7-C0416190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8C14C502-40E4-434F-8849-11B8E4BA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C613CBB6-1B67-4BFA-865B-59584391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4F1A04CF-6818-4C2A-8CC8-7B4B52E8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AF47410F-2720-4099-8FB1-9AF8D9C7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5F300C54-1D35-429C-B3F8-79D1310D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3B3CB8F7-0F04-4874-B2C0-F8A01631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82EC4AC3-ED31-4883-8E07-11B559B0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33cd528724968"/>
          <a:stretch xmlns:a="http://schemas.openxmlformats.org/drawingml/2006/main"/>
        </p:blipFill>
        <p:spPr>
          <a:xfrm xmlns:a="http://schemas.openxmlformats.org/drawingml/2006/main">
            <a:off x="1333500" y="5172075"/>
            <a:ext cx="9334500" cy="1143000"/>
          </a:xfrm>
          <a:prstGeom xmlns:a="http://schemas.openxmlformats.org/drawingml/2006/main" prst="rect">
            <a:avLst/>
          </a:prstGeom>
        </p:spPr>
      </p:pic>
      <p:sp>
        <p:nvSpPr>
          <p:cNvPr id="1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04CDF84-E0BF-4216-807E-4F5D731F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3800367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">
            <a:extLst xmlns:a="http://schemas.openxmlformats.org/drawingml/2006/main">
              <a:ext uri="{FF2B5EF4-FFF2-40B4-BE49-F238E27FC236}">
                <a16:creationId xmlns:a16="http://schemas.microsoft.com/office/drawing/2014/main" id="{B6043D4E-264D-414E-83F7-554C71F4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Turn an issue into a regression check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BACF18E-81A4-4B76-8774-AA6B60C5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2336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01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BF6C977D-1B37-4CBD-A194-DB5F3715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2336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Investigate a recorded issue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32E95C9-345B-4010-9682-BFA84DDA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8432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0FD5669-DDF3-438C-B925-98104644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8432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Reproduce the relevant behaviour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4483677-766E-4AE9-898A-953589D1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4528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5675EC1-8A34-4A4E-B99C-57AB06A2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528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a bounded correction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58F4555-D14A-4016-81C6-42AA841A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624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04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2800D96-01A6-4398-9F3E-77745D32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624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Add a regression check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CA261FB-8648-419C-8D96-B4FEC145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72013"/>
            <a:ext cx="7905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05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49CEC6D-DCDD-4BB1-AF76-0DC35D7E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72013"/>
            <a:ext cx="962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7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Return evidence to review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7F77088-297B-48DD-AA20-FE4DEC91B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578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A resurfacing issue becomes a focused development task.</a:t>
            </a:r>
          </a:p>
        </p:txBody>
      </p:sp>
      <p:sp>
        <p:nvSpPr>
          <p:cNvPr id="13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ECC5B932-AB8B-4505-B135-E597ACAE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76079642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DF88359-A1C2-41C8-A441-C8A3A2ED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Fewer recorded errors, with variation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9fd70a437e45df"/>
          </a:graphicData>
        </a:graphic>
      </p:graphicFrame>
      <p:sp>
        <p:nvSpPr>
          <p:cNvPr id="3" name="Date label">
            <a:extLst xmlns:a="http://schemas.openxmlformats.org/drawingml/2006/main">
              <a:ext uri="{FF2B5EF4-FFF2-40B4-BE49-F238E27FC236}">
                <a16:creationId xmlns:a16="http://schemas.microsoft.com/office/drawing/2014/main" id="{5B2E91A6-D789-48D6-85FA-C98EA414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7 Jul</a:t>
            </a:r>
          </a:p>
        </p:txBody>
      </p:sp>
      <p:sp>
        <p:nvSpPr>
          <p:cNvPr id="4" name="Date label">
            <a:extLst xmlns:a="http://schemas.openxmlformats.org/drawingml/2006/main">
              <a:ext uri="{FF2B5EF4-FFF2-40B4-BE49-F238E27FC236}">
                <a16:creationId xmlns:a16="http://schemas.microsoft.com/office/drawing/2014/main" id="{93582CE6-ECDD-4331-B945-FFE9B118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4 Aug</a:t>
            </a:r>
          </a:p>
        </p:txBody>
      </p:sp>
      <p:sp>
        <p:nvSpPr>
          <p:cNvPr id="5" name="Date label">
            <a:extLst xmlns:a="http://schemas.openxmlformats.org/drawingml/2006/main">
              <a:ext uri="{FF2B5EF4-FFF2-40B4-BE49-F238E27FC236}">
                <a16:creationId xmlns:a16="http://schemas.microsoft.com/office/drawing/2014/main" id="{D7068799-FE5B-442D-BDD5-A36D6C4A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1 Sep</a:t>
            </a:r>
          </a:p>
        </p:txBody>
      </p:sp>
      <p:sp>
        <p:nvSpPr>
          <p:cNvPr id="6" name="Date label">
            <a:extLst xmlns:a="http://schemas.openxmlformats.org/drawingml/2006/main">
              <a:ext uri="{FF2B5EF4-FFF2-40B4-BE49-F238E27FC236}">
                <a16:creationId xmlns:a16="http://schemas.microsoft.com/office/drawing/2014/main" id="{44847058-4B98-4608-82E9-C138B127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5435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 Sep</a:t>
            </a:r>
          </a:p>
        </p:txBody>
      </p:sp>
      <p:sp>
        <p:nvSpPr>
          <p:cNvPr id="7" name="Methodology">
            <a:extLst xmlns:a="http://schemas.openxmlformats.org/drawingml/2006/main">
              <a:ext uri="{FF2B5EF4-FFF2-40B4-BE49-F238E27FC236}">
                <a16:creationId xmlns:a16="http://schemas.microsoft.com/office/drawing/2014/main" id="{A4113382-BEAE-417A-8BBE-5DA0E49B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Daily events, all environments. 7 July to 30 September 2026.</a:t>
            </a:r>
          </a:p>
          <a:p xmlns:a="http://schemas.openxmlformats.org/drawingml/2006/main">
            <a:pPr algn="l">
              <a:def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6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Fixes, filters and sampling affect counts. No usage denominator.</a:t>
            </a:r>
          </a:p>
        </p:txBody>
      </p:sp>
      <p:sp>
        <p:nvSpPr>
          <p:cNvPr id="8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733A80F-1CF3-4105-AD0C-32FDDBE0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4232015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mpleted section 0">
            <a:extLst xmlns:a="http://schemas.openxmlformats.org/drawingml/2006/main">
              <a:ext uri="{FF2B5EF4-FFF2-40B4-BE49-F238E27FC236}">
                <a16:creationId xmlns:a16="http://schemas.microsoft.com/office/drawing/2014/main" id="{C05BAAF9-C430-4B99-8790-EF4D9E46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9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01  Skills</a:t>
            </a:r>
          </a:p>
        </p:txBody>
      </p:sp>
      <p:sp>
        <p:nvSpPr>
          <p:cNvPr id="2" name="Section description 0">
            <a:extLst xmlns:a="http://schemas.openxmlformats.org/drawingml/2006/main">
              <a:ext uri="{FF2B5EF4-FFF2-40B4-BE49-F238E27FC236}">
                <a16:creationId xmlns:a16="http://schemas.microsoft.com/office/drawing/2014/main" id="{BA89438F-5273-43B7-B830-A6602047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9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good engineering habits repeatable.</a:t>
            </a:r>
          </a:p>
        </p:txBody>
      </p:sp>
      <p:sp>
        <p:nvSpPr>
          <p:cNvPr id="3" name="Completed section 1">
            <a:extLst xmlns:a="http://schemas.openxmlformats.org/drawingml/2006/main">
              <a:ext uri="{FF2B5EF4-FFF2-40B4-BE49-F238E27FC236}">
                <a16:creationId xmlns:a16="http://schemas.microsoft.com/office/drawing/2014/main" id="{F8B574E2-3928-4309-8EF5-B91B08FB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5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02  Testing</a:t>
            </a:r>
          </a:p>
        </p:txBody>
      </p:sp>
      <p:sp>
        <p:nvSpPr>
          <p:cNvPr id="4" name="Section description 1">
            <a:extLst xmlns:a="http://schemas.openxmlformats.org/drawingml/2006/main">
              <a:ext uri="{FF2B5EF4-FFF2-40B4-BE49-F238E27FC236}">
                <a16:creationId xmlns:a16="http://schemas.microsoft.com/office/drawing/2014/main" id="{80CFB9E1-11AB-43BB-802B-74C6D726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5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Make each check protect real behaviour.</a:t>
            </a:r>
          </a:p>
        </p:txBody>
      </p:sp>
      <p:sp>
        <p:nvSpPr>
          <p:cNvPr id="5" name="Completed section 2">
            <a:extLst xmlns:a="http://schemas.openxmlformats.org/drawingml/2006/main">
              <a:ext uri="{FF2B5EF4-FFF2-40B4-BE49-F238E27FC236}">
                <a16:creationId xmlns:a16="http://schemas.microsoft.com/office/drawing/2014/main" id="{B60279A3-48FB-4DFE-BE25-2E9E5CF1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14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03  CI</a:t>
            </a:r>
          </a:p>
        </p:txBody>
      </p:sp>
      <p:sp>
        <p:nvSpPr>
          <p:cNvPr id="6" name="Section description 2">
            <a:extLst xmlns:a="http://schemas.openxmlformats.org/drawingml/2006/main">
              <a:ext uri="{FF2B5EF4-FFF2-40B4-BE49-F238E27FC236}">
                <a16:creationId xmlns:a16="http://schemas.microsoft.com/office/drawing/2014/main" id="{F90C1663-2325-4625-BA03-DE1073F6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14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Check every PR. Block the pipeline on failure.</a:t>
            </a:r>
          </a:p>
        </p:txBody>
      </p:sp>
      <p:sp>
        <p:nvSpPr>
          <p:cNvPr id="7" name="Completed section 3">
            <a:extLst xmlns:a="http://schemas.openxmlformats.org/drawingml/2006/main">
              <a:ext uri="{FF2B5EF4-FFF2-40B4-BE49-F238E27FC236}">
                <a16:creationId xmlns:a16="http://schemas.microsoft.com/office/drawing/2014/main" id="{1EFDB821-2C3E-4B51-AD9C-4136ACF4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76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04  Device verification</a:t>
            </a:r>
          </a:p>
        </p:txBody>
      </p:sp>
      <p:sp>
        <p:nvSpPr>
          <p:cNvPr id="8" name="Section description 3">
            <a:extLst xmlns:a="http://schemas.openxmlformats.org/drawingml/2006/main">
              <a:ext uri="{FF2B5EF4-FFF2-40B4-BE49-F238E27FC236}">
                <a16:creationId xmlns:a16="http://schemas.microsoft.com/office/drawing/2014/main" id="{BD740E3D-0099-434B-9142-3BD37880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476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Maestro checks on iOS and Android. Failures block delivery.</a:t>
            </a:r>
          </a:p>
        </p:txBody>
      </p:sp>
      <p:sp>
        <p:nvSpPr>
          <p:cNvPr id="9" name="Completed section 4">
            <a:extLst xmlns:a="http://schemas.openxmlformats.org/drawingml/2006/main">
              <a:ext uri="{FF2B5EF4-FFF2-40B4-BE49-F238E27FC236}">
                <a16:creationId xmlns:a16="http://schemas.microsoft.com/office/drawing/2014/main" id="{73C550D0-6908-4E26-A2DA-2A31BAE5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05  AI reviewers</a:t>
            </a:r>
          </a:p>
        </p:txBody>
      </p:sp>
      <p:sp>
        <p:nvSpPr>
          <p:cNvPr id="10" name="Section description 4">
            <a:extLst xmlns:a="http://schemas.openxmlformats.org/drawingml/2006/main">
              <a:ext uri="{FF2B5EF4-FFF2-40B4-BE49-F238E27FC236}">
                <a16:creationId xmlns:a16="http://schemas.microsoft.com/office/drawing/2014/main" id="{CF5735D2-06F6-4E02-A390-0156BC8E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38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Three reviewers on every PR. Shared mobile guidelines.</a:t>
            </a:r>
          </a:p>
        </p:txBody>
      </p:sp>
      <p:sp>
        <p:nvSpPr>
          <p:cNvPr id="11" name="Completed section 5">
            <a:extLst xmlns:a="http://schemas.openxmlformats.org/drawingml/2006/main">
              <a:ext uri="{FF2B5EF4-FFF2-40B4-BE49-F238E27FC236}">
                <a16:creationId xmlns:a16="http://schemas.microsoft.com/office/drawing/2014/main" id="{A8D7A771-7737-4E2D-8961-5BF87DA6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00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defRPr>
            </a:pPr>
            <a:r>
              <a:rPr sz="2550" b="0">
                <a:solidFill>
                  <a:srgbClr val="536582"/>
                </a:solidFill>
                <a:latin typeface="Newsreader"/>
                <a:ea typeface="Newsreader"/>
                <a:cs typeface="Newsreader"/>
              </a:rPr>
              <a:t>06  Sentry</a:t>
            </a:r>
          </a:p>
        </p:txBody>
      </p:sp>
      <p:sp>
        <p:nvSpPr>
          <p:cNvPr id="12" name="Section description 5">
            <a:extLst xmlns:a="http://schemas.openxmlformats.org/drawingml/2006/main">
              <a:ext uri="{FF2B5EF4-FFF2-40B4-BE49-F238E27FC236}">
                <a16:creationId xmlns:a16="http://schemas.microsoft.com/office/drawing/2014/main" id="{4B7C41BB-52D6-4AA2-8907-A159254D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00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Turn production issues into the next regression check.</a:t>
            </a:r>
          </a:p>
        </p:txBody>
      </p:sp>
      <p:sp>
        <p:nvSpPr>
          <p:cNvPr id="13" name="Active section">
            <a:extLst xmlns:a="http://schemas.openxmlformats.org/drawingml/2006/main">
              <a:ext uri="{FF2B5EF4-FFF2-40B4-BE49-F238E27FC236}">
                <a16:creationId xmlns:a16="http://schemas.microsoft.com/office/drawing/2014/main" id="{580604DE-B98F-456E-B46C-16C24F87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62575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2550" b="1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07  Delivery</a:t>
            </a:r>
          </a:p>
        </p:txBody>
      </p:sp>
      <p:sp>
        <p:nvSpPr>
          <p:cNvPr id="14" name="Section description 6">
            <a:extLst xmlns:a="http://schemas.openxmlformats.org/drawingml/2006/main">
              <a:ext uri="{FF2B5EF4-FFF2-40B4-BE49-F238E27FC236}">
                <a16:creationId xmlns:a16="http://schemas.microsoft.com/office/drawing/2014/main" id="{32E89021-EC73-4EE8-A818-FFE6731A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7626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Ship small changes. Activate features separately.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BB63657-CE33-4A16-BCBE-7F33EDE5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4335740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460380AE-2F09-4083-945F-AEED0575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Canary builds and nightly betas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46E624A-9A94-4AB9-9E25-E7DB49ED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TestFlight for iOS. Test builds for Android.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FE80743-5D19-49E9-AAA3-792D06DD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669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After each PR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C3498E5-B588-4120-96E6-073AC1E76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669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 canary build to try the change.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3B0728C-DA84-4263-8BA8-94653DD2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13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Every night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F7B4BA6-3371-468C-8BB1-1626F57F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813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An automated beta build for testing.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DE1CCDD-8392-469A-90E0-1A7E7F2A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57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Side by side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0373CA5-B788-425E-88CD-3C89ED76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957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Install canary beside the normal app. Compare before and after.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2C242D0-84BC-49B2-8E61-71C0F6A4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018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Clear test instructions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1D20C1F-29FF-49A3-B8D4-C6CD2156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1018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Generated TestFlight notes explain what changed and what to test.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358824E-6FC7-4F2A-96B0-21D69AD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5518748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DC872620-6A05-48D6-8252-25E4FEC4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Release the code. Approve the flag.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6CF2C16-197C-4A75-B043-84128DD4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Small changes ship behind feature flags.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D3062DC-4A58-4526-A377-E73E8D4E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765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Small increments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815DCC3A-1C5F-4D97-9F43-5C80918F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765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Keep unfinished features hidden behind a flag.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4F0C6AA-BBDE-4223-BE9E-68CB97DB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14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Seamless releases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E068F94-B801-41A0-94FB-3CE1FD4A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14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Release verified code without the feature sign-off queue.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E377CBE-84D9-4B39-A165-126DA70B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6338"/>
            <a:ext cx="320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Focused approval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752BC83-F261-4349-8632-3C636D1C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86338"/>
            <a:ext cx="704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Approve activating the feature when it is ready.</a:t>
            </a:r>
          </a:p>
        </p:txBody>
      </p:sp>
      <p:sp>
        <p:nvSpPr>
          <p:cNvPr id="9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8FE2BD4-862E-40F6-BDB1-7C4A88CD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31186741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97EC86F-9BE0-442A-8803-D1E469D7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The development rhythm changed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723900" y="2381250"/>
          <a:ext xmlns:a="http://schemas.openxmlformats.org/drawingml/2006/main" cx="10744200" cy="3181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96c68d80c9455f"/>
          </a:graphicData>
        </a:graphic>
      </p:graphicFrame>
      <p:sp>
        <p:nvSpPr>
          <p:cNvPr id="3" name="April month marker">
            <a:extLst xmlns:a="http://schemas.openxmlformats.org/drawingml/2006/main">
              <a:ext uri="{FF2B5EF4-FFF2-40B4-BE49-F238E27FC236}">
                <a16:creationId xmlns:a16="http://schemas.microsoft.com/office/drawing/2014/main" id="{030D6A09-871B-40D6-A0C8-5676B6A3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81250"/>
            <a:ext cx="0" cy="2800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65F65"/>
            </a:solidFill>
            <a:prstDash val="dash"/>
          </a:ln>
        </p:spPr>
      </p:sp>
      <p:sp>
        <p:nvSpPr>
          <p:cNvPr id="4" name="April joining context">
            <a:extLst xmlns:a="http://schemas.openxmlformats.org/drawingml/2006/main">
              <a:ext uri="{FF2B5EF4-FFF2-40B4-BE49-F238E27FC236}">
                <a16:creationId xmlns:a16="http://schemas.microsoft.com/office/drawing/2014/main" id="{AE169E75-821C-4628-89B6-647FC15AD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Joined in April 2026</a:t>
            </a:r>
          </a:p>
        </p:txBody>
      </p:sp>
      <p:sp>
        <p:nvSpPr>
          <p:cNvPr id="5" name="Methodology">
            <a:extLst xmlns:a="http://schemas.openxmlformats.org/drawingml/2006/main">
              <a:ext uri="{FF2B5EF4-FFF2-40B4-BE49-F238E27FC236}">
                <a16:creationId xmlns:a16="http://schemas.microsoft.com/office/drawing/2014/main" id="{AB62B0F0-58BE-4428-A911-125A40ED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626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2026 app and design-system PRs across two repositories. Activity, not productivity.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6F8FB6-010E-4EE5-A9D5-CF6D8F9A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367428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E7EC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">
            <a:extLst xmlns:a="http://schemas.openxmlformats.org/drawingml/2006/main">
              <a:ext uri="{FF2B5EF4-FFF2-40B4-BE49-F238E27FC236}">
                <a16:creationId xmlns:a16="http://schemas.microsoft.com/office/drawing/2014/main" id="{55E25652-58CA-41B9-A064-E91D944E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7243B"/>
                </a:solidFill>
                <a:latin typeface="Newsreader"/>
                <a:ea typeface="Newsreader"/>
                <a:cs typeface="Newsreader"/>
              </a:rPr>
              <a:t>There’s another talk in what we left out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D359984-0866-4543-8C72-EDBBF632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A few months of change across the team, codebase and business.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1FEE05ED-5D4B-4FA4-91C0-1A5C1581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45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Design system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405F7A8-F5A3-4B08-9ABF-1D621D81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45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 shared UI language and a consistent quality bar.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564A504-2C46-44C9-8106-7E1D77FA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22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Monorepo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F1B3EE4-53D1-405A-A12C-787A3179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22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Shared code and coordinated changes.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A4E8D8A-EF4C-484D-A1F8-D0229792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99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Ways of working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7132C39-9C00-4D4F-8158-6D057491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099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Clearer ownership and everyday engineering habits.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0C8895A-992A-4BF9-9CFC-6A29E558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576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Product engineering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75F18F2-D4B9-449D-9FEC-7CD3242A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576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Broader ownership, from product decisions to delivery.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01C5F5F-6B81-4406-9D57-73320160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53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AI development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8C0D828-0F85-4E67-8E2B-1EEACF7F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053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Adoption across planning, code, review and verification.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1BF476A-ADD9-4E9B-9F88-474541C9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3088"/>
            <a:ext cx="320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1">
                <a:solidFill>
                  <a:srgbClr val="385782"/>
                </a:solidFill>
                <a:latin typeface="Satoshi Variable"/>
                <a:ea typeface="Satoshi Variable"/>
                <a:cs typeface="Satoshi Variable"/>
              </a:rPr>
              <a:t>An AI harness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C0EE493-49D8-4EB5-9D86-024AE6FA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53088"/>
            <a:ext cx="704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100" b="0">
                <a:solidFill>
                  <a:srgbClr val="17243B"/>
                </a:solidFill>
                <a:latin typeface="Satoshi Variable"/>
                <a:ea typeface="Satoshi Variable"/>
                <a:cs typeface="Satoshi Variable"/>
              </a:rPr>
              <a:t>Context, skills, tools and checks around the agents.</a:t>
            </a:r>
          </a:p>
        </p:txBody>
      </p:sp>
      <p:sp>
        <p:nvSpPr>
          <p:cNvPr id="15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0D00B43F-5DE6-4EEC-A677-1B0867EA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36582"/>
                </a:solidFill>
                <a:latin typeface="Satoshi Variable"/>
                <a:ea typeface="Satoshi Variable"/>
                <a:cs typeface="Satoshi Variable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36215928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956CF527-E5B1-4DF9-8597-ACCDF1C6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50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What I’d take into another team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6AB2AD8-7FB7-4442-B961-3C292DEC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07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Find the bottleneck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0A267835-0EA6-47F1-BE22-C99A8CA8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07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Start where repeated work slows delivery.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D0D98065-753D-4E78-AEDC-66A1858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51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Write down the bar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F68BD7A-CCF9-4961-8DC0-7DFBC13F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051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Make quality expectations clear to people and AI.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60866CBF-847A-48A7-A92A-B3670373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95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Close the feedback loop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8C8A38F-1B49-420E-A630-A0076EBA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195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Connect checks, evidence and fixes.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3B43B2A-08E0-4ADB-BF72-205749AB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3938"/>
            <a:ext cx="320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4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Adapt the rollout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0DC5A25-ADF0-4855-B85E-8B5AC628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33938"/>
            <a:ext cx="704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325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Choose tools and release rules that fit your team.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32748A8-94C5-4630-AB81-D51CAF06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67425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Keep the principles. Adapt the implementation.</a:t>
            </a:r>
          </a:p>
        </p:txBody>
      </p:sp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63DE109E-E704-4EF0-9352-A2B61F2D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49363931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">
            <a:extLst xmlns:a="http://schemas.openxmlformats.org/drawingml/2006/main">
              <a:ext uri="{FF2B5EF4-FFF2-40B4-BE49-F238E27FC236}">
                <a16:creationId xmlns:a16="http://schemas.microsoft.com/office/drawing/2014/main" id="{E7A29054-D104-4E91-94AE-B90935D2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defRPr>
            </a:pPr>
            <a:r>
              <a:rPr sz="4050" b="0">
                <a:solidFill>
                  <a:srgbClr val="15181B"/>
                </a:solidFill>
                <a:latin typeface="Newsreader"/>
                <a:ea typeface="Newsreader"/>
                <a:cs typeface="Newsreader"/>
              </a:rPr>
              <a:t>Confidence in AI-assisted development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000BDFE-1617-4C3B-A778-48561ECD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81150"/>
            <a:ext cx="10477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2250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Seven practices for mobile development. One continuous loop.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34F3374-6970-429D-A4D0-404125A1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Skills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1905D41-BE9D-4E92-8192-6406EC96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86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Repeat good engineering habits.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325EC75-ED9B-4A2B-922B-7A7E12EF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Testing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4A47415-BAA9-475E-813C-9EB74584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62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Protect behaviour with regression checks.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600D95B-B3B1-4233-B8F2-400609C5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CI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9ADF5BF-E126-4ACD-9B6A-AA4FDCA5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38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Check every PR. Block failures until fixed.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D75DF88-2480-4DCA-9D0A-FD3AA6EC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Device verification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EA93699-E4F8-43F6-998C-8896D7FF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147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Maestro smoke and nightly checks. Video evidence.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B8A9371-DB6D-4AD4-8AFB-E5F134F8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AI reviewers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9B0D063-47D4-4B65-B82A-2C87F906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910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Mobile guidelines. Evaluate feedback. Fix valid issues.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94C75BC-FE11-4C05-995B-618CFEAE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Sentry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DF5A8C6-3C4E-461B-9867-EC308CC5D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672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Turn production issues into regression checks.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70F7A9B-85BD-44A6-944A-34B053BC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1">
                <a:solidFill>
                  <a:srgbClr val="00786F"/>
                </a:solidFill>
                <a:latin typeface="Satoshi Variable"/>
                <a:ea typeface="Satoshi Variable"/>
                <a:cs typeface="Satoshi Variable"/>
              </a:rPr>
              <a:t>Delivery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DCF827A-2B3B-4361-94E4-7752B400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4352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800" b="0">
                <a:solidFill>
                  <a:srgbClr val="15181B"/>
                </a:solidFill>
                <a:latin typeface="Satoshi Variable"/>
                <a:ea typeface="Satoshi Variable"/>
                <a:cs typeface="Satoshi Variable"/>
              </a:rPr>
              <a:t>Canary per PR. Nightly beta. Feature flags.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d8290df7c41b3"/>
          <a:stretch xmlns:a="http://schemas.openxmlformats.org/drawingml/2006/main"/>
        </p:blipFill>
        <p:spPr>
          <a:xfrm xmlns:a="http://schemas.openxmlformats.org/drawingml/2006/main">
            <a:off x="9525000" y="309562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8" name="Share page">
            <a:extLst xmlns:a="http://schemas.openxmlformats.org/drawingml/2006/main">
              <a:ext uri="{FF2B5EF4-FFF2-40B4-BE49-F238E27FC236}">
                <a16:creationId xmlns:a16="http://schemas.microsoft.com/office/drawing/2014/main" id="{D2E8CFAE-BDC7-4FC8-A09E-D9F96B85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244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57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MrAdib.com/@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8DC234E6-2DE7-4B6A-A3E0-A721404E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Less repetitive QA. More confidence. Faster delivery.</a:t>
            </a:r>
          </a:p>
          <a:p xmlns:a="http://schemas.openxmlformats.org/drawingml/2006/main">
            <a:pPr algn="l">
              <a:def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7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John Adib · MrAdib.com</a:t>
            </a:r>
          </a:p>
        </p:txBody>
      </p:sp>
      <p:sp>
        <p:nvSpPr>
          <p:cNvPr id="2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415A4D83-44FA-46E1-8DE5-9A81AE84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484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defRPr>
            </a:pPr>
            <a:r>
              <a:rPr sz="1425" b="0">
                <a:solidFill>
                  <a:srgbClr val="565F65"/>
                </a:solidFill>
                <a:latin typeface="Satoshi Variable"/>
                <a:ea typeface="Satoshi Variable"/>
                <a:cs typeface="Satoshi Variable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1208819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2026-10-05T01:25:46.0300000Z</dcterms:created>
  <dcterms:modified xsi:type="dcterms:W3CDTF">2026-10-05T01:25:46.0300000Z</dcterms:modified>
</coreProperties>
</file>