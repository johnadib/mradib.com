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4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805ed74fc74f58" /><Relationship Type="http://schemas.openxmlformats.org/officeDocument/2006/relationships/extended-properties" Target="/docProps/app.xml" Id="R46e1f608ebad4e18" /><Relationship Type="http://schemas.openxmlformats.org/officeDocument/2006/relationships/officeDocument" Target="/ppt/presentation.xml" Id="Rc1c1054a199d4d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b9207cbafa4854"/>
  </p:sldMasterIdLst>
  <p:notesMasterIdLst>
    <p:notesMasterId xmlns:r="http://schemas.openxmlformats.org/officeDocument/2006/relationships" r:id="R7957f317abdc4581"/>
  </p:notesMasterIdLst>
  <p:sldIdLst>
    <p:sldId xmlns:r="http://schemas.openxmlformats.org/officeDocument/2006/relationships" id="256" r:id="R1994c819973849f2"/>
    <p:sldId xmlns:r="http://schemas.openxmlformats.org/officeDocument/2006/relationships" id="257" r:id="Rd00ce983781c4061"/>
    <p:sldId xmlns:r="http://schemas.openxmlformats.org/officeDocument/2006/relationships" id="258" r:id="R1b02719c9da64065"/>
    <p:sldId xmlns:r="http://schemas.openxmlformats.org/officeDocument/2006/relationships" id="259" r:id="R36f92ef057a541d0"/>
    <p:sldId xmlns:r="http://schemas.openxmlformats.org/officeDocument/2006/relationships" id="260" r:id="Rc6145fbbda4a4b8c"/>
    <p:sldId xmlns:r="http://schemas.openxmlformats.org/officeDocument/2006/relationships" id="261" r:id="Rffa4540e43474127"/>
    <p:sldId xmlns:r="http://schemas.openxmlformats.org/officeDocument/2006/relationships" id="262" r:id="Ra9921c2af0d64ed9"/>
    <p:sldId xmlns:r="http://schemas.openxmlformats.org/officeDocument/2006/relationships" id="263" r:id="R406b0995d983479a"/>
    <p:sldId xmlns:r="http://schemas.openxmlformats.org/officeDocument/2006/relationships" id="264" r:id="R682aae402602403b"/>
    <p:sldId xmlns:r="http://schemas.openxmlformats.org/officeDocument/2006/relationships" id="265" r:id="R5248af4aaf5e45df"/>
    <p:sldId xmlns:r="http://schemas.openxmlformats.org/officeDocument/2006/relationships" id="266" r:id="R3adabc427f7e4d4a"/>
    <p:sldId xmlns:r="http://schemas.openxmlformats.org/officeDocument/2006/relationships" id="267" r:id="R151cf0aa7e424ea3"/>
    <p:sldId xmlns:r="http://schemas.openxmlformats.org/officeDocument/2006/relationships" id="268" r:id="R1208bb77afe348f2"/>
    <p:sldId xmlns:r="http://schemas.openxmlformats.org/officeDocument/2006/relationships" id="269" r:id="R2236a163c18d4593"/>
    <p:sldId xmlns:r="http://schemas.openxmlformats.org/officeDocument/2006/relationships" id="270" r:id="R4ae1dcaa3ade4a4e"/>
    <p:sldId xmlns:r="http://schemas.openxmlformats.org/officeDocument/2006/relationships" id="271" r:id="R40cc0b6989b340a0"/>
    <p:sldId xmlns:r="http://schemas.openxmlformats.org/officeDocument/2006/relationships" id="272" r:id="R9cb1bdaeba054fa6"/>
    <p:sldId xmlns:r="http://schemas.openxmlformats.org/officeDocument/2006/relationships" id="273" r:id="R83f3e8683cdf4b6e"/>
    <p:sldId xmlns:r="http://schemas.openxmlformats.org/officeDocument/2006/relationships" id="274" r:id="Rc8e3cef4ea474e1c"/>
    <p:sldId xmlns:r="http://schemas.openxmlformats.org/officeDocument/2006/relationships" id="275" r:id="Re44298092a8142ce"/>
    <p:sldId xmlns:r="http://schemas.openxmlformats.org/officeDocument/2006/relationships" id="276" r:id="R13920298ec3e4761"/>
    <p:sldId xmlns:r="http://schemas.openxmlformats.org/officeDocument/2006/relationships" id="277" r:id="R459a63fe225f47ed"/>
    <p:sldId xmlns:r="http://schemas.openxmlformats.org/officeDocument/2006/relationships" id="278" r:id="R75568fb0593a4ebe"/>
    <p:sldId xmlns:r="http://schemas.openxmlformats.org/officeDocument/2006/relationships" id="279" r:id="R09fd8b6812a84ac8"/>
    <p:sldId xmlns:r="http://schemas.openxmlformats.org/officeDocument/2006/relationships" id="280" r:id="R73f8fb79ad394650"/>
    <p:sldId xmlns:r="http://schemas.openxmlformats.org/officeDocument/2006/relationships" id="281" r:id="R85285ee7d2614d51"/>
    <p:sldId xmlns:r="http://schemas.openxmlformats.org/officeDocument/2006/relationships" id="282" r:id="R8786eea9661645b8"/>
    <p:sldId xmlns:r="http://schemas.openxmlformats.org/officeDocument/2006/relationships" id="283" r:id="R5dc553d066364a0d"/>
    <p:sldId xmlns:r="http://schemas.openxmlformats.org/officeDocument/2006/relationships" id="284" r:id="Rd81eb36d58c247e9"/>
    <p:sldId xmlns:r="http://schemas.openxmlformats.org/officeDocument/2006/relationships" id="285" r:id="R0ad615dc10dc4fa2"/>
    <p:sldId xmlns:r="http://schemas.openxmlformats.org/officeDocument/2006/relationships" id="286" r:id="R9f12fef01ead4464"/>
    <p:sldId xmlns:r="http://schemas.openxmlformats.org/officeDocument/2006/relationships" id="287" r:id="R2e5c92ce8f0040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8979dde30a4139" /><Relationship Type="http://schemas.openxmlformats.org/officeDocument/2006/relationships/slideMaster" Target="/ppt/slideMasters/slideMaster1.xml" Id="R34b9207cbafa4854" /><Relationship Type="http://schemas.openxmlformats.org/officeDocument/2006/relationships/notesMaster" Target="/ppt/notesMasters/notesMaster1.xml" Id="R7957f317abdc4581" /><Relationship Type="http://schemas.openxmlformats.org/officeDocument/2006/relationships/presProps" Target="/ppt/presProps.xml" Id="R686615354f5b4ff6" /><Relationship Type="http://schemas.openxmlformats.org/officeDocument/2006/relationships/tableStyles" Target="/ppt/tableStyles.xml" Id="R5986b2639daa4698" /><Relationship Type="http://schemas.openxmlformats.org/officeDocument/2006/relationships/slide" Target="/ppt/slides/slide1.xml" Id="R1994c819973849f2" /><Relationship Type="http://schemas.openxmlformats.org/officeDocument/2006/relationships/slide" Target="/ppt/slides/slide2.xml" Id="Rd00ce983781c4061" /><Relationship Type="http://schemas.openxmlformats.org/officeDocument/2006/relationships/slide" Target="/ppt/slides/slide3.xml" Id="R1b02719c9da64065" /><Relationship Type="http://schemas.openxmlformats.org/officeDocument/2006/relationships/slide" Target="/ppt/slides/slide4.xml" Id="R36f92ef057a541d0" /><Relationship Type="http://schemas.openxmlformats.org/officeDocument/2006/relationships/slide" Target="/ppt/slides/slide5.xml" Id="Rc6145fbbda4a4b8c" /><Relationship Type="http://schemas.openxmlformats.org/officeDocument/2006/relationships/slide" Target="/ppt/slides/slide6.xml" Id="Rffa4540e43474127" /><Relationship Type="http://schemas.openxmlformats.org/officeDocument/2006/relationships/slide" Target="/ppt/slides/slide7.xml" Id="Ra9921c2af0d64ed9" /><Relationship Type="http://schemas.openxmlformats.org/officeDocument/2006/relationships/slide" Target="/ppt/slides/slide8.xml" Id="R406b0995d983479a" /><Relationship Type="http://schemas.openxmlformats.org/officeDocument/2006/relationships/slide" Target="/ppt/slides/slide9.xml" Id="R682aae402602403b" /><Relationship Type="http://schemas.openxmlformats.org/officeDocument/2006/relationships/slide" Target="/ppt/slides/slide10.xml" Id="R5248af4aaf5e45df" /><Relationship Type="http://schemas.openxmlformats.org/officeDocument/2006/relationships/slide" Target="/ppt/slides/slide11.xml" Id="R3adabc427f7e4d4a" /><Relationship Type="http://schemas.openxmlformats.org/officeDocument/2006/relationships/slide" Target="/ppt/slides/slide12.xml" Id="R151cf0aa7e424ea3" /><Relationship Type="http://schemas.openxmlformats.org/officeDocument/2006/relationships/slide" Target="/ppt/slides/slide13.xml" Id="R1208bb77afe348f2" /><Relationship Type="http://schemas.openxmlformats.org/officeDocument/2006/relationships/slide" Target="/ppt/slides/slide14.xml" Id="R2236a163c18d4593" /><Relationship Type="http://schemas.openxmlformats.org/officeDocument/2006/relationships/slide" Target="/ppt/slides/slide15.xml" Id="R4ae1dcaa3ade4a4e" /><Relationship Type="http://schemas.openxmlformats.org/officeDocument/2006/relationships/slide" Target="/ppt/slides/slide16.xml" Id="R40cc0b6989b340a0" /><Relationship Type="http://schemas.openxmlformats.org/officeDocument/2006/relationships/slide" Target="/ppt/slides/slide17.xml" Id="R9cb1bdaeba054fa6" /><Relationship Type="http://schemas.openxmlformats.org/officeDocument/2006/relationships/slide" Target="/ppt/slides/slide18.xml" Id="R83f3e8683cdf4b6e" /><Relationship Type="http://schemas.openxmlformats.org/officeDocument/2006/relationships/slide" Target="/ppt/slides/slide19.xml" Id="Rc8e3cef4ea474e1c" /><Relationship Type="http://schemas.openxmlformats.org/officeDocument/2006/relationships/slide" Target="/ppt/slides/slide20.xml" Id="Re44298092a8142ce" /><Relationship Type="http://schemas.openxmlformats.org/officeDocument/2006/relationships/slide" Target="/ppt/slides/slide21.xml" Id="R13920298ec3e4761" /><Relationship Type="http://schemas.openxmlformats.org/officeDocument/2006/relationships/slide" Target="/ppt/slides/slide22.xml" Id="R459a63fe225f47ed" /><Relationship Type="http://schemas.openxmlformats.org/officeDocument/2006/relationships/slide" Target="/ppt/slides/slide23.xml" Id="R75568fb0593a4ebe" /><Relationship Type="http://schemas.openxmlformats.org/officeDocument/2006/relationships/slide" Target="/ppt/slides/slide24.xml" Id="R09fd8b6812a84ac8" /><Relationship Type="http://schemas.openxmlformats.org/officeDocument/2006/relationships/slide" Target="/ppt/slides/slide25.xml" Id="R73f8fb79ad394650" /><Relationship Type="http://schemas.openxmlformats.org/officeDocument/2006/relationships/slide" Target="/ppt/slides/slide26.xml" Id="R85285ee7d2614d51" /><Relationship Type="http://schemas.openxmlformats.org/officeDocument/2006/relationships/slide" Target="/ppt/slides/slide27.xml" Id="R8786eea9661645b8" /><Relationship Type="http://schemas.openxmlformats.org/officeDocument/2006/relationships/slide" Target="/ppt/slides/slide28.xml" Id="R5dc553d066364a0d" /><Relationship Type="http://schemas.openxmlformats.org/officeDocument/2006/relationships/slide" Target="/ppt/slides/slide29.xml" Id="Rd81eb36d58c247e9" /><Relationship Type="http://schemas.openxmlformats.org/officeDocument/2006/relationships/slide" Target="/ppt/slides/slide30.xml" Id="R0ad615dc10dc4fa2" /><Relationship Type="http://schemas.openxmlformats.org/officeDocument/2006/relationships/slide" Target="/ppt/slides/slide31.xml" Id="R9f12fef01ead4464" /><Relationship Type="http://schemas.openxmlformats.org/officeDocument/2006/relationships/slide" Target="/ppt/slides/slide32.xml" Id="R2e5c92ce8f0040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c1f86dd64d43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b25a0523dd4be0" /><Relationship Type="http://schemas.openxmlformats.org/officeDocument/2006/relationships/notesMaster" Target="/ppt/notesMasters/notesMaster1.xml" Id="R8026aebb55484c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c628c5e9b14df5" /><Relationship Type="http://schemas.openxmlformats.org/officeDocument/2006/relationships/notesMaster" Target="/ppt/notesMasters/notesMaster1.xml" Id="Rbcfcba78715347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9848d8360241c4" /><Relationship Type="http://schemas.openxmlformats.org/officeDocument/2006/relationships/notesMaster" Target="/ppt/notesMasters/notesMaster1.xml" Id="R09c8cf9637274f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58b6871a5d94c8b" /><Relationship Type="http://schemas.openxmlformats.org/officeDocument/2006/relationships/notesMaster" Target="/ppt/notesMasters/notesMaster1.xml" Id="R15b5e5b8448748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d91041d5ca40c8" /><Relationship Type="http://schemas.openxmlformats.org/officeDocument/2006/relationships/notesMaster" Target="/ppt/notesMasters/notesMaster1.xml" Id="Rbc64d19b0b5549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421533ec0d4f8b" /><Relationship Type="http://schemas.openxmlformats.org/officeDocument/2006/relationships/notesMaster" Target="/ppt/notesMasters/notesMaster1.xml" Id="Rf84614b2c10c40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4df93dc965404d" /><Relationship Type="http://schemas.openxmlformats.org/officeDocument/2006/relationships/notesMaster" Target="/ppt/notesMasters/notesMaster1.xml" Id="R6c9f1de49c8f4c3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5dcf2d556b3480c" /><Relationship Type="http://schemas.openxmlformats.org/officeDocument/2006/relationships/notesMaster" Target="/ppt/notesMasters/notesMaster1.xml" Id="R86c5c84a38e74e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5916c280e94411" /><Relationship Type="http://schemas.openxmlformats.org/officeDocument/2006/relationships/notesMaster" Target="/ppt/notesMasters/notesMaster1.xml" Id="R44db072eac194c1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8a2f550a14c440a" /><Relationship Type="http://schemas.openxmlformats.org/officeDocument/2006/relationships/notesMaster" Target="/ppt/notesMasters/notesMaster1.xml" Id="R4f2216ea351b47f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ca990629fac4348" /><Relationship Type="http://schemas.openxmlformats.org/officeDocument/2006/relationships/notesMaster" Target="/ppt/notesMasters/notesMaster1.xml" Id="Rf4318fa2c1c2422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fc6f8ef40f147f8" /><Relationship Type="http://schemas.openxmlformats.org/officeDocument/2006/relationships/notesMaster" Target="/ppt/notesMasters/notesMaster1.xml" Id="R0985ea3066ad4ea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b326079db144f2e" /><Relationship Type="http://schemas.openxmlformats.org/officeDocument/2006/relationships/notesMaster" Target="/ppt/notesMasters/notesMaster1.xml" Id="Rec9e6901c04c469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a9c3f559e6142c4" /><Relationship Type="http://schemas.openxmlformats.org/officeDocument/2006/relationships/notesMaster" Target="/ppt/notesMasters/notesMaster1.xml" Id="R65b20e4199f04db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2e1d844c2ba49c7" /><Relationship Type="http://schemas.openxmlformats.org/officeDocument/2006/relationships/notesMaster" Target="/ppt/notesMasters/notesMaster1.xml" Id="Rbd946fd7872f4d1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255081b467643b8" /><Relationship Type="http://schemas.openxmlformats.org/officeDocument/2006/relationships/notesMaster" Target="/ppt/notesMasters/notesMaster1.xml" Id="R329844810ac74b0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289b15388284bd4" /><Relationship Type="http://schemas.openxmlformats.org/officeDocument/2006/relationships/notesMaster" Target="/ppt/notesMasters/notesMaster1.xml" Id="R75b73ae11ce6457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efc4fb2fae24733" /><Relationship Type="http://schemas.openxmlformats.org/officeDocument/2006/relationships/notesMaster" Target="/ppt/notesMasters/notesMaster1.xml" Id="Re3590674986b472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6e956cf1458422e" /><Relationship Type="http://schemas.openxmlformats.org/officeDocument/2006/relationships/notesMaster" Target="/ppt/notesMasters/notesMaster1.xml" Id="Rf6ebde94f09b420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df707715b6c4566" /><Relationship Type="http://schemas.openxmlformats.org/officeDocument/2006/relationships/notesMaster" Target="/ppt/notesMasters/notesMaster1.xml" Id="Ra8e061c804f0455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bf486a7e68a48a6" /><Relationship Type="http://schemas.openxmlformats.org/officeDocument/2006/relationships/notesMaster" Target="/ppt/notesMasters/notesMaster1.xml" Id="Rec0c6bac6adc457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ae770d65ae246b1" /><Relationship Type="http://schemas.openxmlformats.org/officeDocument/2006/relationships/notesMaster" Target="/ppt/notesMasters/notesMaster1.xml" Id="R765a9ae648f04dc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a06cbf86766471e" /><Relationship Type="http://schemas.openxmlformats.org/officeDocument/2006/relationships/notesMaster" Target="/ppt/notesMasters/notesMaster1.xml" Id="R2fcf983e44774ac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8b19bfd4d2c4b4c" /><Relationship Type="http://schemas.openxmlformats.org/officeDocument/2006/relationships/notesMaster" Target="/ppt/notesMasters/notesMaster1.xml" Id="R79c2585bc96b414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254f9e4c79a422f" /><Relationship Type="http://schemas.openxmlformats.org/officeDocument/2006/relationships/notesMaster" Target="/ppt/notesMasters/notesMaster1.xml" Id="Ra93ce5c86631429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bd3e8711b62409c" /><Relationship Type="http://schemas.openxmlformats.org/officeDocument/2006/relationships/notesMaster" Target="/ppt/notesMasters/notesMaster1.xml" Id="R281116169e854ee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becc35bc22246ec" /><Relationship Type="http://schemas.openxmlformats.org/officeDocument/2006/relationships/notesMaster" Target="/ppt/notesMasters/notesMaster1.xml" Id="R01a2b9274f7945d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9f5886247a44aa4" /><Relationship Type="http://schemas.openxmlformats.org/officeDocument/2006/relationships/notesMaster" Target="/ppt/notesMasters/notesMaster1.xml" Id="R7114da57a4f144e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d4e33e87d984510" /><Relationship Type="http://schemas.openxmlformats.org/officeDocument/2006/relationships/notesMaster" Target="/ppt/notesMasters/notesMaster1.xml" Id="Rf855cbf85b2c41b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6b1fb01a0fb44a3" /><Relationship Type="http://schemas.openxmlformats.org/officeDocument/2006/relationships/notesMaster" Target="/ppt/notesMasters/notesMaster1.xml" Id="Rc13ff6f4779a48c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33ad69dcb89442f" /><Relationship Type="http://schemas.openxmlformats.org/officeDocument/2006/relationships/notesMaster" Target="/ppt/notesMasters/notesMaster1.xml" Id="R93ceb9213813424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00abf78e0c64c6a" /><Relationship Type="http://schemas.openxmlformats.org/officeDocument/2006/relationships/notesMaster" Target="/ppt/notesMasters/notesMaster1.xml" Id="R7e0d784e4fb84b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 finished. Confidence missing.</a:t>
            </a:r>
          </a:p>
          <a:p xmlns:a="http://schemas.openxmlformats.org/drawingml/2006/main">
            <a:r>
              <a:t>• React Native + AI adoption</a:t>
            </a:r>
          </a:p>
          <a:p xmlns:a="http://schemas.openxmlformats.org/drawingml/2006/main">
            <a:r>
              <a:t>• Verification inside everyday development</a:t>
            </a:r>
          </a:p>
          <a:p xmlns:a="http://schemas.openxmlformats.org/drawingml/2006/main">
            <a:r>
              <a:t>• John Adib · MrAdib.com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</a:t>
            </a:r>
          </a:p>
          <a:p xmlns:a="http://schemas.openxmlformats.org/drawingml/2006/main">
            <a:r>
              <a:t>• Previously checked behaviour breaks again</a:t>
            </a:r>
          </a:p>
          <a:p xmlns:a="http://schemas.openxmlformats.org/drawingml/2006/main">
            <a:r>
              <a:t>• Repeated work. Falling confidence.</a:t>
            </a:r>
          </a:p>
          <a:p xmlns:a="http://schemas.openxmlformats.org/drawingml/2006/main">
            <a:r>
              <a:t>• First-hand experience, not an incident-rate metric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Small unit-test suite</a:t>
            </a:r>
          </a:p>
          <a:p xmlns:a="http://schemas.openxmlformats.org/drawingml/2006/main">
            <a:r>
              <a:t>• End-to-end checks outside CI</a:t>
            </a:r>
          </a:p>
          <a:p xmlns:a="http://schemas.openxmlformats.org/drawingml/2006/main">
            <a:r>
              <a:t>• Nobody ran them</a:t>
            </a:r>
          </a:p>
          <a:p xmlns:a="http://schemas.openxmlformats.org/drawingml/2006/main">
            <a:r>
              <a:t>• Files existed. Reliable feedback did not.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More than three days of app QA</a:t>
            </a:r>
          </a:p>
          <a:p xmlns:a="http://schemas.openxmlformats.org/drawingml/2006/main">
            <a:r>
              <a:t>• Engineering, product, UX/design</a:t>
            </a:r>
          </a:p>
          <a:p xmlns:a="http://schemas.openxmlformats.org/drawingml/2006/main">
            <a:r>
              <a:t>• Many people pause their own work</a:t>
            </a:r>
          </a:p>
          <a:p xmlns:a="http://schemas.openxmlformats.org/drawingml/2006/main">
            <a:r>
              <a:t>• The cost: interrupted progress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Days waiting for approval</a:t>
            </a:r>
          </a:p>
          <a:p xmlns:a="http://schemas.openxmlformats.org/drawingml/2006/main">
            <a:r>
              <a:t>• Sign-off chain holds the whole release</a:t>
            </a:r>
          </a:p>
          <a:p xmlns:a="http://schemas.openxmlformats.org/drawingml/2006/main">
            <a:r>
              <a:t>• One feature delays other work</a:t>
            </a:r>
          </a:p>
          <a:p xmlns:a="http://schemas.openxmlformats.org/drawingml/2006/main">
            <a:r>
              <a:t>• Later: approve the feature flag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Existing projects delayed over a quarter</a:t>
            </a:r>
          </a:p>
          <a:p xmlns:a="http://schemas.openxmlformats.org/drawingml/2006/main">
            <a:r>
              <a:t>• Regression work + slow QA + release queues</a:t>
            </a:r>
          </a:p>
          <a:p xmlns:a="http://schemas.openxmlformats.org/drawingml/2006/main">
            <a:r>
              <a:t>• Backlog uncertainty</a:t>
            </a:r>
          </a:p>
          <a:p xmlns:a="http://schemas.openxmlformats.org/drawingml/2006/main">
            <a:r>
              <a:t>• Process problem, not individual blame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John Adib · London</a:t>
            </a:r>
          </a:p>
          <a:p xmlns:a="http://schemas.openxmlformats.org/drawingml/2006/main">
            <a:r>
              <a:t>• 2× co-founder. Former CTO. 18 years.</a:t>
            </a:r>
          </a:p>
          <a:p xmlns:a="http://schemas.openxmlformats.org/drawingml/2006/main">
            <a:r>
              <a:t>• Engineering leader + mentor</a:t>
            </a:r>
          </a:p>
          <a:p xmlns:a="http://schemas.openxmlformats.org/drawingml/2006/main">
            <a:r>
              <a:t>• Product engineering. Broader ownership.</a:t>
            </a:r>
          </a:p>
          <a:p xmlns:a="http://schemas.openxmlformats.org/drawingml/2006/main">
            <a:r>
              <a:t>• I love moving mountains.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Repeat the good engineering habits</a:t>
            </a:r>
          </a:p>
          <a:p xmlns:a="http://schemas.openxmlformats.org/drawingml/2006/main">
            <a:r>
              <a:t>• AI adoption includes verification</a:t>
            </a:r>
          </a:p>
          <a:p xmlns:a="http://schemas.openxmlformats.org/drawingml/2006/main">
            <a:r>
              <a:t>• Seven changes, one development loop</a:t>
            </a:r>
          </a:p>
          <a:p xmlns:a="http://schemas.openxmlformats.org/drawingml/2006/main">
            <a:r>
              <a:t>• First: reusable 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cook: coordinate; sherlock: discover</a:t>
            </a:r>
          </a:p>
          <a:p xmlns:a="http://schemas.openxmlformats.org/drawingml/2006/main">
            <a:r>
              <a:t>• dig: research; mastermind: plan</a:t>
            </a:r>
          </a:p>
          <a:p xmlns:a="http://schemas.openxmlformats.org/drawingml/2006/main">
            <a:r>
              <a:t>• michelin: implement; mugshot: capture</a:t>
            </a:r>
          </a:p>
          <a:p xmlns:a="http://schemas.openxmlformats.org/drawingml/2006/main">
            <a:r>
              <a:t>• parole: evaluate feedback; saul: communicate</a:t>
            </a:r>
          </a:p>
          <a:p xmlns:a="http://schemas.openxmlformats.org/drawingml/2006/main">
            <a:r>
              <a:t>• One workflow. Focus next on Michelin.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18 years of engineering judgement, written down</a:t>
            </a:r>
          </a:p>
          <a:p xmlns:a="http://schemas.openxmlformats.org/drawingml/2006/main">
            <a:r>
              <a:t>• Reuse: code, components, patterns, tools</a:t>
            </a:r>
          </a:p>
          <a:p xmlns:a="http://schemas.openxmlformats.org/drawingml/2006/main">
            <a:r>
              <a:t>• Separation: UI, state, business decisions</a:t>
            </a:r>
          </a:p>
          <a:p xmlns:a="http://schemas.openxmlformats.org/drawingml/2006/main">
            <a:r>
              <a:t>• Quality: tests, readability, actual check results</a:t>
            </a:r>
          </a:p>
          <a:p xmlns:a="http://schemas.openxmlformats.org/drawingml/2006/main">
            <a:r>
              <a:t>• Shared standards for implementation and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meaningful tests</a:t>
            </a:r>
          </a:p>
          <a:p xmlns:a="http://schemas.openxmlformats.org/drawingml/2006/main">
            <a:r>
              <a:t>• Expected behaviour + failure case</a:t>
            </a:r>
          </a:p>
          <a:p xmlns:a="http://schemas.openxmlformats.org/drawingml/2006/main">
            <a:r>
              <a:t>• Every correction leaves protection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Before editing: read the testing guidelines</a:t>
            </a:r>
          </a:p>
          <a:p xmlns:a="http://schemas.openxmlformats.org/drawingml/2006/main">
            <a:r>
              <a:t>• New code must include meaningful tests</a:t>
            </a:r>
          </a:p>
          <a:p xmlns:a="http://schemas.openxmlformats.org/drawingml/2006/main">
            <a:r>
              <a:t>• Bug fix: reproduce failure, prove the fix, preserve working behaviour</a:t>
            </a:r>
          </a:p>
          <a:p xmlns:a="http://schemas.openxmlformats.org/drawingml/2006/main">
            <a:r>
              <a:t>• Human-readable test titles help people and AI understand intent</a:t>
            </a:r>
          </a:p>
          <a:p xmlns:a="http://schemas.openxmlformats.org/drawingml/2006/main">
            <a:r>
              <a:t>• Never lower the bar. Raise it gradually.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April: 113 files. September: 1,669 files.</a:t>
            </a:r>
          </a:p>
          <a:p xmlns:a="http://schemas.openxmlformats.org/drawingml/2006/main">
            <a:r>
              <a:t>• Dashed line: joined in April</a:t>
            </a:r>
          </a:p>
          <a:p xmlns:a="http://schemas.openxmlformats.org/drawingml/2006/main">
            <a:r>
              <a:t>• More protection added as the product evolves</a:t>
            </a:r>
          </a:p>
          <a:p xmlns:a="http://schemas.openxmlformats.org/drawingml/2006/main">
            <a:r>
              <a:t>• Same application across a repository move</a:t>
            </a:r>
          </a:p>
          <a:p xmlns:a="http://schemas.openxmlformats.org/drawingml/2006/main">
            <a:r>
              <a:t>• Files can contain many tests. Coverage is a separate measure.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CI on every PR</a:t>
            </a:r>
          </a:p>
          <a:p xmlns:a="http://schemas.openxmlformats.org/drawingml/2006/main">
            <a:r>
              <a:t>• Lint, types, tests and build</a:t>
            </a:r>
          </a:p>
          <a:p xmlns:a="http://schemas.openxmlformats.org/drawingml/2006/main">
            <a:r>
              <a:t>• Failed checks block the pipeline</a:t>
            </a:r>
          </a:p>
          <a:p xmlns:a="http://schemas.openxmlformats.org/drawingml/2006/main">
            <a:r>
              <a:t>• Parole watches results. Michelin makes valid fixes.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Automated CI on every PR</a:t>
            </a:r>
          </a:p>
          <a:p xmlns:a="http://schemas.openxmlformats.org/drawingml/2006/main">
            <a:r>
              <a:t>• Parole continuously checks the results</a:t>
            </a:r>
          </a:p>
          <a:p xmlns:a="http://schemas.openxmlformats.org/drawingml/2006/main">
            <a:r>
              <a:t>• Evaluate the failure and pass valid work to Michelin</a:t>
            </a:r>
          </a:p>
          <a:p xmlns:a="http://schemas.openxmlformats.org/drawingml/2006/main">
            <a:r>
              <a:t>• Michelin fixes, commits and pushes</a:t>
            </a:r>
          </a:p>
          <a:p xmlns:a="http://schemas.openxmlformats.org/drawingml/2006/main">
            <a:r>
              <a:t>• New commit triggers CI and another review. Repeat until clear.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 snapshot: 72% line coverage</a:t>
            </a:r>
          </a:p>
          <a:p xmlns:a="http://schemas.openxmlformats.org/drawingml/2006/main">
            <a:r>
              <a:t>• Coverage means lines executed during tests</a:t>
            </a:r>
          </a:p>
          <a:p xmlns:a="http://schemas.openxmlformats.org/drawingml/2006/main">
            <a:r>
              <a:t>• 1,669 files: month-end repository inventory</a:t>
            </a:r>
          </a:p>
          <a:p xmlns:a="http://schemas.openxmlformats.org/drawingml/2006/main">
            <a:r>
              <a:t>• 1,351 suites and 7,693 individual tests: one CI run</a:t>
            </a:r>
          </a:p>
          <a:p xmlns:a="http://schemas.openxmlformats.org/drawingml/2006/main">
            <a:r>
              <a:t>• Different units and snapshots. No measured zero-coverage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Maestro, the end-to-end testing tool</a:t>
            </a:r>
          </a:p>
          <a:p xmlns:a="http://schemas.openxmlformats.org/drawingml/2006/main">
            <a:r>
              <a:t>• Android and iOS</a:t>
            </a:r>
          </a:p>
          <a:p xmlns:a="http://schemas.openxmlformats.org/drawingml/2006/main">
            <a:r>
              <a:t>• Smoke checks on every PR</a:t>
            </a:r>
          </a:p>
          <a:p xmlns:a="http://schemas.openxmlformats.org/drawingml/2006/main">
            <a:r>
              <a:t>• Full suite overnight</a:t>
            </a:r>
          </a:p>
          <a:p xmlns:a="http://schemas.openxmlformats.org/drawingml/2006/main">
            <a:r>
              <a:t>• Failed nightly checks block delivery until fixed.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Smoke tests on every PR</a:t>
            </a:r>
          </a:p>
          <a:p xmlns:a="http://schemas.openxmlformats.org/drawingml/2006/main">
            <a:r>
              <a:t>• Full suite nightly on Android and iOS</a:t>
            </a:r>
          </a:p>
          <a:p xmlns:a="http://schemas.openxmlformats.org/drawingml/2006/main">
            <a:r>
              <a:t>• Morning starts with the nightly result</a:t>
            </a:r>
          </a:p>
          <a:p xmlns:a="http://schemas.openxmlformats.org/drawingml/2006/main">
            <a:r>
              <a:t>• A failed run blocks the release pipeline until fixed</a:t>
            </a:r>
          </a:p>
          <a:p xmlns:a="http://schemas.openxmlformats.org/drawingml/2006/main">
            <a:r>
              <a:t>• Maestro video + logs give the AI agent evidence to investigate.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14 YAML files through April; 225 by September</a:t>
            </a:r>
          </a:p>
          <a:p xmlns:a="http://schemas.openxmlformats.org/drawingml/2006/main">
            <a:r>
              <a:t>• Leaf flows + shared setup + suite entrypoints</a:t>
            </a:r>
          </a:p>
          <a:p xmlns:a="http://schemas.openxmlformats.org/drawingml/2006/main">
            <a:r>
              <a:t>• Runnable checks connected to development</a:t>
            </a:r>
          </a:p>
          <a:p xmlns:a="http://schemas.openxmlformats.org/drawingml/2006/main">
            <a:r>
              <a:t>• File counts do not prove journeys or platform coverage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Human review queues took days</a:t>
            </a:r>
          </a:p>
          <a:p xmlns:a="http://schemas.openxmlformats.org/drawingml/2006/main">
            <a:r>
              <a:t>• Three AI reviewers on every PR</a:t>
            </a:r>
          </a:p>
          <a:p xmlns:a="http://schemas.openxmlformats.org/drawingml/2006/main">
            <a:r>
              <a:t>• Custom mobile reviewer runs hourly</a:t>
            </a:r>
          </a:p>
          <a:p xmlns:a="http://schemas.openxmlformats.org/drawingml/2006/main">
            <a:r>
              <a:t>• Repository guidelines provide React Native context</a:t>
            </a:r>
          </a:p>
          <a:p xmlns:a="http://schemas.openxmlformats.org/drawingml/2006/main">
            <a:r>
              <a:t>• Parole’s feedback loop connects this to 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CodeRabbit + Qodo Merge + cubic</a:t>
            </a:r>
          </a:p>
          <a:p xmlns:a="http://schemas.openxmlformats.org/drawingml/2006/main">
            <a:r>
              <a:t>• Every PR receives automated feedback</a:t>
            </a:r>
          </a:p>
          <a:p xmlns:a="http://schemas.openxmlformats.org/drawingml/2006/main">
            <a:r>
              <a:t>• Custom Cursor reviewer runs hourly</a:t>
            </a:r>
          </a:p>
          <a:p xmlns:a="http://schemas.openxmlformats.org/drawingml/2006/main">
            <a:r>
              <a:t>• React Native context in the review prompt</a:t>
            </a:r>
          </a:p>
          <a:p xmlns:a="http://schemas.openxmlformats.org/drawingml/2006/main">
            <a:r>
              <a:t>• Different perspectives. Parole evaluates the feedback.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Guidelines committed to the repository</a:t>
            </a:r>
          </a:p>
          <a:p xmlns:a="http://schemas.openxmlformats.org/drawingml/2006/main">
            <a:r>
              <a:t>• React Native + iOS/Android expectations</a:t>
            </a:r>
          </a:p>
          <a:p xmlns:a="http://schemas.openxmlformats.org/drawingml/2006/main">
            <a:r>
              <a:t>• Component reuse, separation of concerns, meaningful tests</a:t>
            </a:r>
          </a:p>
          <a:p xmlns:a="http://schemas.openxmlformats.org/drawingml/2006/main">
            <a:r>
              <a:t>• Reviewers read the same rules used for implementation</a:t>
            </a:r>
          </a:p>
          <a:p xmlns:a="http://schemas.openxmlformats.org/drawingml/2006/main">
            <a:r>
              <a:t>• Explain incorrect feedback. Refine the guidance. No guarantee of catching everything.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Sentry</a:t>
            </a:r>
          </a:p>
          <a:p xmlns:a="http://schemas.openxmlformats.org/drawingml/2006/main">
            <a:r>
              <a:t>• Production feedback returns to development</a:t>
            </a:r>
          </a:p>
          <a:p xmlns:a="http://schemas.openxmlformats.org/drawingml/2006/main">
            <a:r>
              <a:t>• July: systematic error cleanup</a:t>
            </a:r>
          </a:p>
          <a:p xmlns:a="http://schemas.openxmlformats.org/drawingml/2006/main">
            <a:r>
              <a:t>• Prioritise reproducible problems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Investigate context + revision + flags</a:t>
            </a:r>
          </a:p>
          <a:p xmlns:a="http://schemas.openxmlformats.org/drawingml/2006/main">
            <a:r>
              <a:t>• Reproduce before correcting</a:t>
            </a:r>
          </a:p>
          <a:p xmlns:a="http://schemas.openxmlformats.org/drawingml/2006/main">
            <a:r>
              <a:t>• Bounded fix + regression check</a:t>
            </a:r>
          </a:p>
          <a:p xmlns:a="http://schemas.openxmlformats.org/drawingml/2006/main">
            <a:r>
              <a:t>• Return fresh evidence to review</a:t>
            </a:r>
          </a:p>
          <a:p xmlns:a="http://schemas.openxmlformats.org/drawingml/2006/main">
            <a:r>
              <a:t>• Recorded event does not always mean a user crash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86 complete days: 7 July to 30 September</a:t>
            </a:r>
          </a:p>
          <a:p xmlns:a="http://schemas.openxmlformats.org/drawingml/2006/main">
            <a:r>
              <a:t>• Raw daily variation, including September rise</a:t>
            </a:r>
          </a:p>
          <a:p xmlns:a="http://schemas.openxmlformats.org/drawingml/2006/main">
            <a:r>
              <a:t>• All environments; no usage denominator</a:t>
            </a:r>
          </a:p>
          <a:p xmlns:a="http://schemas.openxmlformats.org/drawingml/2006/main">
            <a:r>
              <a:t>• Fixes, filters and sampling affect volume</a:t>
            </a:r>
          </a:p>
          <a:p xmlns:a="http://schemas.openxmlformats.org/drawingml/2006/main">
            <a:r>
              <a:t>• No crash-rate or AI-causality claim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Finally: delivery</a:t>
            </a:r>
          </a:p>
          <a:p xmlns:a="http://schemas.openxmlformats.org/drawingml/2006/main">
            <a:r>
              <a:t>• Small verified changes</a:t>
            </a:r>
          </a:p>
          <a:p xmlns:a="http://schemas.openxmlformats.org/drawingml/2006/main">
            <a:r>
              <a:t>• Feature activation separated from code release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Canary build after every PR</a:t>
            </a:r>
          </a:p>
          <a:p xmlns:a="http://schemas.openxmlformats.org/drawingml/2006/main">
            <a:r>
              <a:t>• Automated nightly beta. iOS TestFlight + Android</a:t>
            </a:r>
          </a:p>
          <a:p xmlns:a="http://schemas.openxmlformats.org/drawingml/2006/main">
            <a:r>
              <a:t>• Separate installs allow before/after comparison</a:t>
            </a:r>
          </a:p>
          <a:p xmlns:a="http://schemas.openxmlformats.org/drawingml/2006/main">
            <a:r>
              <a:t>• Deep links and payment flows need that comparison</a:t>
            </a:r>
          </a:p>
          <a:p xmlns:a="http://schemas.openxmlformats.org/drawingml/2006/main">
            <a:r>
              <a:t>• Skills generate specific TestFlight change notes and testing instructions.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Return to the days-long approval queue</a:t>
            </a:r>
          </a:p>
          <a:p xmlns:a="http://schemas.openxmlformats.org/drawingml/2006/main">
            <a:r>
              <a:t>• Small increments behind feature flags</a:t>
            </a:r>
          </a:p>
          <a:p xmlns:a="http://schemas.openxmlformats.org/drawingml/2006/main">
            <a:r>
              <a:t>• Ship verified code; decide activation separately</a:t>
            </a:r>
          </a:p>
          <a:p xmlns:a="http://schemas.openxmlformats.org/drawingml/2006/main">
            <a:r>
              <a:t>• Check enabled and disabled behaviour</a:t>
            </a:r>
          </a:p>
          <a:p xmlns:a="http://schemas.openxmlformats.org/drawingml/2006/main">
            <a:r>
              <a:t>• Mobile flag needs code in the installed 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September: 188 app/design-system PRs across two repos</a:t>
            </a:r>
          </a:p>
          <a:p xmlns:a="http://schemas.openxmlformats.org/drawingml/2006/main">
            <a:r>
              <a:t>• 77 original repository + 111 monorepo</a:t>
            </a:r>
          </a:p>
          <a:p xmlns:a="http://schemas.openxmlformats.org/drawingml/2006/main">
            <a:r>
              <a:t>• May onward also includes scoped design-system work</a:t>
            </a:r>
          </a:p>
          <a:p xmlns:a="http://schemas.openxmlformats.org/drawingml/2006/main">
            <a:r>
              <a:t>• April joining marker; process changed in May</a:t>
            </a:r>
          </a:p>
          <a:p xmlns:a="http://schemas.openxmlformats.org/drawingml/2006/main">
            <a:r>
              <a:t>• PR activity is not productivity, feature value or lead time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Onboarding myself to the team, codebase and business</a:t>
            </a:r>
          </a:p>
          <a:p xmlns:a="http://schemas.openxmlformats.org/drawingml/2006/main">
            <a:r>
              <a:t>• Design system and monorepo, each could be its own talk</a:t>
            </a:r>
          </a:p>
          <a:p xmlns:a="http://schemas.openxmlformats.org/drawingml/2006/main">
            <a:r>
              <a:t>• Transition from engineering delivery to product ownership</a:t>
            </a:r>
          </a:p>
          <a:p xmlns:a="http://schemas.openxmlformats.org/drawingml/2006/main">
            <a:r>
              <a:t>• AI adoption across the development loop</a:t>
            </a:r>
          </a:p>
          <a:p xmlns:a="http://schemas.openxmlformats.org/drawingml/2006/main">
            <a:r>
              <a:t>• Harness: the environment around AI, not just the model</a:t>
            </a:r>
          </a:p>
          <a:p xmlns:a="http://schemas.openxmlformats.org/drawingml/2006/main">
            <a:r>
              <a:t>• A few months of change, many challenges beyond today’s scope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Lessons to adapt, not a universal five-step recipe</a:t>
            </a:r>
          </a:p>
          <a:p xmlns:a="http://schemas.openxmlformats.org/drawingml/2006/main">
            <a:r>
              <a:t>• Start with your team’s actual bottleneck</a:t>
            </a:r>
          </a:p>
          <a:p xmlns:a="http://schemas.openxmlformats.org/drawingml/2006/main">
            <a:r>
              <a:t>• Clear expectations and meaningful checks matter everywhere</a:t>
            </a:r>
          </a:p>
          <a:p xmlns:a="http://schemas.openxmlformats.org/drawingml/2006/main">
            <a:r>
              <a:t>• Tools, approval boundaries and rollout depend on context</a:t>
            </a:r>
          </a:p>
          <a:p xmlns:a="http://schemas.openxmlformats.org/drawingml/2006/main">
            <a:r>
              <a:t>• Start small. Inspect the outcome. Expand what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release. Days of QA and approvals.</a:t>
            </a:r>
          </a:p>
          <a:p xmlns:a="http://schemas.openxmlformats.org/drawingml/2006/main">
            <a:r>
              <a:t>• Skills → tests → CI → device evidence</a:t>
            </a:r>
          </a:p>
          <a:p xmlns:a="http://schemas.openxmlformats.org/drawingml/2006/main">
            <a:r>
              <a:t>• Review → production feedback → delivery</a:t>
            </a:r>
          </a:p>
          <a:p xmlns:a="http://schemas.openxmlformats.org/drawingml/2006/main">
            <a:r>
              <a:t>• Less repetitive QA. More confidence. Faster delivery.</a:t>
            </a:r>
          </a:p>
          <a:p xmlns:a="http://schemas.openxmlformats.org/drawingml/2006/main">
            <a:r>
              <a:t>• Evidence has limits. Human judgement still matters.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4c0dd6235245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638f39eef8422c" /><Relationship Type="http://schemas.openxmlformats.org/officeDocument/2006/relationships/slideLayout" Target="/ppt/slideLayouts/slideLayout1.xml" Id="R7428a31d830c48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28a31d830c48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cd707035d408b" /><Relationship Type="http://schemas.openxmlformats.org/officeDocument/2006/relationships/image" Target="/ppt/media/image.png" Id="R17cc45a231dc454f" /><Relationship Type="http://schemas.openxmlformats.org/officeDocument/2006/relationships/image" Target="/ppt/media/image.jpeg" Id="R8ba68d6199f8429a" /><Relationship Type="http://schemas.openxmlformats.org/officeDocument/2006/relationships/notesSlide" Target="/ppt/notesSlides/notesSlide1.xml" Id="Re45a4a652e424f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5d2610439546d9" /><Relationship Type="http://schemas.openxmlformats.org/officeDocument/2006/relationships/notesSlide" Target="/ppt/notesSlides/notesSlide2.xml" Id="R19da5991fb8541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fc20e53bf54ee0" /><Relationship Type="http://schemas.openxmlformats.org/officeDocument/2006/relationships/notesSlide" Target="/ppt/notesSlides/notesSlide3.xml" Id="Rcd021ae4af2e49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1d66785754ef3" /><Relationship Type="http://schemas.openxmlformats.org/officeDocument/2006/relationships/notesSlide" Target="/ppt/notesSlides/notesSlide4.xml" Id="R0c938861911446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cf72706c0f4a22" /><Relationship Type="http://schemas.openxmlformats.org/officeDocument/2006/relationships/notesSlide" Target="/ppt/notesSlides/notesSlide5.xml" Id="R4fce380b1f8842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d17654a814129" /><Relationship Type="http://schemas.openxmlformats.org/officeDocument/2006/relationships/notesSlide" Target="/ppt/notesSlides/notesSlide6.xml" Id="R4663ea9870a44d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201bbe9e4d47f1" /><Relationship Type="http://schemas.openxmlformats.org/officeDocument/2006/relationships/image" Target="/ppt/media/image2.jpeg" Id="Ra881f5aa917c4bae" /><Relationship Type="http://schemas.openxmlformats.org/officeDocument/2006/relationships/notesSlide" Target="/ppt/notesSlides/notesSlide7.xml" Id="R5b6089e5875e4e4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667672bb44328" /><Relationship Type="http://schemas.openxmlformats.org/officeDocument/2006/relationships/image" Target="/ppt/media/image2.png" Id="R99a0e094f2504018" /><Relationship Type="http://schemas.openxmlformats.org/officeDocument/2006/relationships/image" Target="/ppt/media/image3.png" Id="R156f818f46154a5f" /><Relationship Type="http://schemas.openxmlformats.org/officeDocument/2006/relationships/image" Target="/ppt/media/image4.png" Id="R9a231d7a2b734481" /><Relationship Type="http://schemas.openxmlformats.org/officeDocument/2006/relationships/image" Target="/ppt/media/image5.png" Id="Rf117a5217b9d4ffc" /><Relationship Type="http://schemas.openxmlformats.org/officeDocument/2006/relationships/image" Target="/ppt/media/image6.png" Id="R3438005bffb24271" /><Relationship Type="http://schemas.openxmlformats.org/officeDocument/2006/relationships/image" Target="/ppt/media/image7.png" Id="Re9380cab87e74f3b" /><Relationship Type="http://schemas.openxmlformats.org/officeDocument/2006/relationships/notesSlide" Target="/ppt/notesSlides/notesSlide8.xml" Id="Rc4970a5ccd0e41c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19edad80545f6" /><Relationship Type="http://schemas.openxmlformats.org/officeDocument/2006/relationships/notesSlide" Target="/ppt/notesSlides/notesSlide9.xml" Id="Rec221cc27490401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bc29b9257e4eed" /><Relationship Type="http://schemas.openxmlformats.org/officeDocument/2006/relationships/notesSlide" Target="/ppt/notesSlides/notesSlide10.xml" Id="R46a11401134343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2744b3cb964054" /><Relationship Type="http://schemas.openxmlformats.org/officeDocument/2006/relationships/image" Target="/ppt/media/image8.png" Id="R228805522a2a4de8" /><Relationship Type="http://schemas.openxmlformats.org/officeDocument/2006/relationships/image" Target="/ppt/media/image9.png" Id="Rcd8cd68219e94929" /><Relationship Type="http://schemas.openxmlformats.org/officeDocument/2006/relationships/image" Target="/ppt/media/image10.png" Id="Rfa463f1f87d849e6" /><Relationship Type="http://schemas.openxmlformats.org/officeDocument/2006/relationships/image" Target="/ppt/media/image11.png" Id="R8ee2465c12194a10" /><Relationship Type="http://schemas.openxmlformats.org/officeDocument/2006/relationships/image" Target="/ppt/media/image12.png" Id="R0bb1e0448a0142cd" /><Relationship Type="http://schemas.openxmlformats.org/officeDocument/2006/relationships/notesSlide" Target="/ppt/notesSlides/notesSlide11.xml" Id="Re582eeb56cb9421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f319a5f3b840f1" /><Relationship Type="http://schemas.openxmlformats.org/officeDocument/2006/relationships/notesSlide" Target="/ppt/notesSlides/notesSlide12.xml" Id="Rebde9c1a37ce4e4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53ee6cd454825" /><Relationship Type="http://schemas.openxmlformats.org/officeDocument/2006/relationships/chart" Target="/ppt/slides/charts/chart1.xml" Id="Rf451083efdce4234" /><Relationship Type="http://schemas.openxmlformats.org/officeDocument/2006/relationships/notesSlide" Target="/ppt/notesSlides/notesSlide13.xml" Id="R55efcc024e6f414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d2116c45024de0" /><Relationship Type="http://schemas.openxmlformats.org/officeDocument/2006/relationships/image" Target="/ppt/media/image13.png" Id="R1b8d6741ba7b4708" /><Relationship Type="http://schemas.openxmlformats.org/officeDocument/2006/relationships/image" Target="/ppt/media/image14.png" Id="R2c17a689959b495b" /><Relationship Type="http://schemas.openxmlformats.org/officeDocument/2006/relationships/image" Target="/ppt/media/image15.png" Id="R38ae09c694a04f65" /><Relationship Type="http://schemas.openxmlformats.org/officeDocument/2006/relationships/image" Target="/ppt/media/image16.png" Id="R67971cbd10e24ec9" /><Relationship Type="http://schemas.openxmlformats.org/officeDocument/2006/relationships/notesSlide" Target="/ppt/notesSlides/notesSlide14.xml" Id="Raff1d683a12545f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01b4124384918" /><Relationship Type="http://schemas.openxmlformats.org/officeDocument/2006/relationships/notesSlide" Target="/ppt/notesSlides/notesSlide15.xml" Id="R3e92f7145d5247b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bcfaf67c34ba4" /><Relationship Type="http://schemas.openxmlformats.org/officeDocument/2006/relationships/notesSlide" Target="/ppt/notesSlides/notesSlide16.xml" Id="R8131f12c06be48b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4b3f997504886" /><Relationship Type="http://schemas.openxmlformats.org/officeDocument/2006/relationships/image" Target="/ppt/media/image17.png" Id="Ra0e5aac92eea4ac6" /><Relationship Type="http://schemas.openxmlformats.org/officeDocument/2006/relationships/image" Target="/ppt/media/image18.png" Id="Ra5bd702f09934e43" /><Relationship Type="http://schemas.openxmlformats.org/officeDocument/2006/relationships/image" Target="/ppt/media/image19.png" Id="Rf5b6cc00cbda4c04" /><Relationship Type="http://schemas.openxmlformats.org/officeDocument/2006/relationships/notesSlide" Target="/ppt/notesSlides/notesSlide17.xml" Id="R3785233b5c9f4fb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64e40ed3e84485" /><Relationship Type="http://schemas.openxmlformats.org/officeDocument/2006/relationships/notesSlide" Target="/ppt/notesSlides/notesSlide18.xml" Id="Rd432233220dc49a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628a7adc4843c6" /><Relationship Type="http://schemas.openxmlformats.org/officeDocument/2006/relationships/chart" Target="/ppt/slides/charts/chart2.xml" Id="Rca861328ea974996" /><Relationship Type="http://schemas.openxmlformats.org/officeDocument/2006/relationships/notesSlide" Target="/ppt/notesSlides/notesSlide19.xml" Id="Re29cd6fc8619482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2333ef62584ba0" /><Relationship Type="http://schemas.openxmlformats.org/officeDocument/2006/relationships/image" Target="/ppt/media/image20.png" Id="R6672311b84424179" /><Relationship Type="http://schemas.openxmlformats.org/officeDocument/2006/relationships/image" Target="/ppt/media/image21.png" Id="Ra58ec0f66aa6437e" /><Relationship Type="http://schemas.openxmlformats.org/officeDocument/2006/relationships/notesSlide" Target="/ppt/notesSlides/notesSlide20.xml" Id="R8547ca87e8d24a7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8499f48c34730" /><Relationship Type="http://schemas.openxmlformats.org/officeDocument/2006/relationships/notesSlide" Target="/ppt/notesSlides/notesSlide21.xml" Id="R35f7c3ed2789405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bd0f8a0a5f4471" /><Relationship Type="http://schemas.openxmlformats.org/officeDocument/2006/relationships/notesSlide" Target="/ppt/notesSlides/notesSlide22.xml" Id="Reeea4d89d457437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b047f7d554c8d" /><Relationship Type="http://schemas.openxmlformats.org/officeDocument/2006/relationships/image" Target="/ppt/media/image22.png" Id="R6bb33c0c03544315" /><Relationship Type="http://schemas.openxmlformats.org/officeDocument/2006/relationships/notesSlide" Target="/ppt/notesSlides/notesSlide23.xml" Id="Rc0ef308cfb0a44a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37a41267e041d8" /><Relationship Type="http://schemas.openxmlformats.org/officeDocument/2006/relationships/notesSlide" Target="/ppt/notesSlides/notesSlide24.xml" Id="Raf921e4146fc400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64bde3963d4653" /><Relationship Type="http://schemas.openxmlformats.org/officeDocument/2006/relationships/chart" Target="/ppt/slides/charts/chart3.xml" Id="R50f8a824fb4a489e" /><Relationship Type="http://schemas.openxmlformats.org/officeDocument/2006/relationships/notesSlide" Target="/ppt/notesSlides/notesSlide25.xml" Id="Rb8a270b4080a4f1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208f5da3c4ffd" /><Relationship Type="http://schemas.openxmlformats.org/officeDocument/2006/relationships/notesSlide" Target="/ppt/notesSlides/notesSlide26.xml" Id="R2ee30d2e68ed454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6bb01fb3f4fe0" /><Relationship Type="http://schemas.openxmlformats.org/officeDocument/2006/relationships/notesSlide" Target="/ppt/notesSlides/notesSlide27.xml" Id="Rdbb6e9c4b5cc405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e94b0e0e14e8e" /><Relationship Type="http://schemas.openxmlformats.org/officeDocument/2006/relationships/notesSlide" Target="/ppt/notesSlides/notesSlide28.xml" Id="R0895262f9a3a450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50e24a8754cf5" /><Relationship Type="http://schemas.openxmlformats.org/officeDocument/2006/relationships/chart" Target="/ppt/slides/charts/chart4.xml" Id="R119af2cd99954836" /><Relationship Type="http://schemas.openxmlformats.org/officeDocument/2006/relationships/notesSlide" Target="/ppt/notesSlides/notesSlide29.xml" Id="Rc26e140aa168433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310f61a974ec5" /><Relationship Type="http://schemas.openxmlformats.org/officeDocument/2006/relationships/notesSlide" Target="/ppt/notesSlides/notesSlide30.xml" Id="R2bb588d8f7f54bf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e673414924a4d" /><Relationship Type="http://schemas.openxmlformats.org/officeDocument/2006/relationships/notesSlide" Target="/ppt/notesSlides/notesSlide31.xml" Id="Rc0cb23483fb5442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24050735754a6d" /><Relationship Type="http://schemas.openxmlformats.org/officeDocument/2006/relationships/notesSlide" Target="/ppt/notesSlides/notesSlide32.xml" Id="Rbacae331df49432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Unit-test files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93</c:v>
                </c:pt>
                <c:pt idx="1">
                  <c:v>95</c:v>
                </c:pt>
                <c:pt idx="2">
                  <c:v>98</c:v>
                </c:pt>
                <c:pt idx="3">
                  <c:v>113</c:v>
                </c:pt>
                <c:pt idx="4">
                  <c:v>164</c:v>
                </c:pt>
                <c:pt idx="5">
                  <c:v>250</c:v>
                </c:pt>
                <c:pt idx="6">
                  <c:v>395</c:v>
                </c:pt>
                <c:pt idx="7">
                  <c:v>1040</c:v>
                </c:pt>
                <c:pt idx="8">
                  <c:v>1669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18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60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Maestro YAML files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129</c:v>
                </c:pt>
                <c:pt idx="5">
                  <c:v>135</c:v>
                </c:pt>
                <c:pt idx="6">
                  <c:v>136</c:v>
                </c:pt>
                <c:pt idx="7">
                  <c:v>147</c:v>
                </c:pt>
                <c:pt idx="8">
                  <c:v>225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Recorded events per day</c:v>
          </c:tx>
          <c:spPr>
            <a:solidFill xmlns:a="http://schemas.openxmlformats.org/drawingml/2006/main">
              <a:srgbClr val="00786F"/>
            </a:solidFill>
            <a:ln xmlns:a="http://schemas.openxmlformats.org/drawingml/2006/main" w="28575">
              <a:solidFill>
                <a:srgbClr val="00786F"/>
              </a:solidFill>
              <a:prstDash val="solid"/>
            </a:ln>
          </c:spPr>
          <c:marker>
            <c:symbol val="none"/>
          </c:marker>
          <c:xVal>
            <c:numRef>
              <c:f>'Chart Data'!$A$2:$A$87</c:f>
              <c:numCache>
                <c:formatCode>d mmm</c:formatCode>
                <c:ptCount val="86"/>
                <c:pt idx="0">
                  <c:v>46210</c:v>
                </c:pt>
                <c:pt idx="1">
                  <c:v>46211</c:v>
                </c:pt>
                <c:pt idx="2">
                  <c:v>46212</c:v>
                </c:pt>
                <c:pt idx="3">
                  <c:v>46213</c:v>
                </c:pt>
                <c:pt idx="4">
                  <c:v>46214</c:v>
                </c:pt>
                <c:pt idx="5">
                  <c:v>46215</c:v>
                </c:pt>
                <c:pt idx="6">
                  <c:v>46216</c:v>
                </c:pt>
                <c:pt idx="7">
                  <c:v>46217</c:v>
                </c:pt>
                <c:pt idx="8">
                  <c:v>46218</c:v>
                </c:pt>
                <c:pt idx="9">
                  <c:v>46219</c:v>
                </c:pt>
                <c:pt idx="10">
                  <c:v>46220</c:v>
                </c:pt>
                <c:pt idx="11">
                  <c:v>46221</c:v>
                </c:pt>
                <c:pt idx="12">
                  <c:v>46222</c:v>
                </c:pt>
                <c:pt idx="13">
                  <c:v>46223</c:v>
                </c:pt>
                <c:pt idx="14">
                  <c:v>46224</c:v>
                </c:pt>
                <c:pt idx="15">
                  <c:v>46225</c:v>
                </c:pt>
                <c:pt idx="16">
                  <c:v>46226</c:v>
                </c:pt>
                <c:pt idx="17">
                  <c:v>46227</c:v>
                </c:pt>
                <c:pt idx="18">
                  <c:v>46228</c:v>
                </c:pt>
                <c:pt idx="19">
                  <c:v>46229</c:v>
                </c:pt>
                <c:pt idx="20">
                  <c:v>46230</c:v>
                </c:pt>
                <c:pt idx="21">
                  <c:v>46231</c:v>
                </c:pt>
                <c:pt idx="22">
                  <c:v>46232</c:v>
                </c:pt>
                <c:pt idx="23">
                  <c:v>46233</c:v>
                </c:pt>
                <c:pt idx="24">
                  <c:v>46234</c:v>
                </c:pt>
                <c:pt idx="25">
                  <c:v>46235</c:v>
                </c:pt>
                <c:pt idx="26">
                  <c:v>46236</c:v>
                </c:pt>
                <c:pt idx="27">
                  <c:v>46237</c:v>
                </c:pt>
                <c:pt idx="28">
                  <c:v>46238</c:v>
                </c:pt>
                <c:pt idx="29">
                  <c:v>46239</c:v>
                </c:pt>
                <c:pt idx="30">
                  <c:v>46240</c:v>
                </c:pt>
                <c:pt idx="31">
                  <c:v>46241</c:v>
                </c:pt>
                <c:pt idx="32">
                  <c:v>46242</c:v>
                </c:pt>
                <c:pt idx="33">
                  <c:v>46243</c:v>
                </c:pt>
                <c:pt idx="34">
                  <c:v>46244</c:v>
                </c:pt>
                <c:pt idx="35">
                  <c:v>46245</c:v>
                </c:pt>
                <c:pt idx="36">
                  <c:v>46246</c:v>
                </c:pt>
                <c:pt idx="37">
                  <c:v>46247</c:v>
                </c:pt>
                <c:pt idx="38">
                  <c:v>46248</c:v>
                </c:pt>
                <c:pt idx="39">
                  <c:v>46249</c:v>
                </c:pt>
                <c:pt idx="40">
                  <c:v>46250</c:v>
                </c:pt>
                <c:pt idx="41">
                  <c:v>46251</c:v>
                </c:pt>
                <c:pt idx="42">
                  <c:v>46252</c:v>
                </c:pt>
                <c:pt idx="43">
                  <c:v>46253</c:v>
                </c:pt>
                <c:pt idx="44">
                  <c:v>46254</c:v>
                </c:pt>
                <c:pt idx="45">
                  <c:v>46255</c:v>
                </c:pt>
                <c:pt idx="46">
                  <c:v>46256</c:v>
                </c:pt>
                <c:pt idx="47">
                  <c:v>46257</c:v>
                </c:pt>
                <c:pt idx="48">
                  <c:v>46258</c:v>
                </c:pt>
                <c:pt idx="49">
                  <c:v>46259</c:v>
                </c:pt>
                <c:pt idx="50">
                  <c:v>46260</c:v>
                </c:pt>
                <c:pt idx="51">
                  <c:v>46261</c:v>
                </c:pt>
                <c:pt idx="52">
                  <c:v>46262</c:v>
                </c:pt>
                <c:pt idx="53">
                  <c:v>46263</c:v>
                </c:pt>
                <c:pt idx="54">
                  <c:v>46264</c:v>
                </c:pt>
                <c:pt idx="55">
                  <c:v>46265</c:v>
                </c:pt>
                <c:pt idx="56">
                  <c:v>46266</c:v>
                </c:pt>
                <c:pt idx="57">
                  <c:v>46267</c:v>
                </c:pt>
                <c:pt idx="58">
                  <c:v>46268</c:v>
                </c:pt>
                <c:pt idx="59">
                  <c:v>46269</c:v>
                </c:pt>
                <c:pt idx="60">
                  <c:v>46270</c:v>
                </c:pt>
                <c:pt idx="61">
                  <c:v>46271</c:v>
                </c:pt>
                <c:pt idx="62">
                  <c:v>46272</c:v>
                </c:pt>
                <c:pt idx="63">
                  <c:v>46273</c:v>
                </c:pt>
                <c:pt idx="64">
                  <c:v>46274</c:v>
                </c:pt>
                <c:pt idx="65">
                  <c:v>46275</c:v>
                </c:pt>
                <c:pt idx="66">
                  <c:v>46276</c:v>
                </c:pt>
                <c:pt idx="67">
                  <c:v>46277</c:v>
                </c:pt>
                <c:pt idx="68">
                  <c:v>46278</c:v>
                </c:pt>
                <c:pt idx="69">
                  <c:v>46279</c:v>
                </c:pt>
                <c:pt idx="70">
                  <c:v>46280</c:v>
                </c:pt>
                <c:pt idx="71">
                  <c:v>46281</c:v>
                </c:pt>
                <c:pt idx="72">
                  <c:v>46282</c:v>
                </c:pt>
                <c:pt idx="73">
                  <c:v>46283</c:v>
                </c:pt>
                <c:pt idx="74">
                  <c:v>46284</c:v>
                </c:pt>
                <c:pt idx="75">
                  <c:v>46285</c:v>
                </c:pt>
                <c:pt idx="76">
                  <c:v>46286</c:v>
                </c:pt>
                <c:pt idx="77">
                  <c:v>46287</c:v>
                </c:pt>
                <c:pt idx="78">
                  <c:v>46288</c:v>
                </c:pt>
                <c:pt idx="79">
                  <c:v>46289</c:v>
                </c:pt>
                <c:pt idx="80">
                  <c:v>46290</c:v>
                </c:pt>
                <c:pt idx="81">
                  <c:v>46291</c:v>
                </c:pt>
                <c:pt idx="82">
                  <c:v>46292</c:v>
                </c:pt>
                <c:pt idx="83">
                  <c:v>46293</c:v>
                </c:pt>
                <c:pt idx="84">
                  <c:v>46294</c:v>
                </c:pt>
                <c:pt idx="85">
                  <c:v>46295</c:v>
                </c:pt>
              </c:numCache>
            </c:numRef>
          </c:xVal>
          <c:yVal>
            <c:numRef>
              <c:f>'Chart Data'!$B$2:$B$87</c:f>
              <c:numCache>
                <c:formatCode>#,##0</c:formatCode>
                <c:ptCount val="86"/>
                <c:pt idx="0">
                  <c:v>24012</c:v>
                </c:pt>
                <c:pt idx="1">
                  <c:v>20186</c:v>
                </c:pt>
                <c:pt idx="2">
                  <c:v>18996</c:v>
                </c:pt>
                <c:pt idx="3">
                  <c:v>19756</c:v>
                </c:pt>
                <c:pt idx="4">
                  <c:v>23024</c:v>
                </c:pt>
                <c:pt idx="5">
                  <c:v>23245</c:v>
                </c:pt>
                <c:pt idx="6">
                  <c:v>16295</c:v>
                </c:pt>
                <c:pt idx="7">
                  <c:v>15949</c:v>
                </c:pt>
                <c:pt idx="8">
                  <c:v>16897</c:v>
                </c:pt>
                <c:pt idx="9">
                  <c:v>15846</c:v>
                </c:pt>
                <c:pt idx="10">
                  <c:v>17738</c:v>
                </c:pt>
                <c:pt idx="11">
                  <c:v>16197</c:v>
                </c:pt>
                <c:pt idx="12">
                  <c:v>17393</c:v>
                </c:pt>
                <c:pt idx="13">
                  <c:v>10078</c:v>
                </c:pt>
                <c:pt idx="14">
                  <c:v>7617</c:v>
                </c:pt>
                <c:pt idx="15">
                  <c:v>9141</c:v>
                </c:pt>
                <c:pt idx="16">
                  <c:v>6265</c:v>
                </c:pt>
                <c:pt idx="17">
                  <c:v>9794</c:v>
                </c:pt>
                <c:pt idx="18">
                  <c:v>8768</c:v>
                </c:pt>
                <c:pt idx="19">
                  <c:v>10718</c:v>
                </c:pt>
                <c:pt idx="20">
                  <c:v>8498</c:v>
                </c:pt>
                <c:pt idx="21">
                  <c:v>8371</c:v>
                </c:pt>
                <c:pt idx="22">
                  <c:v>5913</c:v>
                </c:pt>
                <c:pt idx="23">
                  <c:v>5496</c:v>
                </c:pt>
                <c:pt idx="24">
                  <c:v>5007</c:v>
                </c:pt>
                <c:pt idx="25">
                  <c:v>4590</c:v>
                </c:pt>
                <c:pt idx="26">
                  <c:v>5165</c:v>
                </c:pt>
                <c:pt idx="27">
                  <c:v>4218</c:v>
                </c:pt>
                <c:pt idx="28">
                  <c:v>4651</c:v>
                </c:pt>
                <c:pt idx="29">
                  <c:v>4593</c:v>
                </c:pt>
                <c:pt idx="30">
                  <c:v>4182</c:v>
                </c:pt>
                <c:pt idx="31">
                  <c:v>3842</c:v>
                </c:pt>
                <c:pt idx="32">
                  <c:v>4780</c:v>
                </c:pt>
                <c:pt idx="33">
                  <c:v>4634</c:v>
                </c:pt>
                <c:pt idx="34">
                  <c:v>4177</c:v>
                </c:pt>
                <c:pt idx="35">
                  <c:v>3653</c:v>
                </c:pt>
                <c:pt idx="36">
                  <c:v>4288</c:v>
                </c:pt>
                <c:pt idx="37">
                  <c:v>4385</c:v>
                </c:pt>
                <c:pt idx="38">
                  <c:v>5033</c:v>
                </c:pt>
                <c:pt idx="39">
                  <c:v>5656</c:v>
                </c:pt>
                <c:pt idx="40">
                  <c:v>4126</c:v>
                </c:pt>
                <c:pt idx="41">
                  <c:v>3445</c:v>
                </c:pt>
                <c:pt idx="42">
                  <c:v>4120</c:v>
                </c:pt>
                <c:pt idx="43">
                  <c:v>4262</c:v>
                </c:pt>
                <c:pt idx="44">
                  <c:v>4618</c:v>
                </c:pt>
                <c:pt idx="45">
                  <c:v>5010</c:v>
                </c:pt>
                <c:pt idx="46">
                  <c:v>4141</c:v>
                </c:pt>
                <c:pt idx="47">
                  <c:v>5675</c:v>
                </c:pt>
                <c:pt idx="48">
                  <c:v>3831</c:v>
                </c:pt>
                <c:pt idx="49">
                  <c:v>4252</c:v>
                </c:pt>
                <c:pt idx="50">
                  <c:v>4041</c:v>
                </c:pt>
                <c:pt idx="51">
                  <c:v>5122</c:v>
                </c:pt>
                <c:pt idx="52">
                  <c:v>4364</c:v>
                </c:pt>
                <c:pt idx="53">
                  <c:v>5519</c:v>
                </c:pt>
                <c:pt idx="54">
                  <c:v>4933</c:v>
                </c:pt>
                <c:pt idx="55">
                  <c:v>4120</c:v>
                </c:pt>
                <c:pt idx="56">
                  <c:v>5575</c:v>
                </c:pt>
                <c:pt idx="57">
                  <c:v>2856</c:v>
                </c:pt>
                <c:pt idx="58">
                  <c:v>3542</c:v>
                </c:pt>
                <c:pt idx="59">
                  <c:v>4435</c:v>
                </c:pt>
                <c:pt idx="60">
                  <c:v>3839</c:v>
                </c:pt>
                <c:pt idx="61">
                  <c:v>4728</c:v>
                </c:pt>
                <c:pt idx="62">
                  <c:v>3747</c:v>
                </c:pt>
                <c:pt idx="63">
                  <c:v>4707</c:v>
                </c:pt>
                <c:pt idx="64">
                  <c:v>4024</c:v>
                </c:pt>
                <c:pt idx="65">
                  <c:v>3937</c:v>
                </c:pt>
                <c:pt idx="66">
                  <c:v>5324</c:v>
                </c:pt>
                <c:pt idx="67">
                  <c:v>5981</c:v>
                </c:pt>
                <c:pt idx="68">
                  <c:v>6254</c:v>
                </c:pt>
                <c:pt idx="69">
                  <c:v>6468</c:v>
                </c:pt>
                <c:pt idx="70">
                  <c:v>6111</c:v>
                </c:pt>
                <c:pt idx="71">
                  <c:v>5340</c:v>
                </c:pt>
                <c:pt idx="72">
                  <c:v>4087</c:v>
                </c:pt>
                <c:pt idx="73">
                  <c:v>7077</c:v>
                </c:pt>
                <c:pt idx="74">
                  <c:v>5791</c:v>
                </c:pt>
                <c:pt idx="75">
                  <c:v>8333</c:v>
                </c:pt>
                <c:pt idx="76">
                  <c:v>4433</c:v>
                </c:pt>
                <c:pt idx="77">
                  <c:v>8013</c:v>
                </c:pt>
                <c:pt idx="78">
                  <c:v>4019</c:v>
                </c:pt>
                <c:pt idx="79">
                  <c:v>4336</c:v>
                </c:pt>
                <c:pt idx="80">
                  <c:v>5115</c:v>
                </c:pt>
                <c:pt idx="81">
                  <c:v>5466</c:v>
                </c:pt>
                <c:pt idx="82">
                  <c:v>5764</c:v>
                </c:pt>
                <c:pt idx="83">
                  <c:v>5162</c:v>
                </c:pt>
                <c:pt idx="84">
                  <c:v>4156</c:v>
                </c:pt>
                <c:pt idx="85">
                  <c:v>4189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majorUnit val="5000"/>
      </c:valAx>
      <c:valAx>
        <c:axId val="48650112"/>
        <c:scaling>
          <c:orientation val="minMax"/>
          <c:max val="46295"/>
          <c:min val="46210"/>
        </c:scaling>
        <c:delete val="0"/>
        <c:axPos val="b"/>
        <c:numFmt formatCode="d mmm"/>
        <c:majorTickMark val="none"/>
        <c:minorTickMark val="none"/>
        <c:tickLblPos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  <c:majorUnit val="28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Merged mobile PRs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25</c:v>
                </c:pt>
                <c:pt idx="1">
                  <c:v>32</c:v>
                </c:pt>
                <c:pt idx="2">
                  <c:v>46</c:v>
                </c:pt>
                <c:pt idx="3">
                  <c:v>58</c:v>
                </c:pt>
                <c:pt idx="4">
                  <c:v>159</c:v>
                </c:pt>
                <c:pt idx="5">
                  <c:v>222</c:v>
                </c:pt>
                <c:pt idx="6">
                  <c:v>158</c:v>
                </c:pt>
                <c:pt idx="7">
                  <c:v>194</c:v>
                </c:pt>
                <c:pt idx="8">
                  <c:v>188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cc45a231dc454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Deck title">
            <a:extLst xmlns:a="http://schemas.openxmlformats.org/drawingml/2006/main">
              <a:ext uri="{FF2B5EF4-FFF2-40B4-BE49-F238E27FC236}">
                <a16:creationId xmlns:a16="http://schemas.microsoft.com/office/drawing/2014/main" id="{0BAB2ED4-B3EE-4D0D-BF3A-23AB1289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57250"/>
            <a:ext cx="10668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Beyond the QA</a:t>
            </a:r>
          </a:p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A5E310A-1D1A-4F88-A561-C4A8A765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Building confidence in React Native with AI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68d6199f8429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" y="5143500"/>
            <a:ext cx="685800" cy="685800"/>
          </a:xfrm>
          <a:prstGeom xmlns:a="http://schemas.openxmlformats.org/drawingml/2006/main" prst="ellipse">
            <a:avLst/>
          </a:prstGeom>
        </p:spPr>
      </p:pic>
      <p:sp>
        <p:nvSpPr>
          <p:cNvPr id="5" name="Speaker">
            <a:extLst xmlns:a="http://schemas.openxmlformats.org/drawingml/2006/main">
              <a:ext uri="{FF2B5EF4-FFF2-40B4-BE49-F238E27FC236}">
                <a16:creationId xmlns:a16="http://schemas.microsoft.com/office/drawing/2014/main" id="{5C8D213C-7827-4B54-BF70-15145509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435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210962B-65E1-4C7A-964A-FFB72BDE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626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 Manager at Zapp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45D4DA8-04C2-4521-86CF-73122D88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1817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React Native London</a:t>
            </a:r>
          </a:p>
        </p:txBody>
      </p:sp>
    </p:spTree>
    <p:extLst>
      <p:ext uri="{BB962C8B-B14F-4D97-AF65-F5344CB8AC3E}">
        <p14:creationId xmlns:p14="http://schemas.microsoft.com/office/powerpoint/2010/main" val="10332360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2B7B660-260D-4944-813A-84790F37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Regressions.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75D2947-CF67-4D8D-AED4-43462FFD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We kept returning to behaviour we had already checked.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8DFB136-3F79-4571-95C1-CA63E344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599784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ABCB487-D6F2-4C4B-B1C6-45DD157C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Tests existed.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Nobody ran them.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38DC8CD-6799-4EA2-B5FB-44994656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small test suite. End-to-end checks outside CI.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CA3D0AF6-575C-4A2B-ABDE-5FF7804A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369428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5D2041B-0190-4A12-BB7F-A301F69B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More than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three days of QA.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5A3644B-90AC-4471-AAF3-38459D23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Engineering, product and UX/design.</a:t>
            </a:r>
          </a:p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Many people paused their own work.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97C6B96-0C8D-462E-9CB3-3E8CF083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633056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4E0B17A-12AE-4381-BB3C-823ABC2D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 waited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days for approval.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4449733-DD90-4678-89F9-0FF1983C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chain of sign-offs held up the whole release.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55D36BF-59B1-4A91-BDD3-1B6422B5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560640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565B5E1-428E-409B-96EA-E75CFC8D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Projects postponed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by over a quarter.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36EA02C-3661-4309-9DE8-08985C3B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All the existing projects had slipped by more than a quarter.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6746422-74A7-49A7-AA2F-D90A5361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094886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1f5aa917c4ba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76850" y="847725"/>
            <a:ext cx="1638300" cy="1638300"/>
          </a:xfrm>
          <a:prstGeom xmlns:a="http://schemas.openxmlformats.org/drawingml/2006/main" prst="ellipse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6DBAEC4-11D5-41D7-955B-43589919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574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John Adib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9504F14-17FF-42FA-9ED9-28630638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story of an EM in the era of AI</a:t>
            </a:r>
          </a:p>
        </p:txBody>
      </p:sp>
      <p:sp>
        <p:nvSpPr>
          <p:cNvPr id="4" name="Credentials">
            <a:extLst xmlns:a="http://schemas.openxmlformats.org/drawingml/2006/main">
              <a:ext uri="{FF2B5EF4-FFF2-40B4-BE49-F238E27FC236}">
                <a16:creationId xmlns:a16="http://schemas.microsoft.com/office/drawing/2014/main" id="{9C90B494-37D1-4416-BCC8-92ABADDC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2× co-founder. Former CTO. Engineering leader and mentor.</a:t>
            </a:r>
          </a:p>
        </p:txBody>
      </p:sp>
      <p:sp>
        <p:nvSpPr>
          <p:cNvPr id="5" name="Experience">
            <a:extLst xmlns:a="http://schemas.openxmlformats.org/drawingml/2006/main">
              <a:ext uri="{FF2B5EF4-FFF2-40B4-BE49-F238E27FC236}">
                <a16:creationId xmlns:a16="http://schemas.microsoft.com/office/drawing/2014/main" id="{4D6EE929-468D-4EBE-9160-120CCBB8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 years building and improving systems. I love moving mountains.</a:t>
            </a:r>
          </a:p>
        </p:txBody>
      </p:sp>
      <p:sp>
        <p:nvSpPr>
          <p:cNvPr id="6" name="Website">
            <a:extLst xmlns:a="http://schemas.openxmlformats.org/drawingml/2006/main">
              <a:ext uri="{FF2B5EF4-FFF2-40B4-BE49-F238E27FC236}">
                <a16:creationId xmlns:a16="http://schemas.microsoft.com/office/drawing/2014/main" id="{8DE4F3CA-B112-4F39-A94F-A3894B17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</a:t>
            </a:r>
          </a:p>
        </p:txBody>
      </p:sp>
      <p:sp>
        <p:nvSpPr>
          <p:cNvPr id="7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306D512-5E37-4A50-BE73-3CDD38B8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768161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E8A1E629-561F-4DDB-B6F8-83851DCC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AB49B450-98D0-4494-A289-5B1D1350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a0e094f2504018"/>
          <a:stretch xmlns:a="http://schemas.openxmlformats.org/drawingml/2006/main"/>
        </p:blipFill>
        <p:spPr>
          <a:xfrm xmlns:a="http://schemas.openxmlformats.org/drawingml/2006/main">
            <a:off x="1333500" y="1362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6f818f46154a5f"/>
          <a:stretch xmlns:a="http://schemas.openxmlformats.org/drawingml/2006/main"/>
        </p:blipFill>
        <p:spPr>
          <a:xfrm xmlns:a="http://schemas.openxmlformats.org/drawingml/2006/main">
            <a:off x="1333500" y="2124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231d7a2b734481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7a5217b9d4ffc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8005bffb24271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380cab87e74f3b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21322AB-9E44-4F31-9025-63795D81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946738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">
            <a:extLst xmlns:a="http://schemas.openxmlformats.org/drawingml/2006/main">
              <a:ext uri="{FF2B5EF4-FFF2-40B4-BE49-F238E27FC236}">
                <a16:creationId xmlns:a16="http://schemas.microsoft.com/office/drawing/2014/main" id="{4A1B8803-28CA-4F6D-8DD5-1AE6668A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Eight skills. One development loop.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39125DC-A93E-408F-9B89-CD93C6C1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Each skill has a responsibility and an output.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4998D5F-D523-4AC7-92AA-18CC9E16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cook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8FB9C37-C958-4C46-BDA6-30BB77FE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Coordinates the task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C67CB18-5D29-429C-AC0B-2ABB29D5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955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sherlock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D712E4D-4C0E-44CD-B4AA-7A958411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14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Discovers the repository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A96F54B-3356-4094-ADFD-6C906777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dig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89AAA45-FE15-4FA9-8A8E-7FBB57B2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Researches the behaviour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FF706F7-C958-476D-A12A-6663A220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099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mastermind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9C96AC7-4B41-497F-B20D-D7F10707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29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Plans for approval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CF808F7D-29EC-4E2A-8300-642F6189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EEA0029A-9123-4B37-8A2D-E9896618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Implements and verifies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BC6D98D-66A9-418F-A868-084E6B4E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243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mugshot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9F9037D-D40E-4C50-8F94-F86EC9A8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Captures device evidence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A6572F4D-0C2F-4240-8C9B-7CB7ACDC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0929C2AC-8417-4032-9650-D1EBFB1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Evaluates review feedback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E36A010-2F0E-4F7F-A62D-3428DDF2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387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saul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A297C2C-331E-43D2-858F-0701B7D2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657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Communicates the result</a:t>
            </a:r>
          </a:p>
        </p:txBody>
      </p:sp>
      <p:sp>
        <p:nvSpPr>
          <p:cNvPr id="1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8685518-BD1D-4E7B-898B-455B4982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964812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BC8CFC50-76D1-456D-8F89-73E55A7F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My engineering standards, written down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69E2D70-30AE-4B09-A415-C520E940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Michelin makes those standards part of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7BA27A6-B504-4509-B46E-C0A6A8A9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Reuse and consistency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F9DD524-378E-4E0B-BAFF-D4166FD4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Build on existing code, patterns and tools.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BB08FBE-566D-4538-B461-0AD25294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Separation of concerns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48B74E4-233C-4F6E-81FC-F6A84C6B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UI, state and business logic focused.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CA5FFA8-C62D-4448-904F-789BE4BA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2EB3EAF-3B84-4D36-BE82-5CE73FF3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Meaningful tests. Readable code. Verified results.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3A3702C-29E3-490E-8887-76A1EFAC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780321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E7494205-5BD3-4DCA-9E04-47F26C3B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9679AC10-39BC-42FA-90BA-8277C152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37E41B39-3E01-4355-9F3D-5EB41A3F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0E6475CC-0857-43C7-9D5C-C571264A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8805522a2a4de8"/>
          <a:stretch xmlns:a="http://schemas.openxmlformats.org/drawingml/2006/main"/>
        </p:blipFill>
        <p:spPr>
          <a:xfrm xmlns:a="http://schemas.openxmlformats.org/drawingml/2006/main">
            <a:off x="1333500" y="2124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cd68219e94929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463f1f87d849e6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2465c12194a10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1e0448a0142cd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45EB61A-C0ED-4BAE-959A-729ECF69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606301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C69FE19A-D576-49F0-B313-A82A5A1E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testing bar, written into the codebase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314F845-28E7-4F47-9291-A3A024F7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Protect what works. Raise the bar with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255FCE8-9176-46AB-8D34-F3A80C9B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69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New code needs tests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0E85F62-551E-453F-AFA3-B4E72C24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69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No test, no acceptance.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8E8DD26-9DB4-4EB8-9424-C38D70F0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13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Bug fixes prove both cases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4C4448A-2F55-4104-B7A2-C96EB403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13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The test fails before the fix and passes after it.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A981DDB-0C5D-4FDC-B97F-AF23AD79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57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Titles explain behaviour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9D2ECCB-5DBA-4C7E-ADF7-7B5FB077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57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Name the expected result in plain language.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2E600CE-6FDA-451C-826C-3E3D94EB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01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The bar keeps rising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5765058-6CCA-4AEB-B9E8-5B488A31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01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existing checks passing. Add protection as we go.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E8D2C78-0EC6-400C-A169-A83FCCD1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494987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4C9AC240-ED19-4A75-8B1B-1DD15A27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113 to 1,669 unit-test files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51083efdce4234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C8428A43-5648-475C-BB10-DF4EF31A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8D2974E1-C439-45EE-BF60-CDE2421F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BADF56BC-0725-434B-886A-609AC4ED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test-file inventory, January to September 2026. File count does not measure coverage.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A71786E4-A0E8-4460-B69C-92780FE5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7291796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64BB44C4-0480-426A-92F2-9A661DE9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A31C566F-0BA4-4D5F-BCFA-D3D77199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7AA55F7F-5E5F-4CE8-91CA-B15332A9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80DBCA3C-1169-49FA-8092-E77BBC27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ACA76752-A005-4061-9F22-1E85E7A1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0D32226D-A671-404A-AB23-F17A434F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d6741ba7b4708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17a689959b495b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e09c694a04f65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971cbd10e24ec9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6D1CB86-8FA2-4D9F-A648-2EA0DAB0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109021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21F42C89-8702-46A4-92FE-35D03D55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Every PR goes through CI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B4F26B4-FB01-4B2E-938C-B661720F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Failed checks block the pipeline until they pass.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8E9ACEE-51DE-4A98-B27C-3F37CFFA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Run the checks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452BD97-DF1B-42A9-9DCE-71088D29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22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Lint, types, tests and build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21B7348-1EDE-49EA-8C2B-0B7D03FF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 evaluates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D7CE005-DF41-4AAB-B64D-C9BCD8CF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Watch CI results. Investigate each failure.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4341048-6EA6-4852-A295-3B5A6996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 fixes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BCAAE61-29CC-4C9D-97E2-971237D6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the correction. Commit, push and run again.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0DB35DE-7EF7-4490-93D5-A7CE23A7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The loop repeats until the required checks pass.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1F6F4E9-D326-403F-A3F0-DF08845F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481731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A651FE0-02D8-45FD-995C-C7E19B58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quality bar keeps rising</a:t>
            </a:r>
          </a:p>
        </p:txBody>
      </p:sp>
      <p:sp>
        <p:nvSpPr>
          <p:cNvPr id="2" name="Metric value">
            <a:extLst xmlns:a="http://schemas.openxmlformats.org/drawingml/2006/main">
              <a:ext uri="{FF2B5EF4-FFF2-40B4-BE49-F238E27FC236}">
                <a16:creationId xmlns:a16="http://schemas.microsoft.com/office/drawing/2014/main" id="{978F308C-28E3-448E-9058-4D676400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10287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pPr>
            <a:r>
              <a: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rPr>
              <a:t>72%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7D80EC3-DCDF-4980-8E8D-960350BA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Line coverage, September 2026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2D5D558-4D1A-47DC-9289-03A6BA7A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8820636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F263F267-1757-4058-9D14-CE17B3CD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4F6F8B8B-CB59-43BA-BDF3-A41E00C3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9D1B131E-987F-4E6F-B82E-39A5BAD7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9E5F4306-8CD6-44F8-84BE-65405B2C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AB537A24-1CD5-4435-A804-E1DA48FB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F9603A7E-D7C9-4397-A1AD-2B509F7D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81E72057-FA15-42E5-9A06-1B5B348C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3D7DC405-1685-40C7-BD0F-B719328EE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e5aac92eea4ac6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bd702f09934e43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b6cc00cbda4c04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2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2668A6B-EB18-4B9B-ADAC-C0A7D2D0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188483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257CF241-3415-4FCC-8F41-560220FC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Maestro checks the app while we sleep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67B83A7-C88D-4E7C-AC02-B8FFC8DC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Android and iOS, with evidence of every failure.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007FD5A-9BDF-4B1A-B99A-C0A2E5E4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PR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DBEAAB1-5060-40D0-A669-46E2757B9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22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the smoke tests.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FB0DC28-B29E-4956-A3AB-74F4E854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578DEDA-12C4-4497-B585-E6AD2EB2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the full end-to-end suite.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741A2F6-C39E-47DF-8C52-5E93FAE8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failure blocks delivery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4F4DF50-F64A-4747-B145-75B0DB87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Fix it first. Watch the video and inspect the logs.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E26F92B-99B6-4E2A-8ECA-FCA3D894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Attach recordings and logs so people and AI can investigate.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DEE70DA-AB40-469C-8AF1-7CB77AA3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8938048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1413FD42-4D8E-4FB4-9463-738C5415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14 to 225 Maestro YAML files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861328ea974996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13D95845-79B9-4726-A656-0AAB771C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F05D9A48-F17C-4197-9C1F-BCBE91C5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F1E05F11-AA9A-4D02-9CB4-8DFB2361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Maestro YAML files, January to September 2026. Includes shared flows and suites.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DB2F84C-C627-464E-970A-ED07DD38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14187579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F4454660-3E90-4334-890B-23B3D3CF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DF8B7338-E3C8-4991-B097-6577CB24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6B3EFE04-7AB8-4703-B4C2-5EBF0EC9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BEE16F68-A9D3-4B72-B614-DE75E063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4CCED7EA-E36F-47D8-A80E-E779D30D8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6BC4728B-9955-4F06-B57A-AA3842D7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4D7C1A4B-77ED-4EC9-9CFE-89BACBAFF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CDEB4541-2693-4429-BD09-B057F7EC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97B60D11-4DDB-44A0-865D-32F99471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6F7DD744-338E-4A2C-907E-0A4D5CAE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2311b84424179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8ec0f66aa6437e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9B7471D-D8BB-4BAC-8AD2-ABB546AA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4103591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F3AC8928-AB73-4C85-9803-C0F37247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Three AI reviewers. One mobile specialist.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DBE3591-5568-40B2-B9F1-092DFB2C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Review feedback arrives without waiting days for a person.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14DACEE-C77E-443F-97FF-C8FD99CB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CodeRabbit, Qodo, cubic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ACF5B3B-3C7C-43A2-94BE-0760EA39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Three review perspectives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A324861-5309-404D-9A72-EFD1DFC7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Custom Cursor reviewer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F669FF2-048F-4AF5-BAD0-3AB8D1DF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hourly review focused on React Native.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E198EDF-0D53-4BB0-9C36-A7D37F16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shared 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1EED131-02AF-4209-8D4D-8F8F1E27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All reviewers use the guidelines in the repository.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A2B4A6AB-F6E4-4586-AC5D-797980A9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2795911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09C15638-5561-43FD-A0DF-3CE3D9A9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Review guidelines live with the code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F1EA01D-7C37-4FE4-8341-4F7F47C1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Every AI reviewer starts with the same mobile context.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99E60EC-4B8C-4E9F-BDA5-74D66794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React Native standards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9899CA7-D8DD-4FF9-8E30-1BBDC70E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best practices and platform behaviour.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7D93B11-0524-4E02-97F9-3E8DFCC8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Engineering expectations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6CDF7EB-5C78-4FD2-8BFD-AFF8BCE5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Reuse existing code. Separate concerns. Require tests.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4CF8802-BCF6-4E3D-969D-46326783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Guidelines evolve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84151F3-B71A-462E-B8C1-03304751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Clarify missed context and improve future reviews.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CD840393-71F8-4FE7-87FD-67EA7734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52927770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5F90FE8F-7B3B-4C34-8C4E-66810113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161E7900-B1CC-4C38-8599-2871F647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6740CFD4-E1F6-4FB1-BE0A-75D45390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7B7EF12D-1BA9-47F2-A2B4-5FC6D083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B8433B0C-0AA9-4A14-B632-A7ECCFA9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3BD0E429-C084-4722-BFE1-164F9280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74EAE6CF-655C-4950-A15E-D707AC70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FEB766B2-0332-4100-8D7F-6B5F9C4F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88EC29A8-BC17-4D99-AF71-14854A12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E0B51085-7EEE-4CEA-9DA4-5630B489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6DAF54AF-B98B-4F4F-B8A8-995ECB1D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6C84DE18-F12B-484B-8228-ABCE9E6C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0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b33c0c03544315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B66ACE0-9F5C-45D6-B1AC-E6A99A2E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9006005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">
            <a:extLst xmlns:a="http://schemas.openxmlformats.org/drawingml/2006/main">
              <a:ext uri="{FF2B5EF4-FFF2-40B4-BE49-F238E27FC236}">
                <a16:creationId xmlns:a16="http://schemas.microsoft.com/office/drawing/2014/main" id="{AE4D9B05-2A5C-4623-A9E5-DFFA35683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Turn an issue into a regression check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02EF712-5C59-4AB6-92F1-76C25704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2336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4400E39-31B1-4E96-9B0D-ABD94FEF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2336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Investigate a recorded issue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AC3ED76-AAF8-4D4B-861E-8B72B73F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432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5296F50-FD25-49DC-9C3A-4443F464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8432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Reproduce the relevant behaviour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28FB49C-F732-457D-94B9-E88F142B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4528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503A2B7-EC04-4C11-8FCA-EA821A8F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4528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a bounded correction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330BE7D-833B-45F9-9B22-C1D254FD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624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C3BD6C1-4DBF-4DB6-992F-6547A8BE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0624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Add a regression check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67366EC-64FB-4280-9998-AE77F54A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720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EB67F59-1680-4C39-8A4F-439F1275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720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Return evidence to review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75A6EF1-9281-4A35-96CB-4F9BB3E6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578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 resurfacing issue becomes a focused development task.</a:t>
            </a:r>
          </a:p>
        </p:txBody>
      </p:sp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CE036FAE-8CFB-495E-9633-3E368606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232350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008DA1C-A2DA-470F-BDF5-3A1B273D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Fewer recorded errors, with variation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f8a824fb4a489e"/>
          </a:graphicData>
        </a:graphic>
      </p:graphicFrame>
      <p:sp>
        <p:nvSpPr>
          <p:cNvPr id="3" name="Date label">
            <a:extLst xmlns:a="http://schemas.openxmlformats.org/drawingml/2006/main">
              <a:ext uri="{FF2B5EF4-FFF2-40B4-BE49-F238E27FC236}">
                <a16:creationId xmlns:a16="http://schemas.microsoft.com/office/drawing/2014/main" id="{62E3AE39-0E6C-4DE9-A861-B6B03B95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7 Jul</a:t>
            </a:r>
          </a:p>
        </p:txBody>
      </p:sp>
      <p:sp>
        <p:nvSpPr>
          <p:cNvPr id="4" name="Date label">
            <a:extLst xmlns:a="http://schemas.openxmlformats.org/drawingml/2006/main">
              <a:ext uri="{FF2B5EF4-FFF2-40B4-BE49-F238E27FC236}">
                <a16:creationId xmlns:a16="http://schemas.microsoft.com/office/drawing/2014/main" id="{3701E9B8-04BC-4102-80CC-98B77DD0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4 Aug</a:t>
            </a:r>
          </a:p>
        </p:txBody>
      </p:sp>
      <p:sp>
        <p:nvSpPr>
          <p:cNvPr id="5" name="Date label">
            <a:extLst xmlns:a="http://schemas.openxmlformats.org/drawingml/2006/main">
              <a:ext uri="{FF2B5EF4-FFF2-40B4-BE49-F238E27FC236}">
                <a16:creationId xmlns:a16="http://schemas.microsoft.com/office/drawing/2014/main" id="{A64F35CD-E536-4E8B-8E5F-01E5403D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 Sep</a:t>
            </a:r>
          </a:p>
        </p:txBody>
      </p:sp>
      <p:sp>
        <p:nvSpPr>
          <p:cNvPr id="6" name="Date label">
            <a:extLst xmlns:a="http://schemas.openxmlformats.org/drawingml/2006/main">
              <a:ext uri="{FF2B5EF4-FFF2-40B4-BE49-F238E27FC236}">
                <a16:creationId xmlns:a16="http://schemas.microsoft.com/office/drawing/2014/main" id="{30A999D4-A532-4472-AABD-D5B87CAC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 Sep</a:t>
            </a:r>
          </a:p>
        </p:txBody>
      </p:sp>
      <p:sp>
        <p:nvSpPr>
          <p:cNvPr id="7" name="Methodology">
            <a:extLst xmlns:a="http://schemas.openxmlformats.org/drawingml/2006/main">
              <a:ext uri="{FF2B5EF4-FFF2-40B4-BE49-F238E27FC236}">
                <a16:creationId xmlns:a16="http://schemas.microsoft.com/office/drawing/2014/main" id="{EDB43C70-1888-4878-AF5A-894FEFC6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Daily events, all environments. 7 July to 30 September 2026.</a:t>
            </a:r>
          </a:p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Fixes, filters and sampling affect counts. No usage denominator.</a:t>
            </a:r>
          </a:p>
        </p:txBody>
      </p:sp>
      <p:sp>
        <p:nvSpPr>
          <p:cNvPr id="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0367C67-0575-49F6-8AF1-63FFE37F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10058611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80A9A7C3-C73E-409C-A715-F8CEC33E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E3AFC1B9-EFAC-4176-945E-C08F9BD2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D1CEA0BE-78E9-4144-8555-C5B87B95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D400C854-254B-4A50-A820-72A3DCC1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4E54D0DE-FDA4-4901-A4E6-F3637D47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D79F68B5-DE95-42B2-8D6B-F165CECA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FFE4913C-83D5-4E85-BBE7-DFF04B3A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60DFE702-870B-4BAF-9817-5086ED4A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077C84DB-9456-41F9-A270-A14280AB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5127C9CA-6E80-4FAF-B0EC-572566864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Completed section 5">
            <a:extLst xmlns:a="http://schemas.openxmlformats.org/drawingml/2006/main">
              <a:ext uri="{FF2B5EF4-FFF2-40B4-BE49-F238E27FC236}">
                <a16:creationId xmlns:a16="http://schemas.microsoft.com/office/drawing/2014/main" id="{FB8814B9-3C79-4694-938E-37F1114C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4B1C40E1-53F5-4819-961F-F11D49B0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0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sp>
        <p:nvSpPr>
          <p:cNvPr id="13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ABB16E36-2EE4-48F0-B971-810672A8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6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07  Delivery</a:t>
            </a:r>
          </a:p>
        </p:txBody>
      </p:sp>
      <p:sp>
        <p:nvSpPr>
          <p:cNvPr id="14" name="Section description 6">
            <a:extLst xmlns:a="http://schemas.openxmlformats.org/drawingml/2006/main">
              <a:ext uri="{FF2B5EF4-FFF2-40B4-BE49-F238E27FC236}">
                <a16:creationId xmlns:a16="http://schemas.microsoft.com/office/drawing/2014/main" id="{51B5DF06-CA37-4252-9A68-2308FCB6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76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Ship small changes. Activate features separately.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48C866B-8862-464E-8960-236DF4F2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7917691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A1A90384-BD75-4366-B727-62D69FF5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Canary builds and nightly betas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74069A7-E5CB-4D24-A22F-F3AA3663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TestFlight for iOS. Test builds for Android.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C77D9F4-2F68-490A-9EBF-E78BFF2B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69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After each PR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B7582BD-450C-45FD-B1C4-AB472271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69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 canary build to try the change.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5B4AA40-2117-44AE-B73F-06DF1CA0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13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6067234-B2EF-4DAA-AC01-DA130DED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13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automated beta build for testing.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2FDA493-AFC2-4302-A272-E455BC3A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57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Side by side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8A3EC5B-F833-457B-B01E-04D8AF17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57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Install canary beside the normal app. Compare before and after.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4360EF6-B7CD-4FD0-B58A-BD0F1372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01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Clear test instructions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2AD5942-60D7-4094-9025-BD6BE1BF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01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Generated TestFlight notes explain what changed and what to test.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D9AB200-F241-433B-979D-FA841613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130670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C7EA056B-0C64-4723-AC9B-9BFA8A8E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Release the code. Approve the flag.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040A7B0-FB97-44DA-9069-B3CC959C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Small changes ship behind feature flags.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7065BFC-EE66-456E-A92A-FD2CBB17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Small increments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418602B-51C9-4868-8205-D9728BA5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unfinished features hidden behind a flag.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8306EE5-F796-4187-B1FD-F7D577A7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Seamless releases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D578408-87D9-4CCB-89AC-7E7A375B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Release verified code without the feature sign-off queue.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66698F2-718D-419C-8275-31E439AD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Focused approval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5353F6D-E08D-4AFA-8AFA-D8FA5EF5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Approve activating the feature when it is ready.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31C0B23-C236-4C82-882E-A3F17915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44954227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1066D99B-7016-46C4-8810-D7E9E96C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development rhythm changed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9af2cd99954836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7A8CB0E3-071A-4235-B122-4B8589D7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1220C954-6E16-4C79-8E24-C8E169B0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7CD241B9-29B0-4677-A317-7F1581DF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2026 app and design-system PRs across two repositories. Activity, not productivity.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4BDD38A-7828-445B-BB0E-D564C8ED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65965612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">
            <a:extLst xmlns:a="http://schemas.openxmlformats.org/drawingml/2006/main">
              <a:ext uri="{FF2B5EF4-FFF2-40B4-BE49-F238E27FC236}">
                <a16:creationId xmlns:a16="http://schemas.microsoft.com/office/drawing/2014/main" id="{37975EC4-7E4E-46DA-A751-F9FA3793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There’s another talk in what we left out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1FE1295-5008-4B22-9C7A-B199FF36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A few months of change across the team, codebase and business.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342B955-9139-4E96-AFF8-0BE21E25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4588"/>
            <a:ext cx="320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Design system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7B7030C-5D36-4FDB-A8B2-844016F4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14588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A shared UI language and a consistent quality bar.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3858F9B-56C9-48AD-A3E2-46F5A9B2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5638"/>
            <a:ext cx="320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Monorepo and ways of working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145B3EB-C74F-4AE8-8429-42CA2E15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95638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Shared code, coordinated changes and clearer ownership.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A227AA3-10EC-4477-AF1E-8FAF315E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76688"/>
            <a:ext cx="320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Product engineering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CBD1D57-A667-46FC-8541-340C86E7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76688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Broader ownership, from product decisions to delivery.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FF736DF-09EB-45F1-81EE-988A51BC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57738"/>
            <a:ext cx="320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AI development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6C5136B-1E24-4B88-ADDD-01EE25B5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Adoption across planning, code, review and verification.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CB81B2A-3539-41FF-B3FF-7149B264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38788"/>
            <a:ext cx="320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An AI harness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3A34651-64B0-4C7B-A1FC-3B94DEF9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538788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Context, skills, tools and checks around the agents.</a:t>
            </a:r>
          </a:p>
        </p:txBody>
      </p:sp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D4890EB-EF51-4B46-BD96-52959785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29112972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8B74B684-93C3-4DD8-98DD-22FF0281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What I’d take into another team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A1971EC-3F62-469A-97DC-74589515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07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Find the 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FC2E16C-D1CB-48BA-89C2-D3DFBB11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07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Start where repeated work slows delivery.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7747A2A-C1D8-4A0A-B481-3D8CEC06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51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Write down the bar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216D60C-038C-4F74-BD3F-1E90F214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051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quality expectations clear to people and AI.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65C1557-0167-4400-9E5B-A0AF3E63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95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Close the feedback loop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DFD0105-F2F7-47FA-96AF-8A574EE1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195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Connect checks, evidence and fixes.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0A6ACB6-CDBE-454E-9BB4-57F0CBF4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39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Adapt the rollout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827526D-3DC1-443E-B78D-DCD874FC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339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Choose tools and release rules that fit your team.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B8CFBBF-4EE8-4FD7-8E76-3C129E31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Keep the principles. Adapt the implementation.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B072C43-D0C7-4163-99CB-219312E4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11480170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">
            <a:extLst xmlns:a="http://schemas.openxmlformats.org/drawingml/2006/main">
              <a:ext uri="{FF2B5EF4-FFF2-40B4-BE49-F238E27FC236}">
                <a16:creationId xmlns:a16="http://schemas.microsoft.com/office/drawing/2014/main" id="{478E8F0E-C76B-4B15-A890-79EBFF60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Confidence in AI-assisted development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E6403A9-C8BE-4A0D-B5F9-153AD336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Seven practices for mobile development. One continuous loop.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77A1AD9-CBCC-44F2-A7B1-F795F728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Skills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11E6B45-AD4B-4EF3-801A-FF5905EE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86025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Repeat good habits and engineering standards.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21AB3AF-FA00-442B-88DA-B4D98347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62275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Testing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24AD563-FDB9-471C-BE09-2F3048F3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62275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Protect behaviour with meaningful regression checks.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5F4E6DA-A5BA-4670-8D0F-27F30458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38525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CI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C47F9CB-77C2-4B46-9CBC-A62F4D7C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38525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Check every PR. Block failures until fixed.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8B306C2-1548-47F9-B616-E6322DD4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4775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Device verification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38FA6EC-2F7A-4AF3-8551-BDA50441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14775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Maestro smoke and nightly checks. Videos and logs.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8F69DFF-2668-4622-90B2-88F86AEF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1025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AI reviewers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E44BC78E-1119-4501-86A7-31C48C6B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1025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Shared mobile guidelines. Feedback evaluated and fixed.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BB26C6F-E670-4C42-8103-456DB4ED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Sentry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19BBE4C-E910-4E1D-8D4A-0342D99A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67275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Turn production issues into regression checks.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4598CC10-9C1E-4FFF-BBFE-DD9A2BE9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43525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Delivery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CCF2D0F-37D2-4E8A-BA4D-BE2C96E4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43525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Canary per PR. Nightly beta. Feature flags.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CDB2414B-B010-44EA-B15A-DC5C781C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Less repetitive QA. More confidence. Faster delivery.</a:t>
            </a:r>
          </a:p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1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C634AE3-5EB6-4358-B245-D1979B03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9395822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2026-10-05T00:38:04.8950000Z</dcterms:created>
  <dcterms:modified xsi:type="dcterms:W3CDTF">2026-10-05T00:38:04.8950000Z</dcterms:modified>
</coreProperties>
</file>