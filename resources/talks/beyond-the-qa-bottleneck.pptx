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328e67f85b4cfe" /><Relationship Type="http://schemas.openxmlformats.org/officeDocument/2006/relationships/extended-properties" Target="/docProps/app.xml" Id="Rdf13961215494534" /><Relationship Type="http://schemas.openxmlformats.org/officeDocument/2006/relationships/officeDocument" Target="/ppt/presentation.xml" Id="R119eb1f70c894c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239de05a4d4524"/>
  </p:sldMasterIdLst>
  <p:notesMasterIdLst>
    <p:notesMasterId xmlns:r="http://schemas.openxmlformats.org/officeDocument/2006/relationships" r:id="Rf2c8eb5f523b480b"/>
  </p:notesMasterIdLst>
  <p:sldIdLst>
    <p:sldId xmlns:r="http://schemas.openxmlformats.org/officeDocument/2006/relationships" id="256" r:id="Rc520a373bf4646bb"/>
    <p:sldId xmlns:r="http://schemas.openxmlformats.org/officeDocument/2006/relationships" id="257" r:id="Raec67808dd564488"/>
    <p:sldId xmlns:r="http://schemas.openxmlformats.org/officeDocument/2006/relationships" id="258" r:id="Raea8525a61844bcb"/>
    <p:sldId xmlns:r="http://schemas.openxmlformats.org/officeDocument/2006/relationships" id="259" r:id="Re70a120ed79d4ba4"/>
    <p:sldId xmlns:r="http://schemas.openxmlformats.org/officeDocument/2006/relationships" id="260" r:id="Re6827ad3cc4041b3"/>
    <p:sldId xmlns:r="http://schemas.openxmlformats.org/officeDocument/2006/relationships" id="261" r:id="R5bba421b65dd40e2"/>
    <p:sldId xmlns:r="http://schemas.openxmlformats.org/officeDocument/2006/relationships" id="262" r:id="Rf924e6a3bbd54b2a"/>
    <p:sldId xmlns:r="http://schemas.openxmlformats.org/officeDocument/2006/relationships" id="263" r:id="R20468bcedf8d46e4"/>
    <p:sldId xmlns:r="http://schemas.openxmlformats.org/officeDocument/2006/relationships" id="264" r:id="R5c186081e4c042bf"/>
    <p:sldId xmlns:r="http://schemas.openxmlformats.org/officeDocument/2006/relationships" id="265" r:id="Rb067efd82fde4f9f"/>
    <p:sldId xmlns:r="http://schemas.openxmlformats.org/officeDocument/2006/relationships" id="266" r:id="Rc6191650bac14e6b"/>
    <p:sldId xmlns:r="http://schemas.openxmlformats.org/officeDocument/2006/relationships" id="267" r:id="Rcff242507e3943ba"/>
    <p:sldId xmlns:r="http://schemas.openxmlformats.org/officeDocument/2006/relationships" id="268" r:id="R6f48c4cf355e4d69"/>
    <p:sldId xmlns:r="http://schemas.openxmlformats.org/officeDocument/2006/relationships" id="269" r:id="R0f1ebd4e19754b48"/>
    <p:sldId xmlns:r="http://schemas.openxmlformats.org/officeDocument/2006/relationships" id="270" r:id="R2a968eeecbe14f86"/>
    <p:sldId xmlns:r="http://schemas.openxmlformats.org/officeDocument/2006/relationships" id="271" r:id="R509d92d34d6a4ac9"/>
    <p:sldId xmlns:r="http://schemas.openxmlformats.org/officeDocument/2006/relationships" id="272" r:id="R53d737665a824fb3"/>
    <p:sldId xmlns:r="http://schemas.openxmlformats.org/officeDocument/2006/relationships" id="273" r:id="Rc8caa64f8a174535"/>
    <p:sldId xmlns:r="http://schemas.openxmlformats.org/officeDocument/2006/relationships" id="274" r:id="Ra4f9484cb9814bff"/>
    <p:sldId xmlns:r="http://schemas.openxmlformats.org/officeDocument/2006/relationships" id="275" r:id="Rbf4eac4f68b84a1f"/>
    <p:sldId xmlns:r="http://schemas.openxmlformats.org/officeDocument/2006/relationships" id="276" r:id="R2c9d636f95b646f7"/>
    <p:sldId xmlns:r="http://schemas.openxmlformats.org/officeDocument/2006/relationships" id="277" r:id="Ra6412c8027e848a2"/>
    <p:sldId xmlns:r="http://schemas.openxmlformats.org/officeDocument/2006/relationships" id="278" r:id="R8131c229cb5f40a0"/>
    <p:sldId xmlns:r="http://schemas.openxmlformats.org/officeDocument/2006/relationships" id="279" r:id="R9493df760f9c4256"/>
    <p:sldId xmlns:r="http://schemas.openxmlformats.org/officeDocument/2006/relationships" id="280" r:id="Re069c11563664323"/>
    <p:sldId xmlns:r="http://schemas.openxmlformats.org/officeDocument/2006/relationships" id="281" r:id="R5d91e2d0f5c34d6e"/>
    <p:sldId xmlns:r="http://schemas.openxmlformats.org/officeDocument/2006/relationships" id="282" r:id="R47d5fb423a344077"/>
    <p:sldId xmlns:r="http://schemas.openxmlformats.org/officeDocument/2006/relationships" id="283" r:id="R5373e16a445148b1"/>
    <p:sldId xmlns:r="http://schemas.openxmlformats.org/officeDocument/2006/relationships" id="284" r:id="R2fa5aaa5e22d4aa1"/>
    <p:sldId xmlns:r="http://schemas.openxmlformats.org/officeDocument/2006/relationships" id="285" r:id="Rec83db51859e4ea5"/>
    <p:sldId xmlns:r="http://schemas.openxmlformats.org/officeDocument/2006/relationships" id="286" r:id="Rd5aec7baae6448ea"/>
    <p:sldId xmlns:r="http://schemas.openxmlformats.org/officeDocument/2006/relationships" id="287" r:id="Re2d31457605f4f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a370c4f342474a" /><Relationship Type="http://schemas.openxmlformats.org/officeDocument/2006/relationships/slideMaster" Target="/ppt/slideMasters/slideMaster1.xml" Id="R48239de05a4d4524" /><Relationship Type="http://schemas.openxmlformats.org/officeDocument/2006/relationships/notesMaster" Target="/ppt/notesMasters/notesMaster1.xml" Id="Rf2c8eb5f523b480b" /><Relationship Type="http://schemas.openxmlformats.org/officeDocument/2006/relationships/presProps" Target="/ppt/presProps.xml" Id="Re37076eab32b4293" /><Relationship Type="http://schemas.openxmlformats.org/officeDocument/2006/relationships/tableStyles" Target="/ppt/tableStyles.xml" Id="R93778e8f50c1483d" /><Relationship Type="http://schemas.openxmlformats.org/officeDocument/2006/relationships/slide" Target="/ppt/slides/slide1.xml" Id="Rc520a373bf4646bb" /><Relationship Type="http://schemas.openxmlformats.org/officeDocument/2006/relationships/slide" Target="/ppt/slides/slide2.xml" Id="Raec67808dd564488" /><Relationship Type="http://schemas.openxmlformats.org/officeDocument/2006/relationships/slide" Target="/ppt/slides/slide3.xml" Id="Raea8525a61844bcb" /><Relationship Type="http://schemas.openxmlformats.org/officeDocument/2006/relationships/slide" Target="/ppt/slides/slide4.xml" Id="Re70a120ed79d4ba4" /><Relationship Type="http://schemas.openxmlformats.org/officeDocument/2006/relationships/slide" Target="/ppt/slides/slide5.xml" Id="Re6827ad3cc4041b3" /><Relationship Type="http://schemas.openxmlformats.org/officeDocument/2006/relationships/slide" Target="/ppt/slides/slide6.xml" Id="R5bba421b65dd40e2" /><Relationship Type="http://schemas.openxmlformats.org/officeDocument/2006/relationships/slide" Target="/ppt/slides/slide7.xml" Id="Rf924e6a3bbd54b2a" /><Relationship Type="http://schemas.openxmlformats.org/officeDocument/2006/relationships/slide" Target="/ppt/slides/slide8.xml" Id="R20468bcedf8d46e4" /><Relationship Type="http://schemas.openxmlformats.org/officeDocument/2006/relationships/slide" Target="/ppt/slides/slide9.xml" Id="R5c186081e4c042bf" /><Relationship Type="http://schemas.openxmlformats.org/officeDocument/2006/relationships/slide" Target="/ppt/slides/slide10.xml" Id="Rb067efd82fde4f9f" /><Relationship Type="http://schemas.openxmlformats.org/officeDocument/2006/relationships/slide" Target="/ppt/slides/slide11.xml" Id="Rc6191650bac14e6b" /><Relationship Type="http://schemas.openxmlformats.org/officeDocument/2006/relationships/slide" Target="/ppt/slides/slide12.xml" Id="Rcff242507e3943ba" /><Relationship Type="http://schemas.openxmlformats.org/officeDocument/2006/relationships/slide" Target="/ppt/slides/slide13.xml" Id="R6f48c4cf355e4d69" /><Relationship Type="http://schemas.openxmlformats.org/officeDocument/2006/relationships/slide" Target="/ppt/slides/slide14.xml" Id="R0f1ebd4e19754b48" /><Relationship Type="http://schemas.openxmlformats.org/officeDocument/2006/relationships/slide" Target="/ppt/slides/slide15.xml" Id="R2a968eeecbe14f86" /><Relationship Type="http://schemas.openxmlformats.org/officeDocument/2006/relationships/slide" Target="/ppt/slides/slide16.xml" Id="R509d92d34d6a4ac9" /><Relationship Type="http://schemas.openxmlformats.org/officeDocument/2006/relationships/slide" Target="/ppt/slides/slide17.xml" Id="R53d737665a824fb3" /><Relationship Type="http://schemas.openxmlformats.org/officeDocument/2006/relationships/slide" Target="/ppt/slides/slide18.xml" Id="Rc8caa64f8a174535" /><Relationship Type="http://schemas.openxmlformats.org/officeDocument/2006/relationships/slide" Target="/ppt/slides/slide19.xml" Id="Ra4f9484cb9814bff" /><Relationship Type="http://schemas.openxmlformats.org/officeDocument/2006/relationships/slide" Target="/ppt/slides/slide20.xml" Id="Rbf4eac4f68b84a1f" /><Relationship Type="http://schemas.openxmlformats.org/officeDocument/2006/relationships/slide" Target="/ppt/slides/slide21.xml" Id="R2c9d636f95b646f7" /><Relationship Type="http://schemas.openxmlformats.org/officeDocument/2006/relationships/slide" Target="/ppt/slides/slide22.xml" Id="Ra6412c8027e848a2" /><Relationship Type="http://schemas.openxmlformats.org/officeDocument/2006/relationships/slide" Target="/ppt/slides/slide23.xml" Id="R8131c229cb5f40a0" /><Relationship Type="http://schemas.openxmlformats.org/officeDocument/2006/relationships/slide" Target="/ppt/slides/slide24.xml" Id="R9493df760f9c4256" /><Relationship Type="http://schemas.openxmlformats.org/officeDocument/2006/relationships/slide" Target="/ppt/slides/slide25.xml" Id="Re069c11563664323" /><Relationship Type="http://schemas.openxmlformats.org/officeDocument/2006/relationships/slide" Target="/ppt/slides/slide26.xml" Id="R5d91e2d0f5c34d6e" /><Relationship Type="http://schemas.openxmlformats.org/officeDocument/2006/relationships/slide" Target="/ppt/slides/slide27.xml" Id="R47d5fb423a344077" /><Relationship Type="http://schemas.openxmlformats.org/officeDocument/2006/relationships/slide" Target="/ppt/slides/slide28.xml" Id="R5373e16a445148b1" /><Relationship Type="http://schemas.openxmlformats.org/officeDocument/2006/relationships/slide" Target="/ppt/slides/slide29.xml" Id="R2fa5aaa5e22d4aa1" /><Relationship Type="http://schemas.openxmlformats.org/officeDocument/2006/relationships/slide" Target="/ppt/slides/slide30.xml" Id="Rec83db51859e4ea5" /><Relationship Type="http://schemas.openxmlformats.org/officeDocument/2006/relationships/slide" Target="/ppt/slides/slide31.xml" Id="Rd5aec7baae6448ea" /><Relationship Type="http://schemas.openxmlformats.org/officeDocument/2006/relationships/slide" Target="/ppt/slides/slide32.xml" Id="Re2d31457605f4f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d2e8a5298a48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3b7cb45cee4016" /><Relationship Type="http://schemas.openxmlformats.org/officeDocument/2006/relationships/notesMaster" Target="/ppt/notesMasters/notesMaster1.xml" Id="R1096dbbceb544e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58c957bbe042f2" /><Relationship Type="http://schemas.openxmlformats.org/officeDocument/2006/relationships/notesMaster" Target="/ppt/notesMasters/notesMaster1.xml" Id="R029a7969e2c244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0bf934cfc64172" /><Relationship Type="http://schemas.openxmlformats.org/officeDocument/2006/relationships/notesMaster" Target="/ppt/notesMasters/notesMaster1.xml" Id="Reb7f1987e1064a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370dc8433343c8" /><Relationship Type="http://schemas.openxmlformats.org/officeDocument/2006/relationships/notesMaster" Target="/ppt/notesMasters/notesMaster1.xml" Id="R134b21bfcb074f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ce9a5c1d734b4b" /><Relationship Type="http://schemas.openxmlformats.org/officeDocument/2006/relationships/notesMaster" Target="/ppt/notesMasters/notesMaster1.xml" Id="Rf6da1379620a46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ae3689896e4cc1" /><Relationship Type="http://schemas.openxmlformats.org/officeDocument/2006/relationships/notesMaster" Target="/ppt/notesMasters/notesMaster1.xml" Id="R6f1448f375524e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a412d904fe4c0e" /><Relationship Type="http://schemas.openxmlformats.org/officeDocument/2006/relationships/notesMaster" Target="/ppt/notesMasters/notesMaster1.xml" Id="R79ba24468e5049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dcee2dc09145da" /><Relationship Type="http://schemas.openxmlformats.org/officeDocument/2006/relationships/notesMaster" Target="/ppt/notesMasters/notesMaster1.xml" Id="R2bd3f95e24b74a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b3165be6be44b8" /><Relationship Type="http://schemas.openxmlformats.org/officeDocument/2006/relationships/notesMaster" Target="/ppt/notesMasters/notesMaster1.xml" Id="Rcb3ce4f07f3841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18e43b6039f44fc" /><Relationship Type="http://schemas.openxmlformats.org/officeDocument/2006/relationships/notesMaster" Target="/ppt/notesMasters/notesMaster1.xml" Id="R34afc8c3e9ac44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18cc8b57164f81" /><Relationship Type="http://schemas.openxmlformats.org/officeDocument/2006/relationships/notesMaster" Target="/ppt/notesMasters/notesMaster1.xml" Id="R1c9e8cd6fb2c474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ab6e580d4d24fe5" /><Relationship Type="http://schemas.openxmlformats.org/officeDocument/2006/relationships/notesMaster" Target="/ppt/notesMasters/notesMaster1.xml" Id="Rbacfd05d1d4c439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d117e53150466f" /><Relationship Type="http://schemas.openxmlformats.org/officeDocument/2006/relationships/notesMaster" Target="/ppt/notesMasters/notesMaster1.xml" Id="Re6905d23b2024f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3439230fa1f4821" /><Relationship Type="http://schemas.openxmlformats.org/officeDocument/2006/relationships/notesMaster" Target="/ppt/notesMasters/notesMaster1.xml" Id="R6cf308d535e740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25ba5775d904205" /><Relationship Type="http://schemas.openxmlformats.org/officeDocument/2006/relationships/notesMaster" Target="/ppt/notesMasters/notesMaster1.xml" Id="R0390ecc852e646a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fb7233071b44ea5" /><Relationship Type="http://schemas.openxmlformats.org/officeDocument/2006/relationships/notesMaster" Target="/ppt/notesMasters/notesMaster1.xml" Id="R902467a2561946a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f8960a888d742d0" /><Relationship Type="http://schemas.openxmlformats.org/officeDocument/2006/relationships/notesMaster" Target="/ppt/notesMasters/notesMaster1.xml" Id="Rfcfa8a011a8e42b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b7dc448eb4d4e78" /><Relationship Type="http://schemas.openxmlformats.org/officeDocument/2006/relationships/notesMaster" Target="/ppt/notesMasters/notesMaster1.xml" Id="R316b1782dd61493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7617afb6a144021" /><Relationship Type="http://schemas.openxmlformats.org/officeDocument/2006/relationships/notesMaster" Target="/ppt/notesMasters/notesMaster1.xml" Id="R7e69747284d34af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c4e48bac97c4a28" /><Relationship Type="http://schemas.openxmlformats.org/officeDocument/2006/relationships/notesMaster" Target="/ppt/notesMasters/notesMaster1.xml" Id="R3d74da7adc0b449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8d6e43d30c04961" /><Relationship Type="http://schemas.openxmlformats.org/officeDocument/2006/relationships/notesMaster" Target="/ppt/notesMasters/notesMaster1.xml" Id="R6fd6435cea20491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2bf4b771a894f3d" /><Relationship Type="http://schemas.openxmlformats.org/officeDocument/2006/relationships/notesMaster" Target="/ppt/notesMasters/notesMaster1.xml" Id="R9cb8e07679944bb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cc430af47c9404d" /><Relationship Type="http://schemas.openxmlformats.org/officeDocument/2006/relationships/notesMaster" Target="/ppt/notesMasters/notesMaster1.xml" Id="R985d982e0f564f3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32f81c8469f4e15" /><Relationship Type="http://schemas.openxmlformats.org/officeDocument/2006/relationships/notesMaster" Target="/ppt/notesMasters/notesMaster1.xml" Id="R4ab1692adac8444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8872eb970f24eb1" /><Relationship Type="http://schemas.openxmlformats.org/officeDocument/2006/relationships/notesMaster" Target="/ppt/notesMasters/notesMaster1.xml" Id="R93e38372f564490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3aa125cd54a47c5" /><Relationship Type="http://schemas.openxmlformats.org/officeDocument/2006/relationships/notesMaster" Target="/ppt/notesMasters/notesMaster1.xml" Id="Rf98ce707c7eb49c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2087874118448ee" /><Relationship Type="http://schemas.openxmlformats.org/officeDocument/2006/relationships/notesMaster" Target="/ppt/notesMasters/notesMaster1.xml" Id="R5b97187feced463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7e472eda4ee4269" /><Relationship Type="http://schemas.openxmlformats.org/officeDocument/2006/relationships/notesMaster" Target="/ppt/notesMasters/notesMaster1.xml" Id="R649073ee18c1427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1c901873f144bca" /><Relationship Type="http://schemas.openxmlformats.org/officeDocument/2006/relationships/notesMaster" Target="/ppt/notesMasters/notesMaster1.xml" Id="R6290c18bae0347d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6dd1fd8074b4fdd" /><Relationship Type="http://schemas.openxmlformats.org/officeDocument/2006/relationships/notesMaster" Target="/ppt/notesMasters/notesMaster1.xml" Id="R0b097e6f23be478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b250de54ae04259" /><Relationship Type="http://schemas.openxmlformats.org/officeDocument/2006/relationships/notesMaster" Target="/ppt/notesMasters/notesMaster1.xml" Id="Ra58bb008028d4fe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033f74e43b0487d" /><Relationship Type="http://schemas.openxmlformats.org/officeDocument/2006/relationships/notesMaster" Target="/ppt/notesMasters/notesMaster1.xml" Id="R6407274e5b8244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 finished. Confidence missing.</a:t>
            </a:r>
          </a:p>
          <a:p xmlns:a="http://schemas.openxmlformats.org/drawingml/2006/main">
            <a:r>
              <a:t>• React Native + AI adoption</a:t>
            </a:r>
          </a:p>
          <a:p xmlns:a="http://schemas.openxmlformats.org/drawingml/2006/main">
            <a:r>
              <a:t>• Verification inside everyday development</a:t>
            </a:r>
          </a:p>
          <a:p xmlns:a="http://schemas.openxmlformats.org/drawingml/2006/main">
            <a:r>
              <a:t>• John Adib · MrAdib.com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</a:t>
            </a:r>
          </a:p>
          <a:p xmlns:a="http://schemas.openxmlformats.org/drawingml/2006/main">
            <a:r>
              <a:t>• Previously checked behaviour breaks again</a:t>
            </a:r>
          </a:p>
          <a:p xmlns:a="http://schemas.openxmlformats.org/drawingml/2006/main">
            <a:r>
              <a:t>• Repeated work. Falling confidence.</a:t>
            </a:r>
          </a:p>
          <a:p xmlns:a="http://schemas.openxmlformats.org/drawingml/2006/main">
            <a:r>
              <a:t>• First-hand experience, not an incident-rate 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Small unit-test suite</a:t>
            </a:r>
          </a:p>
          <a:p xmlns:a="http://schemas.openxmlformats.org/drawingml/2006/main">
            <a:r>
              <a:t>• End-to-end checks outside CI</a:t>
            </a:r>
          </a:p>
          <a:p xmlns:a="http://schemas.openxmlformats.org/drawingml/2006/main">
            <a:r>
              <a:t>• Nobody ran them</a:t>
            </a:r>
          </a:p>
          <a:p xmlns:a="http://schemas.openxmlformats.org/drawingml/2006/main">
            <a:r>
              <a:t>• Files existed. Reliable feedback did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More than three days of app QA</a:t>
            </a:r>
          </a:p>
          <a:p xmlns:a="http://schemas.openxmlformats.org/drawingml/2006/main">
            <a:r>
              <a:t>• Engineering, product, UX/design</a:t>
            </a:r>
          </a:p>
          <a:p xmlns:a="http://schemas.openxmlformats.org/drawingml/2006/main">
            <a:r>
              <a:t>• Many people pause their own work</a:t>
            </a:r>
          </a:p>
          <a:p xmlns:a="http://schemas.openxmlformats.org/drawingml/2006/main">
            <a:r>
              <a:t>• The cost: interrupted progress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Days waiting for approval</a:t>
            </a:r>
          </a:p>
          <a:p xmlns:a="http://schemas.openxmlformats.org/drawingml/2006/main">
            <a:r>
              <a:t>• Sign-off chain holds the whole release</a:t>
            </a:r>
          </a:p>
          <a:p xmlns:a="http://schemas.openxmlformats.org/drawingml/2006/main">
            <a:r>
              <a:t>• One feature delays other work</a:t>
            </a:r>
          </a:p>
          <a:p xmlns:a="http://schemas.openxmlformats.org/drawingml/2006/main">
            <a:r>
              <a:t>• Later: approve the feature flag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Existing projects delayed over a quarter</a:t>
            </a:r>
          </a:p>
          <a:p xmlns:a="http://schemas.openxmlformats.org/drawingml/2006/main">
            <a:r>
              <a:t>• Regression work + slow QA + release queues</a:t>
            </a:r>
          </a:p>
          <a:p xmlns:a="http://schemas.openxmlformats.org/drawingml/2006/main">
            <a:r>
              <a:t>• Backlog uncertainty</a:t>
            </a:r>
          </a:p>
          <a:p xmlns:a="http://schemas.openxmlformats.org/drawingml/2006/main">
            <a:r>
              <a:t>• Process problem, not individual blame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John Adib · London</a:t>
            </a:r>
          </a:p>
          <a:p xmlns:a="http://schemas.openxmlformats.org/drawingml/2006/main">
            <a:r>
              <a:t>• 2× co-founder. Former CTO. 18 years.</a:t>
            </a:r>
          </a:p>
          <a:p xmlns:a="http://schemas.openxmlformats.org/drawingml/2006/main">
            <a:r>
              <a:t>• Engineering leader + mentor</a:t>
            </a:r>
          </a:p>
          <a:p xmlns:a="http://schemas.openxmlformats.org/drawingml/2006/main">
            <a:r>
              <a:t>• Product engineering. Broader ownership.</a:t>
            </a:r>
          </a:p>
          <a:p xmlns:a="http://schemas.openxmlformats.org/drawingml/2006/main">
            <a:r>
              <a:t>• I love moving mountains.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Repeat the good engineering habits</a:t>
            </a:r>
          </a:p>
          <a:p xmlns:a="http://schemas.openxmlformats.org/drawingml/2006/main">
            <a:r>
              <a:t>• AI adoption includes verification</a:t>
            </a:r>
          </a:p>
          <a:p xmlns:a="http://schemas.openxmlformats.org/drawingml/2006/main">
            <a:r>
              <a:t>• Seven changes, one development loop</a:t>
            </a:r>
          </a:p>
          <a:p xmlns:a="http://schemas.openxmlformats.org/drawingml/2006/main">
            <a:r>
              <a:t>• First: reusable 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cook: coordinate; sherlock: discover</a:t>
            </a:r>
          </a:p>
          <a:p xmlns:a="http://schemas.openxmlformats.org/drawingml/2006/main">
            <a:r>
              <a:t>• dig: research; mastermind: plan</a:t>
            </a:r>
          </a:p>
          <a:p xmlns:a="http://schemas.openxmlformats.org/drawingml/2006/main">
            <a:r>
              <a:t>• michelin: implement; mugshot: capture</a:t>
            </a:r>
          </a:p>
          <a:p xmlns:a="http://schemas.openxmlformats.org/drawingml/2006/main">
            <a:r>
              <a:t>• parole: evaluate feedback; saul: communicate</a:t>
            </a:r>
          </a:p>
          <a:p xmlns:a="http://schemas.openxmlformats.org/drawingml/2006/main">
            <a:r>
              <a:t>• One workflow. Focus next on Michelin.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18 years of engineering judgement, written down</a:t>
            </a:r>
          </a:p>
          <a:p xmlns:a="http://schemas.openxmlformats.org/drawingml/2006/main">
            <a:r>
              <a:t>• Reuse: code, components, patterns, tools</a:t>
            </a:r>
          </a:p>
          <a:p xmlns:a="http://schemas.openxmlformats.org/drawingml/2006/main">
            <a:r>
              <a:t>• Separation: UI, state, business decisions</a:t>
            </a:r>
          </a:p>
          <a:p xmlns:a="http://schemas.openxmlformats.org/drawingml/2006/main">
            <a:r>
              <a:t>• Quality: tests, readability, actual check results</a:t>
            </a:r>
          </a:p>
          <a:p xmlns:a="http://schemas.openxmlformats.org/drawingml/2006/main">
            <a:r>
              <a:t>• Shared standards for implementation and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meaningful tests</a:t>
            </a:r>
          </a:p>
          <a:p xmlns:a="http://schemas.openxmlformats.org/drawingml/2006/main">
            <a:r>
              <a:t>• Expected behaviour + failure case</a:t>
            </a:r>
          </a:p>
          <a:p xmlns:a="http://schemas.openxmlformats.org/drawingml/2006/main">
            <a:r>
              <a:t>• Every correction leaves protection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Before editing: read the testing guidelines</a:t>
            </a:r>
          </a:p>
          <a:p xmlns:a="http://schemas.openxmlformats.org/drawingml/2006/main">
            <a:r>
              <a:t>• New code must include meaningful tests</a:t>
            </a:r>
          </a:p>
          <a:p xmlns:a="http://schemas.openxmlformats.org/drawingml/2006/main">
            <a:r>
              <a:t>• Bug fix: reproduce failure, prove the fix, preserve working behaviour</a:t>
            </a:r>
          </a:p>
          <a:p xmlns:a="http://schemas.openxmlformats.org/drawingml/2006/main">
            <a:r>
              <a:t>• Human-readable test titles help people and AI understand intent</a:t>
            </a:r>
          </a:p>
          <a:p xmlns:a="http://schemas.openxmlformats.org/drawingml/2006/main">
            <a:r>
              <a:t>• Never lower the bar. Raise it gradually.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113 files. September: 1,669 files.</a:t>
            </a:r>
          </a:p>
          <a:p xmlns:a="http://schemas.openxmlformats.org/drawingml/2006/main">
            <a:r>
              <a:t>• Dashed line: joined in April</a:t>
            </a:r>
          </a:p>
          <a:p xmlns:a="http://schemas.openxmlformats.org/drawingml/2006/main">
            <a:r>
              <a:t>• More protection added as the product evolves</a:t>
            </a:r>
          </a:p>
          <a:p xmlns:a="http://schemas.openxmlformats.org/drawingml/2006/main">
            <a:r>
              <a:t>• Same application across a repository move</a:t>
            </a:r>
          </a:p>
          <a:p xmlns:a="http://schemas.openxmlformats.org/drawingml/2006/main">
            <a:r>
              <a:t>• Files can contain many tests. Coverage is a separate measure.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CI on every PR</a:t>
            </a:r>
          </a:p>
          <a:p xmlns:a="http://schemas.openxmlformats.org/drawingml/2006/main">
            <a:r>
              <a:t>• Lint, types, tests and build</a:t>
            </a:r>
          </a:p>
          <a:p xmlns:a="http://schemas.openxmlformats.org/drawingml/2006/main">
            <a:r>
              <a:t>• Failed checks block the pipeline</a:t>
            </a:r>
          </a:p>
          <a:p xmlns:a="http://schemas.openxmlformats.org/drawingml/2006/main">
            <a:r>
              <a:t>• Parole watches results. Michelin makes valid fixes.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Automated CI on every PR</a:t>
            </a:r>
          </a:p>
          <a:p xmlns:a="http://schemas.openxmlformats.org/drawingml/2006/main">
            <a:r>
              <a:t>• Parole continuously checks the results</a:t>
            </a:r>
          </a:p>
          <a:p xmlns:a="http://schemas.openxmlformats.org/drawingml/2006/main">
            <a:r>
              <a:t>• Evaluate the failure and pass valid work to Michelin</a:t>
            </a:r>
          </a:p>
          <a:p xmlns:a="http://schemas.openxmlformats.org/drawingml/2006/main">
            <a:r>
              <a:t>• Michelin fixes, commits and pushes</a:t>
            </a:r>
          </a:p>
          <a:p xmlns:a="http://schemas.openxmlformats.org/drawingml/2006/main">
            <a:r>
              <a:t>• New commit triggers CI and another review. Repeat until clear.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 snapshot: 72% line coverage</a:t>
            </a:r>
          </a:p>
          <a:p xmlns:a="http://schemas.openxmlformats.org/drawingml/2006/main">
            <a:r>
              <a:t>• Coverage means lines executed during tests</a:t>
            </a:r>
          </a:p>
          <a:p xmlns:a="http://schemas.openxmlformats.org/drawingml/2006/main">
            <a:r>
              <a:t>• 1,669 files: month-end repository inventory</a:t>
            </a:r>
          </a:p>
          <a:p xmlns:a="http://schemas.openxmlformats.org/drawingml/2006/main">
            <a:r>
              <a:t>• 1,351 suites and 7,693 individual tests: one CI run</a:t>
            </a:r>
          </a:p>
          <a:p xmlns:a="http://schemas.openxmlformats.org/drawingml/2006/main">
            <a:r>
              <a:t>• Different units and snapshots. No measured zero-coverage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Maestro, the end-to-end testing tool</a:t>
            </a:r>
          </a:p>
          <a:p xmlns:a="http://schemas.openxmlformats.org/drawingml/2006/main">
            <a:r>
              <a:t>• Android and iOS</a:t>
            </a:r>
          </a:p>
          <a:p xmlns:a="http://schemas.openxmlformats.org/drawingml/2006/main">
            <a:r>
              <a:t>• Smoke checks on every PR</a:t>
            </a:r>
          </a:p>
          <a:p xmlns:a="http://schemas.openxmlformats.org/drawingml/2006/main">
            <a:r>
              <a:t>• Full suite overnight</a:t>
            </a:r>
          </a:p>
          <a:p xmlns:a="http://schemas.openxmlformats.org/drawingml/2006/main">
            <a:r>
              <a:t>• Failed nightly checks block delivery until fixed.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Smoke tests on every PR</a:t>
            </a:r>
          </a:p>
          <a:p xmlns:a="http://schemas.openxmlformats.org/drawingml/2006/main">
            <a:r>
              <a:t>• Full suite nightly on Android and iOS</a:t>
            </a:r>
          </a:p>
          <a:p xmlns:a="http://schemas.openxmlformats.org/drawingml/2006/main">
            <a:r>
              <a:t>• Morning starts with the nightly result</a:t>
            </a:r>
          </a:p>
          <a:p xmlns:a="http://schemas.openxmlformats.org/drawingml/2006/main">
            <a:r>
              <a:t>• A failed run blocks the release pipeline until fixed</a:t>
            </a:r>
          </a:p>
          <a:p xmlns:a="http://schemas.openxmlformats.org/drawingml/2006/main">
            <a:r>
              <a:t>• Maestro video + logs give the AI agent evidence to investigate.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14 YAML files through April; 225 by September</a:t>
            </a:r>
          </a:p>
          <a:p xmlns:a="http://schemas.openxmlformats.org/drawingml/2006/main">
            <a:r>
              <a:t>• Leaf flows + shared setup + suite entrypoints</a:t>
            </a:r>
          </a:p>
          <a:p xmlns:a="http://schemas.openxmlformats.org/drawingml/2006/main">
            <a:r>
              <a:t>• Runnable checks connected to development</a:t>
            </a:r>
          </a:p>
          <a:p xmlns:a="http://schemas.openxmlformats.org/drawingml/2006/main">
            <a:r>
              <a:t>• File counts do not prove journeys or platform coverage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Human review queues took days</a:t>
            </a:r>
          </a:p>
          <a:p xmlns:a="http://schemas.openxmlformats.org/drawingml/2006/main">
            <a:r>
              <a:t>• Three AI reviewers on every PR</a:t>
            </a:r>
          </a:p>
          <a:p xmlns:a="http://schemas.openxmlformats.org/drawingml/2006/main">
            <a:r>
              <a:t>• Custom mobile reviewer runs hourly</a:t>
            </a:r>
          </a:p>
          <a:p xmlns:a="http://schemas.openxmlformats.org/drawingml/2006/main">
            <a:r>
              <a:t>• Repository guidelines provide React Native context</a:t>
            </a:r>
          </a:p>
          <a:p xmlns:a="http://schemas.openxmlformats.org/drawingml/2006/main">
            <a:r>
              <a:t>• Parole’s feedback loop connects this to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CodeRabbit + Qodo Merge + cubic</a:t>
            </a:r>
          </a:p>
          <a:p xmlns:a="http://schemas.openxmlformats.org/drawingml/2006/main">
            <a:r>
              <a:t>• Every PR receives automated feedback</a:t>
            </a:r>
          </a:p>
          <a:p xmlns:a="http://schemas.openxmlformats.org/drawingml/2006/main">
            <a:r>
              <a:t>• Custom Cursor reviewer runs hourly</a:t>
            </a:r>
          </a:p>
          <a:p xmlns:a="http://schemas.openxmlformats.org/drawingml/2006/main">
            <a:r>
              <a:t>• React Native context in the review prompt</a:t>
            </a:r>
          </a:p>
          <a:p xmlns:a="http://schemas.openxmlformats.org/drawingml/2006/main">
            <a:r>
              <a:t>• Different perspectives. Parole evaluates the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Guidelines committed to the repository</a:t>
            </a:r>
          </a:p>
          <a:p xmlns:a="http://schemas.openxmlformats.org/drawingml/2006/main">
            <a:r>
              <a:t>• React Native + iOS/Android expectations</a:t>
            </a:r>
          </a:p>
          <a:p xmlns:a="http://schemas.openxmlformats.org/drawingml/2006/main">
            <a:r>
              <a:t>• Component reuse, separation of concerns, meaningful tests</a:t>
            </a:r>
          </a:p>
          <a:p xmlns:a="http://schemas.openxmlformats.org/drawingml/2006/main">
            <a:r>
              <a:t>• Reviewers read the same rules used for implementation</a:t>
            </a:r>
          </a:p>
          <a:p xmlns:a="http://schemas.openxmlformats.org/drawingml/2006/main">
            <a:r>
              <a:t>• Explain incorrect feedback. Refine the guidance. No guarantee of catching everything.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Sentry</a:t>
            </a:r>
          </a:p>
          <a:p xmlns:a="http://schemas.openxmlformats.org/drawingml/2006/main">
            <a:r>
              <a:t>• Production feedback returns to development</a:t>
            </a:r>
          </a:p>
          <a:p xmlns:a="http://schemas.openxmlformats.org/drawingml/2006/main">
            <a:r>
              <a:t>• July: systematic error cleanup</a:t>
            </a:r>
          </a:p>
          <a:p xmlns:a="http://schemas.openxmlformats.org/drawingml/2006/main">
            <a:r>
              <a:t>• Prioritise reproducible problems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Investigate context + revision + flags</a:t>
            </a:r>
          </a:p>
          <a:p xmlns:a="http://schemas.openxmlformats.org/drawingml/2006/main">
            <a:r>
              <a:t>• Reproduce before correcting</a:t>
            </a:r>
          </a:p>
          <a:p xmlns:a="http://schemas.openxmlformats.org/drawingml/2006/main">
            <a:r>
              <a:t>• Bounded fix + regression check</a:t>
            </a:r>
          </a:p>
          <a:p xmlns:a="http://schemas.openxmlformats.org/drawingml/2006/main">
            <a:r>
              <a:t>• Return fresh evidence to review</a:t>
            </a:r>
          </a:p>
          <a:p xmlns:a="http://schemas.openxmlformats.org/drawingml/2006/main">
            <a:r>
              <a:t>• Recorded event does not always mean a user crash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86 complete days: 7 July to 30 September</a:t>
            </a:r>
          </a:p>
          <a:p xmlns:a="http://schemas.openxmlformats.org/drawingml/2006/main">
            <a:r>
              <a:t>• Raw daily variation, including September rise</a:t>
            </a:r>
          </a:p>
          <a:p xmlns:a="http://schemas.openxmlformats.org/drawingml/2006/main">
            <a:r>
              <a:t>• All environments; no usage denominator</a:t>
            </a:r>
          </a:p>
          <a:p xmlns:a="http://schemas.openxmlformats.org/drawingml/2006/main">
            <a:r>
              <a:t>• Fixes, filters and sampling affect volume</a:t>
            </a:r>
          </a:p>
          <a:p xmlns:a="http://schemas.openxmlformats.org/drawingml/2006/main">
            <a:r>
              <a:t>• No crash-rate or AI-causality claim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Finally: delivery</a:t>
            </a:r>
          </a:p>
          <a:p xmlns:a="http://schemas.openxmlformats.org/drawingml/2006/main">
            <a:r>
              <a:t>• Small verified changes</a:t>
            </a:r>
          </a:p>
          <a:p xmlns:a="http://schemas.openxmlformats.org/drawingml/2006/main">
            <a:r>
              <a:t>• Feature activation separated from code release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Canary build after every PR</a:t>
            </a:r>
          </a:p>
          <a:p xmlns:a="http://schemas.openxmlformats.org/drawingml/2006/main">
            <a:r>
              <a:t>• Automated nightly beta. iOS TestFlight + Android</a:t>
            </a:r>
          </a:p>
          <a:p xmlns:a="http://schemas.openxmlformats.org/drawingml/2006/main">
            <a:r>
              <a:t>• Separate installs allow before/after comparison</a:t>
            </a:r>
          </a:p>
          <a:p xmlns:a="http://schemas.openxmlformats.org/drawingml/2006/main">
            <a:r>
              <a:t>• Deep links and payment flows need that comparison</a:t>
            </a:r>
          </a:p>
          <a:p xmlns:a="http://schemas.openxmlformats.org/drawingml/2006/main">
            <a:r>
              <a:t>• Skills generate specific TestFlight change notes and testing instructions.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Return to the days-long approval queue</a:t>
            </a:r>
          </a:p>
          <a:p xmlns:a="http://schemas.openxmlformats.org/drawingml/2006/main">
            <a:r>
              <a:t>• Small increments behind feature flags</a:t>
            </a:r>
          </a:p>
          <a:p xmlns:a="http://schemas.openxmlformats.org/drawingml/2006/main">
            <a:r>
              <a:t>• Ship verified code; decide activation separately</a:t>
            </a:r>
          </a:p>
          <a:p xmlns:a="http://schemas.openxmlformats.org/drawingml/2006/main">
            <a:r>
              <a:t>• Check enabled and disabled behaviour</a:t>
            </a:r>
          </a:p>
          <a:p xmlns:a="http://schemas.openxmlformats.org/drawingml/2006/main">
            <a:r>
              <a:t>• Mobile flag needs code in the installed 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188 app/design-system PRs across two repos</a:t>
            </a:r>
          </a:p>
          <a:p xmlns:a="http://schemas.openxmlformats.org/drawingml/2006/main">
            <a:r>
              <a:t>• 77 original repository + 111 monorepo</a:t>
            </a:r>
          </a:p>
          <a:p xmlns:a="http://schemas.openxmlformats.org/drawingml/2006/main">
            <a:r>
              <a:t>• May onward also includes scoped design-system work</a:t>
            </a:r>
          </a:p>
          <a:p xmlns:a="http://schemas.openxmlformats.org/drawingml/2006/main">
            <a:r>
              <a:t>• April joining marker; process changed in May</a:t>
            </a:r>
          </a:p>
          <a:p xmlns:a="http://schemas.openxmlformats.org/drawingml/2006/main">
            <a:r>
              <a:t>• PR activity is not productivity, feature value or lead time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This talk covers the QA and delivery loop</a:t>
            </a:r>
          </a:p>
          <a:p xmlns:a="http://schemas.openxmlformats.org/drawingml/2006/main">
            <a:r>
              <a:t>• Design system: a talk of its own</a:t>
            </a:r>
          </a:p>
          <a:p xmlns:a="http://schemas.openxmlformats.org/drawingml/2006/main">
            <a:r>
              <a:t>• Monorepo migration: another major change</a:t>
            </a:r>
          </a:p>
          <a:p xmlns:a="http://schemas.openxmlformats.org/drawingml/2006/main">
            <a:r>
              <a:t>• Other improvements to how we work and raise quality</a:t>
            </a:r>
          </a:p>
          <a:p xmlns:a="http://schemas.openxmlformats.org/drawingml/2006/main">
            <a:r>
              <a:t>• All alongside onboarding myself to the team, codebase and business.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Lessons to adapt, not a universal five-step recipe</a:t>
            </a:r>
          </a:p>
          <a:p xmlns:a="http://schemas.openxmlformats.org/drawingml/2006/main">
            <a:r>
              <a:t>• Start with your team’s actual bottleneck</a:t>
            </a:r>
          </a:p>
          <a:p xmlns:a="http://schemas.openxmlformats.org/drawingml/2006/main">
            <a:r>
              <a:t>• Clear expectations and meaningful checks matter everywhere</a:t>
            </a:r>
          </a:p>
          <a:p xmlns:a="http://schemas.openxmlformats.org/drawingml/2006/main">
            <a:r>
              <a:t>• Tools, approval boundaries and rollout depend on context</a:t>
            </a:r>
          </a:p>
          <a:p xmlns:a="http://schemas.openxmlformats.org/drawingml/2006/main">
            <a:r>
              <a:t>• Start small. Inspect the outcome. Expand what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release. Days of QA and approvals.</a:t>
            </a:r>
          </a:p>
          <a:p xmlns:a="http://schemas.openxmlformats.org/drawingml/2006/main">
            <a:r>
              <a:t>• Skills → tests → CI → device evidence</a:t>
            </a:r>
          </a:p>
          <a:p xmlns:a="http://schemas.openxmlformats.org/drawingml/2006/main">
            <a:r>
              <a:t>• Review → production feedback → delivery</a:t>
            </a:r>
          </a:p>
          <a:p xmlns:a="http://schemas.openxmlformats.org/drawingml/2006/main">
            <a:r>
              <a:t>• Less repetitive QA. More confidence. Faster delivery.</a:t>
            </a:r>
          </a:p>
          <a:p xmlns:a="http://schemas.openxmlformats.org/drawingml/2006/main">
            <a:r>
              <a:t>• Evidence has limits. Human judgement still matters.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acc130898940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33c184f57b4dae" /><Relationship Type="http://schemas.openxmlformats.org/officeDocument/2006/relationships/slideLayout" Target="/ppt/slideLayouts/slideLayout1.xml" Id="Rc46186b56deb49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6186b56deb49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7c6f9ca824f02" /><Relationship Type="http://schemas.openxmlformats.org/officeDocument/2006/relationships/notesSlide" Target="/ppt/notesSlides/notesSlide1.xml" Id="Rff44ef58d0604c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01edbf6f44e11" /><Relationship Type="http://schemas.openxmlformats.org/officeDocument/2006/relationships/notesSlide" Target="/ppt/notesSlides/notesSlide2.xml" Id="R226ceefcaa624e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9f21b21004ea7" /><Relationship Type="http://schemas.openxmlformats.org/officeDocument/2006/relationships/notesSlide" Target="/ppt/notesSlides/notesSlide3.xml" Id="Rfaf87d5b67824b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a63b3dde346e0" /><Relationship Type="http://schemas.openxmlformats.org/officeDocument/2006/relationships/notesSlide" Target="/ppt/notesSlides/notesSlide4.xml" Id="R48e780b1d2c247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a22909ff04d3b" /><Relationship Type="http://schemas.openxmlformats.org/officeDocument/2006/relationships/notesSlide" Target="/ppt/notesSlides/notesSlide5.xml" Id="Rd958eb91728a4d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43c76fc344f76" /><Relationship Type="http://schemas.openxmlformats.org/officeDocument/2006/relationships/notesSlide" Target="/ppt/notesSlides/notesSlide6.xml" Id="R9cd0536c1fcf4a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40274405b42ff" /><Relationship Type="http://schemas.openxmlformats.org/officeDocument/2006/relationships/image" Target="/ppt/media/image.jpeg" Id="R24a9221abee34600" /><Relationship Type="http://schemas.openxmlformats.org/officeDocument/2006/relationships/notesSlide" Target="/ppt/notesSlides/notesSlide7.xml" Id="R4863bdae119642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483072c3dd4875" /><Relationship Type="http://schemas.openxmlformats.org/officeDocument/2006/relationships/image" Target="/ppt/media/image.png" Id="Rd6cc8b9dc0064170" /><Relationship Type="http://schemas.openxmlformats.org/officeDocument/2006/relationships/image" Target="/ppt/media/image2.png" Id="Rd58c47805fc4414a" /><Relationship Type="http://schemas.openxmlformats.org/officeDocument/2006/relationships/image" Target="/ppt/media/image3.png" Id="R325e58fcb46c4a63" /><Relationship Type="http://schemas.openxmlformats.org/officeDocument/2006/relationships/image" Target="/ppt/media/image4.png" Id="Rbf560fb80852494b" /><Relationship Type="http://schemas.openxmlformats.org/officeDocument/2006/relationships/image" Target="/ppt/media/image5.png" Id="R3186a3db6e604ae4" /><Relationship Type="http://schemas.openxmlformats.org/officeDocument/2006/relationships/image" Target="/ppt/media/image6.png" Id="R63d4bba53cf6456d" /><Relationship Type="http://schemas.openxmlformats.org/officeDocument/2006/relationships/notesSlide" Target="/ppt/notesSlides/notesSlide8.xml" Id="R52da9ca62bbb46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a89c2d0a2469d" /><Relationship Type="http://schemas.openxmlformats.org/officeDocument/2006/relationships/notesSlide" Target="/ppt/notesSlides/notesSlide9.xml" Id="Rab9d11891dab4e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969745e9f4cad" /><Relationship Type="http://schemas.openxmlformats.org/officeDocument/2006/relationships/notesSlide" Target="/ppt/notesSlides/notesSlide10.xml" Id="R4c0e88a1417d4b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5c931e7ad408b" /><Relationship Type="http://schemas.openxmlformats.org/officeDocument/2006/relationships/image" Target="/ppt/media/image7.png" Id="R242badab85a8430f" /><Relationship Type="http://schemas.openxmlformats.org/officeDocument/2006/relationships/image" Target="/ppt/media/image8.png" Id="R9e6fda7d56424630" /><Relationship Type="http://schemas.openxmlformats.org/officeDocument/2006/relationships/image" Target="/ppt/media/image9.png" Id="Rd86193b25e7f46a1" /><Relationship Type="http://schemas.openxmlformats.org/officeDocument/2006/relationships/image" Target="/ppt/media/image10.png" Id="Re6d58281b99848d4" /><Relationship Type="http://schemas.openxmlformats.org/officeDocument/2006/relationships/image" Target="/ppt/media/image11.png" Id="R586e2d43d8524628" /><Relationship Type="http://schemas.openxmlformats.org/officeDocument/2006/relationships/notesSlide" Target="/ppt/notesSlides/notesSlide11.xml" Id="R6cd4d742160e47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33059322c4cad" /><Relationship Type="http://schemas.openxmlformats.org/officeDocument/2006/relationships/notesSlide" Target="/ppt/notesSlides/notesSlide12.xml" Id="R24c617932d074b5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2e3f13a6c494a" /><Relationship Type="http://schemas.openxmlformats.org/officeDocument/2006/relationships/chart" Target="/ppt/slides/charts/chart1.xml" Id="Ra13ed82f826d4449" /><Relationship Type="http://schemas.openxmlformats.org/officeDocument/2006/relationships/notesSlide" Target="/ppt/notesSlides/notesSlide13.xml" Id="R62bb60c8f4fb4d7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4930ec5064ace" /><Relationship Type="http://schemas.openxmlformats.org/officeDocument/2006/relationships/image" Target="/ppt/media/image12.png" Id="R1c1c128224c8434f" /><Relationship Type="http://schemas.openxmlformats.org/officeDocument/2006/relationships/image" Target="/ppt/media/image13.png" Id="Raae02882cfcd4888" /><Relationship Type="http://schemas.openxmlformats.org/officeDocument/2006/relationships/image" Target="/ppt/media/image14.png" Id="R642d0382c50a4e50" /><Relationship Type="http://schemas.openxmlformats.org/officeDocument/2006/relationships/image" Target="/ppt/media/image15.png" Id="R7611b23f8a7e44b5" /><Relationship Type="http://schemas.openxmlformats.org/officeDocument/2006/relationships/notesSlide" Target="/ppt/notesSlides/notesSlide14.xml" Id="Rf97874abb9474b3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cf38f9a634d7d" /><Relationship Type="http://schemas.openxmlformats.org/officeDocument/2006/relationships/notesSlide" Target="/ppt/notesSlides/notesSlide15.xml" Id="Rb0101c147b27411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ae014aab74709" /><Relationship Type="http://schemas.openxmlformats.org/officeDocument/2006/relationships/notesSlide" Target="/ppt/notesSlides/notesSlide16.xml" Id="R78a7a8f6ec344f5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3221aab7443e9" /><Relationship Type="http://schemas.openxmlformats.org/officeDocument/2006/relationships/image" Target="/ppt/media/image16.png" Id="R2f5d1cae7180410e" /><Relationship Type="http://schemas.openxmlformats.org/officeDocument/2006/relationships/image" Target="/ppt/media/image17.png" Id="R18ee8b3d17a94ba6" /><Relationship Type="http://schemas.openxmlformats.org/officeDocument/2006/relationships/image" Target="/ppt/media/image18.png" Id="R87af09e6a8e446dd" /><Relationship Type="http://schemas.openxmlformats.org/officeDocument/2006/relationships/notesSlide" Target="/ppt/notesSlides/notesSlide17.xml" Id="R981b66757a5442b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36baafeb24a79" /><Relationship Type="http://schemas.openxmlformats.org/officeDocument/2006/relationships/notesSlide" Target="/ppt/notesSlides/notesSlide18.xml" Id="R2327180a435e4b2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488c5f6bd4971" /><Relationship Type="http://schemas.openxmlformats.org/officeDocument/2006/relationships/chart" Target="/ppt/slides/charts/chart2.xml" Id="R1a1943d269204166" /><Relationship Type="http://schemas.openxmlformats.org/officeDocument/2006/relationships/notesSlide" Target="/ppt/notesSlides/notesSlide19.xml" Id="Rb781a7e35d88444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13b2f63ed4a0d" /><Relationship Type="http://schemas.openxmlformats.org/officeDocument/2006/relationships/image" Target="/ppt/media/image19.png" Id="Rb5eb08eb54ca46cf" /><Relationship Type="http://schemas.openxmlformats.org/officeDocument/2006/relationships/image" Target="/ppt/media/image20.png" Id="Ra56056f43a7245c1" /><Relationship Type="http://schemas.openxmlformats.org/officeDocument/2006/relationships/notesSlide" Target="/ppt/notesSlides/notesSlide20.xml" Id="R3b561acefdc447a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6cae52dbc4c76" /><Relationship Type="http://schemas.openxmlformats.org/officeDocument/2006/relationships/notesSlide" Target="/ppt/notesSlides/notesSlide21.xml" Id="Rec3b87d2490944f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09d4f9f384a23" /><Relationship Type="http://schemas.openxmlformats.org/officeDocument/2006/relationships/notesSlide" Target="/ppt/notesSlides/notesSlide22.xml" Id="Rc00e8056175b40f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deda15b6c4a5b" /><Relationship Type="http://schemas.openxmlformats.org/officeDocument/2006/relationships/image" Target="/ppt/media/image21.png" Id="Ra8323269de254441" /><Relationship Type="http://schemas.openxmlformats.org/officeDocument/2006/relationships/notesSlide" Target="/ppt/notesSlides/notesSlide23.xml" Id="Rb489f2d46ab74c6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f14c3a04ab4382" /><Relationship Type="http://schemas.openxmlformats.org/officeDocument/2006/relationships/notesSlide" Target="/ppt/notesSlides/notesSlide24.xml" Id="R653139dbab7a4f6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3ade2053c46c2" /><Relationship Type="http://schemas.openxmlformats.org/officeDocument/2006/relationships/chart" Target="/ppt/slides/charts/chart3.xml" Id="R1cc0fa79a3f9497a" /><Relationship Type="http://schemas.openxmlformats.org/officeDocument/2006/relationships/notesSlide" Target="/ppt/notesSlides/notesSlide25.xml" Id="R87123d831f3e44e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f3534a7df4750" /><Relationship Type="http://schemas.openxmlformats.org/officeDocument/2006/relationships/notesSlide" Target="/ppt/notesSlides/notesSlide26.xml" Id="R39b955fadd29477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1daaba2e574113" /><Relationship Type="http://schemas.openxmlformats.org/officeDocument/2006/relationships/notesSlide" Target="/ppt/notesSlides/notesSlide27.xml" Id="R8447e5f18b2d41e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54551ff404adc" /><Relationship Type="http://schemas.openxmlformats.org/officeDocument/2006/relationships/notesSlide" Target="/ppt/notesSlides/notesSlide28.xml" Id="R7444649880534c1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fedcf34ac4030" /><Relationship Type="http://schemas.openxmlformats.org/officeDocument/2006/relationships/chart" Target="/ppt/slides/charts/chart4.xml" Id="R411f71c78bc64716" /><Relationship Type="http://schemas.openxmlformats.org/officeDocument/2006/relationships/notesSlide" Target="/ppt/notesSlides/notesSlide29.xml" Id="R9fb79e44452f467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01ba0e11841f1" /><Relationship Type="http://schemas.openxmlformats.org/officeDocument/2006/relationships/notesSlide" Target="/ppt/notesSlides/notesSlide30.xml" Id="Reab9e486fea2414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e13641b8d4945" /><Relationship Type="http://schemas.openxmlformats.org/officeDocument/2006/relationships/notesSlide" Target="/ppt/notesSlides/notesSlide31.xml" Id="R2de2d000217d444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e650fff32484b" /><Relationship Type="http://schemas.openxmlformats.org/officeDocument/2006/relationships/notesSlide" Target="/ppt/notesSlides/notesSlide32.xml" Id="R4464f9bd4890486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Unit-test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93</c:v>
                </c:pt>
                <c:pt idx="1">
                  <c:v>95</c:v>
                </c:pt>
                <c:pt idx="2">
                  <c:v>98</c:v>
                </c:pt>
                <c:pt idx="3">
                  <c:v>113</c:v>
                </c:pt>
                <c:pt idx="4">
                  <c:v>164</c:v>
                </c:pt>
                <c:pt idx="5">
                  <c:v>250</c:v>
                </c:pt>
                <c:pt idx="6">
                  <c:v>395</c:v>
                </c:pt>
                <c:pt idx="7">
                  <c:v>1040</c:v>
                </c:pt>
                <c:pt idx="8">
                  <c:v>1669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18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6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Maestro YAML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129</c:v>
                </c:pt>
                <c:pt idx="5">
                  <c:v>135</c:v>
                </c:pt>
                <c:pt idx="6">
                  <c:v>136</c:v>
                </c:pt>
                <c:pt idx="7">
                  <c:v>147</c:v>
                </c:pt>
                <c:pt idx="8">
                  <c:v>225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Recorded events per day</c:v>
          </c:tx>
          <c:spPr>
            <a:solidFill xmlns:a="http://schemas.openxmlformats.org/drawingml/2006/main">
              <a:srgbClr val="00786F"/>
            </a:solidFill>
            <a:ln xmlns:a="http://schemas.openxmlformats.org/drawingml/2006/main" w="28575">
              <a:solidFill>
                <a:srgbClr val="00786F"/>
              </a:solidFill>
              <a:prstDash val="solid"/>
            </a:ln>
          </c:spPr>
          <c:marker>
            <c:symbol val="none"/>
          </c:marker>
          <c:xVal>
            <c:numRef>
              <c:f>'Chart Data'!$A$2:$A$87</c:f>
              <c:numCache>
                <c:formatCode>d mmm</c:formatCode>
                <c:ptCount val="86"/>
                <c:pt idx="0">
                  <c:v>46210</c:v>
                </c:pt>
                <c:pt idx="1">
                  <c:v>46211</c:v>
                </c:pt>
                <c:pt idx="2">
                  <c:v>46212</c:v>
                </c:pt>
                <c:pt idx="3">
                  <c:v>46213</c:v>
                </c:pt>
                <c:pt idx="4">
                  <c:v>46214</c:v>
                </c:pt>
                <c:pt idx="5">
                  <c:v>46215</c:v>
                </c:pt>
                <c:pt idx="6">
                  <c:v>46216</c:v>
                </c:pt>
                <c:pt idx="7">
                  <c:v>46217</c:v>
                </c:pt>
                <c:pt idx="8">
                  <c:v>46218</c:v>
                </c:pt>
                <c:pt idx="9">
                  <c:v>46219</c:v>
                </c:pt>
                <c:pt idx="10">
                  <c:v>46220</c:v>
                </c:pt>
                <c:pt idx="11">
                  <c:v>46221</c:v>
                </c:pt>
                <c:pt idx="12">
                  <c:v>46222</c:v>
                </c:pt>
                <c:pt idx="13">
                  <c:v>46223</c:v>
                </c:pt>
                <c:pt idx="14">
                  <c:v>46224</c:v>
                </c:pt>
                <c:pt idx="15">
                  <c:v>46225</c:v>
                </c:pt>
                <c:pt idx="16">
                  <c:v>46226</c:v>
                </c:pt>
                <c:pt idx="17">
                  <c:v>46227</c:v>
                </c:pt>
                <c:pt idx="18">
                  <c:v>46228</c:v>
                </c:pt>
                <c:pt idx="19">
                  <c:v>46229</c:v>
                </c:pt>
                <c:pt idx="20">
                  <c:v>46230</c:v>
                </c:pt>
                <c:pt idx="21">
                  <c:v>46231</c:v>
                </c:pt>
                <c:pt idx="22">
                  <c:v>46232</c:v>
                </c:pt>
                <c:pt idx="23">
                  <c:v>46233</c:v>
                </c:pt>
                <c:pt idx="24">
                  <c:v>46234</c:v>
                </c:pt>
                <c:pt idx="25">
                  <c:v>46235</c:v>
                </c:pt>
                <c:pt idx="26">
                  <c:v>46236</c:v>
                </c:pt>
                <c:pt idx="27">
                  <c:v>46237</c:v>
                </c:pt>
                <c:pt idx="28">
                  <c:v>46238</c:v>
                </c:pt>
                <c:pt idx="29">
                  <c:v>46239</c:v>
                </c:pt>
                <c:pt idx="30">
                  <c:v>46240</c:v>
                </c:pt>
                <c:pt idx="31">
                  <c:v>46241</c:v>
                </c:pt>
                <c:pt idx="32">
                  <c:v>46242</c:v>
                </c:pt>
                <c:pt idx="33">
                  <c:v>46243</c:v>
                </c:pt>
                <c:pt idx="34">
                  <c:v>46244</c:v>
                </c:pt>
                <c:pt idx="35">
                  <c:v>46245</c:v>
                </c:pt>
                <c:pt idx="36">
                  <c:v>46246</c:v>
                </c:pt>
                <c:pt idx="37">
                  <c:v>46247</c:v>
                </c:pt>
                <c:pt idx="38">
                  <c:v>46248</c:v>
                </c:pt>
                <c:pt idx="39">
                  <c:v>46249</c:v>
                </c:pt>
                <c:pt idx="40">
                  <c:v>46250</c:v>
                </c:pt>
                <c:pt idx="41">
                  <c:v>46251</c:v>
                </c:pt>
                <c:pt idx="42">
                  <c:v>46252</c:v>
                </c:pt>
                <c:pt idx="43">
                  <c:v>46253</c:v>
                </c:pt>
                <c:pt idx="44">
                  <c:v>46254</c:v>
                </c:pt>
                <c:pt idx="45">
                  <c:v>46255</c:v>
                </c:pt>
                <c:pt idx="46">
                  <c:v>46256</c:v>
                </c:pt>
                <c:pt idx="47">
                  <c:v>46257</c:v>
                </c:pt>
                <c:pt idx="48">
                  <c:v>46258</c:v>
                </c:pt>
                <c:pt idx="49">
                  <c:v>46259</c:v>
                </c:pt>
                <c:pt idx="50">
                  <c:v>46260</c:v>
                </c:pt>
                <c:pt idx="51">
                  <c:v>46261</c:v>
                </c:pt>
                <c:pt idx="52">
                  <c:v>46262</c:v>
                </c:pt>
                <c:pt idx="53">
                  <c:v>46263</c:v>
                </c:pt>
                <c:pt idx="54">
                  <c:v>46264</c:v>
                </c:pt>
                <c:pt idx="55">
                  <c:v>46265</c:v>
                </c:pt>
                <c:pt idx="56">
                  <c:v>46266</c:v>
                </c:pt>
                <c:pt idx="57">
                  <c:v>46267</c:v>
                </c:pt>
                <c:pt idx="58">
                  <c:v>46268</c:v>
                </c:pt>
                <c:pt idx="59">
                  <c:v>46269</c:v>
                </c:pt>
                <c:pt idx="60">
                  <c:v>46270</c:v>
                </c:pt>
                <c:pt idx="61">
                  <c:v>46271</c:v>
                </c:pt>
                <c:pt idx="62">
                  <c:v>46272</c:v>
                </c:pt>
                <c:pt idx="63">
                  <c:v>46273</c:v>
                </c:pt>
                <c:pt idx="64">
                  <c:v>46274</c:v>
                </c:pt>
                <c:pt idx="65">
                  <c:v>46275</c:v>
                </c:pt>
                <c:pt idx="66">
                  <c:v>46276</c:v>
                </c:pt>
                <c:pt idx="67">
                  <c:v>46277</c:v>
                </c:pt>
                <c:pt idx="68">
                  <c:v>46278</c:v>
                </c:pt>
                <c:pt idx="69">
                  <c:v>46279</c:v>
                </c:pt>
                <c:pt idx="70">
                  <c:v>46280</c:v>
                </c:pt>
                <c:pt idx="71">
                  <c:v>46281</c:v>
                </c:pt>
                <c:pt idx="72">
                  <c:v>46282</c:v>
                </c:pt>
                <c:pt idx="73">
                  <c:v>46283</c:v>
                </c:pt>
                <c:pt idx="74">
                  <c:v>46284</c:v>
                </c:pt>
                <c:pt idx="75">
                  <c:v>46285</c:v>
                </c:pt>
                <c:pt idx="76">
                  <c:v>46286</c:v>
                </c:pt>
                <c:pt idx="77">
                  <c:v>46287</c:v>
                </c:pt>
                <c:pt idx="78">
                  <c:v>46288</c:v>
                </c:pt>
                <c:pt idx="79">
                  <c:v>46289</c:v>
                </c:pt>
                <c:pt idx="80">
                  <c:v>46290</c:v>
                </c:pt>
                <c:pt idx="81">
                  <c:v>46291</c:v>
                </c:pt>
                <c:pt idx="82">
                  <c:v>46292</c:v>
                </c:pt>
                <c:pt idx="83">
                  <c:v>46293</c:v>
                </c:pt>
                <c:pt idx="84">
                  <c:v>46294</c:v>
                </c:pt>
                <c:pt idx="85">
                  <c:v>46295</c:v>
                </c:pt>
              </c:numCache>
            </c:numRef>
          </c:xVal>
          <c:yVal>
            <c:numRef>
              <c:f>'Chart Data'!$B$2:$B$87</c:f>
              <c:numCache>
                <c:formatCode>#,##0</c:formatCode>
                <c:ptCount val="86"/>
                <c:pt idx="0">
                  <c:v>24012</c:v>
                </c:pt>
                <c:pt idx="1">
                  <c:v>20186</c:v>
                </c:pt>
                <c:pt idx="2">
                  <c:v>18996</c:v>
                </c:pt>
                <c:pt idx="3">
                  <c:v>19756</c:v>
                </c:pt>
                <c:pt idx="4">
                  <c:v>23024</c:v>
                </c:pt>
                <c:pt idx="5">
                  <c:v>23245</c:v>
                </c:pt>
                <c:pt idx="6">
                  <c:v>16295</c:v>
                </c:pt>
                <c:pt idx="7">
                  <c:v>15949</c:v>
                </c:pt>
                <c:pt idx="8">
                  <c:v>16897</c:v>
                </c:pt>
                <c:pt idx="9">
                  <c:v>15846</c:v>
                </c:pt>
                <c:pt idx="10">
                  <c:v>17738</c:v>
                </c:pt>
                <c:pt idx="11">
                  <c:v>16197</c:v>
                </c:pt>
                <c:pt idx="12">
                  <c:v>17393</c:v>
                </c:pt>
                <c:pt idx="13">
                  <c:v>10078</c:v>
                </c:pt>
                <c:pt idx="14">
                  <c:v>7617</c:v>
                </c:pt>
                <c:pt idx="15">
                  <c:v>9141</c:v>
                </c:pt>
                <c:pt idx="16">
                  <c:v>6265</c:v>
                </c:pt>
                <c:pt idx="17">
                  <c:v>9794</c:v>
                </c:pt>
                <c:pt idx="18">
                  <c:v>8768</c:v>
                </c:pt>
                <c:pt idx="19">
                  <c:v>10718</c:v>
                </c:pt>
                <c:pt idx="20">
                  <c:v>8498</c:v>
                </c:pt>
                <c:pt idx="21">
                  <c:v>8371</c:v>
                </c:pt>
                <c:pt idx="22">
                  <c:v>5913</c:v>
                </c:pt>
                <c:pt idx="23">
                  <c:v>5496</c:v>
                </c:pt>
                <c:pt idx="24">
                  <c:v>5007</c:v>
                </c:pt>
                <c:pt idx="25">
                  <c:v>4590</c:v>
                </c:pt>
                <c:pt idx="26">
                  <c:v>5165</c:v>
                </c:pt>
                <c:pt idx="27">
                  <c:v>4218</c:v>
                </c:pt>
                <c:pt idx="28">
                  <c:v>4651</c:v>
                </c:pt>
                <c:pt idx="29">
                  <c:v>4593</c:v>
                </c:pt>
                <c:pt idx="30">
                  <c:v>4182</c:v>
                </c:pt>
                <c:pt idx="31">
                  <c:v>3842</c:v>
                </c:pt>
                <c:pt idx="32">
                  <c:v>4780</c:v>
                </c:pt>
                <c:pt idx="33">
                  <c:v>4634</c:v>
                </c:pt>
                <c:pt idx="34">
                  <c:v>4177</c:v>
                </c:pt>
                <c:pt idx="35">
                  <c:v>3653</c:v>
                </c:pt>
                <c:pt idx="36">
                  <c:v>4288</c:v>
                </c:pt>
                <c:pt idx="37">
                  <c:v>4385</c:v>
                </c:pt>
                <c:pt idx="38">
                  <c:v>5033</c:v>
                </c:pt>
                <c:pt idx="39">
                  <c:v>5656</c:v>
                </c:pt>
                <c:pt idx="40">
                  <c:v>4126</c:v>
                </c:pt>
                <c:pt idx="41">
                  <c:v>3445</c:v>
                </c:pt>
                <c:pt idx="42">
                  <c:v>4120</c:v>
                </c:pt>
                <c:pt idx="43">
                  <c:v>4262</c:v>
                </c:pt>
                <c:pt idx="44">
                  <c:v>4618</c:v>
                </c:pt>
                <c:pt idx="45">
                  <c:v>5010</c:v>
                </c:pt>
                <c:pt idx="46">
                  <c:v>4141</c:v>
                </c:pt>
                <c:pt idx="47">
                  <c:v>5675</c:v>
                </c:pt>
                <c:pt idx="48">
                  <c:v>3831</c:v>
                </c:pt>
                <c:pt idx="49">
                  <c:v>4252</c:v>
                </c:pt>
                <c:pt idx="50">
                  <c:v>4041</c:v>
                </c:pt>
                <c:pt idx="51">
                  <c:v>5122</c:v>
                </c:pt>
                <c:pt idx="52">
                  <c:v>4364</c:v>
                </c:pt>
                <c:pt idx="53">
                  <c:v>5519</c:v>
                </c:pt>
                <c:pt idx="54">
                  <c:v>4933</c:v>
                </c:pt>
                <c:pt idx="55">
                  <c:v>4120</c:v>
                </c:pt>
                <c:pt idx="56">
                  <c:v>5575</c:v>
                </c:pt>
                <c:pt idx="57">
                  <c:v>2856</c:v>
                </c:pt>
                <c:pt idx="58">
                  <c:v>3542</c:v>
                </c:pt>
                <c:pt idx="59">
                  <c:v>4435</c:v>
                </c:pt>
                <c:pt idx="60">
                  <c:v>3839</c:v>
                </c:pt>
                <c:pt idx="61">
                  <c:v>4728</c:v>
                </c:pt>
                <c:pt idx="62">
                  <c:v>3747</c:v>
                </c:pt>
                <c:pt idx="63">
                  <c:v>4707</c:v>
                </c:pt>
                <c:pt idx="64">
                  <c:v>4024</c:v>
                </c:pt>
                <c:pt idx="65">
                  <c:v>3937</c:v>
                </c:pt>
                <c:pt idx="66">
                  <c:v>5324</c:v>
                </c:pt>
                <c:pt idx="67">
                  <c:v>5981</c:v>
                </c:pt>
                <c:pt idx="68">
                  <c:v>6254</c:v>
                </c:pt>
                <c:pt idx="69">
                  <c:v>6468</c:v>
                </c:pt>
                <c:pt idx="70">
                  <c:v>6111</c:v>
                </c:pt>
                <c:pt idx="71">
                  <c:v>5340</c:v>
                </c:pt>
                <c:pt idx="72">
                  <c:v>4087</c:v>
                </c:pt>
                <c:pt idx="73">
                  <c:v>7077</c:v>
                </c:pt>
                <c:pt idx="74">
                  <c:v>5791</c:v>
                </c:pt>
                <c:pt idx="75">
                  <c:v>8333</c:v>
                </c:pt>
                <c:pt idx="76">
                  <c:v>4433</c:v>
                </c:pt>
                <c:pt idx="77">
                  <c:v>8013</c:v>
                </c:pt>
                <c:pt idx="78">
                  <c:v>4019</c:v>
                </c:pt>
                <c:pt idx="79">
                  <c:v>4336</c:v>
                </c:pt>
                <c:pt idx="80">
                  <c:v>5115</c:v>
                </c:pt>
                <c:pt idx="81">
                  <c:v>5466</c:v>
                </c:pt>
                <c:pt idx="82">
                  <c:v>5764</c:v>
                </c:pt>
                <c:pt idx="83">
                  <c:v>5162</c:v>
                </c:pt>
                <c:pt idx="84">
                  <c:v>4156</c:v>
                </c:pt>
                <c:pt idx="85">
                  <c:v>4189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majorUnit val="5000"/>
      </c:valAx>
      <c:valAx>
        <c:axId val="48650112"/>
        <c:scaling>
          <c:orientation val="minMax"/>
          <c:max val="46295"/>
          <c:min val="46210"/>
        </c:scaling>
        <c:delete val="0"/>
        <c:axPos val="b"/>
        <c:numFmt formatCode="d mmm"/>
        <c:majorTickMark val="none"/>
        <c:minorTickMark val="none"/>
        <c:tickLblPos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  <c:majorUnit val="28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Merged mobile PRs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25</c:v>
                </c:pt>
                <c:pt idx="1">
                  <c:v>32</c:v>
                </c:pt>
                <c:pt idx="2">
                  <c:v>46</c:v>
                </c:pt>
                <c:pt idx="3">
                  <c:v>58</c:v>
                </c:pt>
                <c:pt idx="4">
                  <c:v>159</c:v>
                </c:pt>
                <c:pt idx="5">
                  <c:v>222</c:v>
                </c:pt>
                <c:pt idx="6">
                  <c:v>158</c:v>
                </c:pt>
                <c:pt idx="7">
                  <c:v>194</c:v>
                </c:pt>
                <c:pt idx="8">
                  <c:v>188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Deck title">
            <a:extLst xmlns:a="http://schemas.openxmlformats.org/drawingml/2006/main">
              <a:ext uri="{FF2B5EF4-FFF2-40B4-BE49-F238E27FC236}">
                <a16:creationId xmlns:a16="http://schemas.microsoft.com/office/drawing/2014/main" id="{5BF1E53E-20EB-45EE-80E4-B84558B0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52500"/>
            <a:ext cx="10668000" cy="2809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8475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475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Beyond the QA</a:t>
            </a:r>
          </a:p>
          <a:p xmlns:a="http://schemas.openxmlformats.org/drawingml/2006/main">
            <a:pPr algn="l">
              <a:defRPr sz="8475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475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Bottleneck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943AA71-DBFB-49B9-ACF7-D7E75EA8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57625"/>
            <a:ext cx="981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Building confidence in React Native with AI</a:t>
            </a:r>
          </a:p>
        </p:txBody>
      </p:sp>
      <p:sp>
        <p:nvSpPr>
          <p:cNvPr id="3" name="Speaker">
            <a:extLst xmlns:a="http://schemas.openxmlformats.org/drawingml/2006/main">
              <a:ext uri="{FF2B5EF4-FFF2-40B4-BE49-F238E27FC236}">
                <a16:creationId xmlns:a16="http://schemas.microsoft.com/office/drawing/2014/main" id="{6D4F4B95-88F5-4571-828F-632DC90E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57725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087CD4C-3168-42AD-87B4-3776EB3E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 Manager at Zapp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4D01B4F-616B-42CB-8117-3A4C2ED6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95950"/>
            <a:ext cx="981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00D5BE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950" b="0">
                <a:solidFill>
                  <a:srgbClr val="00D5BE"/>
                </a:solidFill>
                <a:latin typeface="Satoshi Variable"/>
                <a:ea typeface="Satoshi Variable"/>
                <a:cs typeface="Satoshi Variable"/>
              </a:rPr>
              <a:t>React Native London</a:t>
            </a:r>
          </a:p>
        </p:txBody>
      </p:sp>
    </p:spTree>
    <p:extLst>
      <p:ext uri="{BB962C8B-B14F-4D97-AF65-F5344CB8AC3E}">
        <p14:creationId xmlns:p14="http://schemas.microsoft.com/office/powerpoint/2010/main" val="20473334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F0924B5-8511-483A-9665-AF821986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Regressions.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1B93DDB-AE04-4BC2-8DA5-4773F7D6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We kept returning to behaviour we had already checked.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3C1467C-75F0-43CD-AC4B-AA75B216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215593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3E737FF-D39C-4275-B58F-B7C94C59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Tests existed.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Nobody ran them.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A67A654-DF8E-435D-875D-FFCB374E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small test suite. End-to-end checks outside CI.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E017BFF-3102-4FA7-9FF8-312550D6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58130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F6DD78C-D289-4208-91C8-A0107F54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More than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three days of QA.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0792166-A3F7-4043-A4AF-8065CC40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Engineering, product and UX/design.</a:t>
            </a:r>
          </a:p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Many people paused their own work.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63F7F71-82CE-48E7-A497-B6E2D843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381033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90346CE-F91C-4FD6-AC85-2156F4CD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 waited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days for approval.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2B27858-1BC0-4820-AB12-C2682D4C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chain of sign-offs held up the whole release.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D760A4B-FCEA-4352-AC81-6FACCFDB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485034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D70B743-3298-4F1F-B874-DBC43D4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Projects postponed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by over a quarter.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F785D3B-18E4-46C1-8EE6-11F20870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All the existing projects had slipped by more than a quarter.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C47BD3C-2F15-40A7-B423-7E512443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668903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9221abee3460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6850" y="609600"/>
            <a:ext cx="1638300" cy="1638300"/>
          </a:xfrm>
          <a:prstGeom xmlns:a="http://schemas.openxmlformats.org/drawingml/2006/main" prst="ellipse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8580D4A-671F-44C7-AA9D-40568DB1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John Adib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3D4EDA-8A7F-4F93-943A-47EAC234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story of an EM in the era of AI</a:t>
            </a:r>
          </a:p>
        </p:txBody>
      </p:sp>
      <p:sp>
        <p:nvSpPr>
          <p:cNvPr id="4" name="Credentials">
            <a:extLst xmlns:a="http://schemas.openxmlformats.org/drawingml/2006/main">
              <a:ext uri="{FF2B5EF4-FFF2-40B4-BE49-F238E27FC236}">
                <a16:creationId xmlns:a16="http://schemas.microsoft.com/office/drawing/2014/main" id="{781688B3-5CC5-47B3-AF18-B256B6D3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2× co-founder. Former CTO. Engineering leader and mentor.</a:t>
            </a:r>
          </a:p>
        </p:txBody>
      </p:sp>
      <p:sp>
        <p:nvSpPr>
          <p:cNvPr id="5" name="Experience">
            <a:extLst xmlns:a="http://schemas.openxmlformats.org/drawingml/2006/main">
              <a:ext uri="{FF2B5EF4-FFF2-40B4-BE49-F238E27FC236}">
                <a16:creationId xmlns:a16="http://schemas.microsoft.com/office/drawing/2014/main" id="{89AEA86C-4BBB-4E70-8ABF-A6911C3C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767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 years building and improving systems. I love moving mountains.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D1274EF2-18CA-4264-8D5F-802C920C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</a:t>
            </a:r>
          </a:p>
        </p:txBody>
      </p:sp>
      <p:sp>
        <p:nvSpPr>
          <p:cNvPr id="7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1A30403-2C02-4EFE-9C46-0194DA96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981511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57DCEE60-3BEE-4CA3-8051-11464755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A18FF01E-E4FD-489F-B6A9-34773C08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98107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cc8b9dc0064170"/>
          <a:stretch xmlns:a="http://schemas.openxmlformats.org/drawingml/2006/main"/>
        </p:blipFill>
        <p:spPr>
          <a:xfrm xmlns:a="http://schemas.openxmlformats.org/drawingml/2006/main">
            <a:off x="1333500" y="12954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c47805fc4414a"/>
          <a:stretch xmlns:a="http://schemas.openxmlformats.org/drawingml/2006/main"/>
        </p:blipFill>
        <p:spPr>
          <a:xfrm xmlns:a="http://schemas.openxmlformats.org/drawingml/2006/main">
            <a:off x="1333500" y="20764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e58fcb46c4a63"/>
          <a:stretch xmlns:a="http://schemas.openxmlformats.org/drawingml/2006/main"/>
        </p:blipFill>
        <p:spPr>
          <a:xfrm xmlns:a="http://schemas.openxmlformats.org/drawingml/2006/main">
            <a:off x="1333500" y="28575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560fb80852494b"/>
          <a:stretch xmlns:a="http://schemas.openxmlformats.org/drawingml/2006/main"/>
        </p:blipFill>
        <p:spPr>
          <a:xfrm xmlns:a="http://schemas.openxmlformats.org/drawingml/2006/main">
            <a:off x="1333500" y="36385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86a3db6e604ae4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4bba53cf6456d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ED9BCAB-E313-4BDC-BF3E-F0D0A372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597187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45CF65B4-4318-45F3-AB47-091A6FB7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Eight skills. One development loop.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B87C44F-F972-40AF-ACB5-9E8D1194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Each skill has a responsibility and an output.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917D12C-4FBE-4A72-BAF2-3ED32129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cook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A4B6C67-450C-4ED2-84F9-60AC15E6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Coordinates the task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A1BF6F0-A1EB-4D74-A633-231AFCF8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812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sherlock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4EBCD23-74B8-45F5-AAD1-1C088008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800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Discovers the repository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D58FDC8-BB17-4C80-ACE4-D77008D2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dig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1D79CCA-8A11-48C0-AD25-0388D7D5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Researches the behaviour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BA0EA72-7784-4E03-A3E3-E732AABC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956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mastermind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2F77AA7-8DF2-450D-AFEC-6E39808D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14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Plans for approval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C2199DD-F972-4A19-B492-6FD4F327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A1D9730-7D13-4331-8D7E-00DB0C22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Implements and verifies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77B08489-D672-4419-89F0-C47C3C4D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mugshot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87373DE-0FFD-43BF-AA96-5DC00FA2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Captures device evidence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DB7C8C21-10D5-4623-A57C-D1A7C051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D78B72B2-6389-4254-944E-3B815BB1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Evaluates review feedback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2E91AB2-A4FE-4E24-ADA5-A3C1C511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244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saul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1D1E9FB-C372-40AE-A0C3-E8700D4F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5435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Communicates the result</a:t>
            </a:r>
          </a:p>
        </p:txBody>
      </p:sp>
      <p:sp>
        <p:nvSpPr>
          <p:cNvPr id="1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CF347DA-E021-4819-87F2-E730A97D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389044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AF2B373C-F8C0-4629-A756-05E2B21B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My engineering standards, written down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329BE6E-5332-4C8C-AD8B-7BB20106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Michelin makes those standards part of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1929CA5-B2C4-43AE-B422-06036F5A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Reuse and consistency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006DBA1-3810-44D4-B90D-362B646B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Build on existing code, patterns and tools.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A6B18EF-7683-4D13-9336-8BEABED3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Separation of concerns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E2D3589-E240-40D1-98B7-E7B5B082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UI, state and business logic focused.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606CB3C-0969-41F6-A6A1-13F5E185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F28BC71-30FB-4CB6-A7AA-3DA1122A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Meaningful tests. Readable code. Verified results.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3CBA716-E567-48C0-A592-A22E332D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07370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238E5B66-693F-42BB-9FAB-15387FE3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ABAD8437-94A0-4B05-832F-9D5D0794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D6E388F-78B7-4E21-88A8-062ABFE0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08797590-87C3-4CA7-A4A2-9810B87F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76212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badab85a8430f"/>
          <a:stretch xmlns:a="http://schemas.openxmlformats.org/drawingml/2006/main"/>
        </p:blipFill>
        <p:spPr>
          <a:xfrm xmlns:a="http://schemas.openxmlformats.org/drawingml/2006/main">
            <a:off x="1333500" y="20764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fda7d56424630"/>
          <a:stretch xmlns:a="http://schemas.openxmlformats.org/drawingml/2006/main"/>
        </p:blipFill>
        <p:spPr>
          <a:xfrm xmlns:a="http://schemas.openxmlformats.org/drawingml/2006/main">
            <a:off x="1333500" y="28575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193b25e7f46a1"/>
          <a:stretch xmlns:a="http://schemas.openxmlformats.org/drawingml/2006/main"/>
        </p:blipFill>
        <p:spPr>
          <a:xfrm xmlns:a="http://schemas.openxmlformats.org/drawingml/2006/main">
            <a:off x="1333500" y="36385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58281b99848d4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e2d43d8524628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030B0A6-4E40-4356-94EC-FE281E8F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244565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5D64C06F-4ABF-4241-87EA-15690502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testing bar, written into the codebase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895DCD0-E85C-4E52-A4E5-CCC70DF9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Protect what works. Raise the bar with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CDA642F-D8CF-4D13-A368-3B4469B9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New code needs tests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CD98403-0F0D-4835-9069-ACF01010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No test, no acceptance.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BDA1E82-E50C-4BE1-954F-512CDC83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Bug fixes prove both cases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CD16C40-529A-4B5D-BE01-ACF1477C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909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The test fails before the fix and passes after it.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8E30D94-0801-4574-AFC5-598FBE3A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Titles explain behaviour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ADB833B-3C4B-4857-87B1-2512A089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053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Name the expected result in plain language.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40FFA4A-E8AC-4EED-97CC-74BB6074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The bar keeps rising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A1257D6-2C8A-41BA-AFE7-3C4A9A33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197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existing checks passing. Add protection as we go.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A4E7BBB-7109-49B4-A9FA-9018C6C1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2097370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2EB19C7C-A3F6-444F-B59C-0B2F5C03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113 to 1,669 unit-test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3ed82f826d4449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A54AE35F-D837-4B85-92AF-2F31DF50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00FC1A92-A02F-47C1-8EED-E2BAFFED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65D1CDB4-55CC-4BB7-9CFB-92584552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test-file inventory, January to September 2026. File count does not measure coverage.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7DC0788-5A7D-49AD-85D1-C6F00382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2724702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EE9B6DCF-FFE2-4364-B595-DDE34B64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D6024FC3-49F3-432E-B329-B1147B4E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63DCD139-F8BE-4CE0-A6E4-AD24C457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C5828090-0FDD-48E1-B110-4F66B7AE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33D73F21-33B4-435E-87FA-7DBD9D54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62632D5E-C527-431B-BE40-03BF020C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54317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c128224c8434f"/>
          <a:stretch xmlns:a="http://schemas.openxmlformats.org/drawingml/2006/main"/>
        </p:blipFill>
        <p:spPr>
          <a:xfrm xmlns:a="http://schemas.openxmlformats.org/drawingml/2006/main">
            <a:off x="1333500" y="28575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e02882cfcd4888"/>
          <a:stretch xmlns:a="http://schemas.openxmlformats.org/drawingml/2006/main"/>
        </p:blipFill>
        <p:spPr>
          <a:xfrm xmlns:a="http://schemas.openxmlformats.org/drawingml/2006/main">
            <a:off x="1333500" y="36385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2d0382c50a4e50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11b23f8a7e44b5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A2849D5-995D-4405-8EFA-8C81BDE1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4958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0684B23E-6D3C-4176-8B99-98D3291A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Every PR goes through CI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F17F846-A850-46E1-9B2F-533F1214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Failed checks block the pipeline until they pass.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15D2231-DF71-4D8E-A2E9-CD6E2542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Run the checks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DAC0E14-F593-4FB0-9D03-2B302C58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Lint, types, tests and build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541F3C0-1F66-438F-B933-FBE204BA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 evaluates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774BB55-40F8-45F4-94B6-F794A831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CI results. Investigate each failure.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2FDD650-B3E8-4321-AAA5-76340581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 fixes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A2D36F2-E2A6-4F34-BAD1-07847B08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the correction. Commit, push and run again.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1DA34E2-3897-4BCD-A487-A24F781A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The loop repeats until the required checks pass.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7B73733-4656-4330-9732-22C73D14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094966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A391874-9CA9-4916-9CC1-3CF50776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quality bar keeps rising</a:t>
            </a:r>
          </a:p>
        </p:txBody>
      </p:sp>
      <p:sp>
        <p:nvSpPr>
          <p:cNvPr id="2" name="Metric value">
            <a:extLst xmlns:a="http://schemas.openxmlformats.org/drawingml/2006/main">
              <a:ext uri="{FF2B5EF4-FFF2-40B4-BE49-F238E27FC236}">
                <a16:creationId xmlns:a16="http://schemas.microsoft.com/office/drawing/2014/main" id="{C8B8DB95-4916-42BC-BC0E-3C253ABD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pPr>
            <a:r>
              <a: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rPr>
              <a:t>72%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3CFE3BE-E09E-44E6-8BE2-E78A5252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Line coverage, September 2026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6EF9902-D141-4B8D-BEEF-1BB6DF95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8720900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A3D53630-AA22-4631-BA14-720D57CA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8E2FBAA4-D073-4E45-BF11-49828476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642ED221-668D-4E7A-8A49-05F723CE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3E4C2C8A-F22B-4216-9E32-6C11C0BF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54969F4B-960D-4247-8C39-55C14699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259F437E-4E32-423B-832B-4BF0F666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4193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8CC0B06-356C-489C-8189-E7C1D3FC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9E9504B7-224B-45AD-B596-918FA86B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32422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d1cae7180410e"/>
          <a:stretch xmlns:a="http://schemas.openxmlformats.org/drawingml/2006/main"/>
        </p:blipFill>
        <p:spPr>
          <a:xfrm xmlns:a="http://schemas.openxmlformats.org/drawingml/2006/main">
            <a:off x="1333500" y="363855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e8b3d17a94ba6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af09e6a8e446dd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5FA45C0-E9A3-479A-AA35-06C882AB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442506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155FDCA4-4C5A-4657-B5A1-F5724CB1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Maestro checks the app while we sleep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F9816C9-E27C-4897-8760-0148C3EA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Android and iOS, with evidence of every failure.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1B717F0-BCDD-46C4-B500-DE967720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5DC8E5E-5D7B-4807-AD2C-2A0D55AE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smoke tests.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3333E7D-89E7-4498-908F-E8E7D2BD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A4ACDD0-B4C4-475D-BEBB-2739BFF0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full end-to-end suite.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B718605-D2C7-4AE6-99E7-22A498E9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failure blocks delivery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D74766D-4894-47AD-A879-14A50DE5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Fix it first. Watch the video and inspect the logs.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C1BA91F-C38B-47BD-817A-31B0DB28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Attach recordings and logs so people and AI can investigate.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744E8FC-CB82-4143-9294-73AD117D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98338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B83F761-0CD9-4FB4-B9A1-9A1120D2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14 to 225 Maestro YAML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1943d269204166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6F0968EC-7CAE-46B1-AEB0-73535EE6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2D08E68D-6224-4A03-AEB5-AA3B456B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ACFF48CC-F62B-405A-819A-D39BCDA5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Maestro YAML files, January to September 2026. Includes shared flows and suites.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1E2A626-26F8-42B2-B437-AD0503A8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807585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92D94D02-E7FC-410C-865E-F21618D8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D9553BC7-2FA4-41CC-8AC7-9C058124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8F8D67DC-7B9D-487A-B792-DB74EF35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0893C860-54D7-420E-B945-4115C79A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7362C6A5-393C-48C3-BB4A-D9D12604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FAE6E8DA-9DE9-4859-A7EE-7A8C95C2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4193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11332654-A028-4946-ABEA-39B9E683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C9E4E28B-D81A-4087-B7C8-AA3F9E04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004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97AEE85-E9DD-4BA9-B244-A0B41EB6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814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C7124E91-3587-4A69-B8EB-CD877DC8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10527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eb08eb54ca46cf"/>
          <a:stretch xmlns:a="http://schemas.openxmlformats.org/drawingml/2006/main"/>
        </p:blipFill>
        <p:spPr>
          <a:xfrm xmlns:a="http://schemas.openxmlformats.org/drawingml/2006/main">
            <a:off x="1333500" y="4419600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6056f43a7245c1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ACF2DEA-39C3-40E9-BE39-F7768FD3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5911822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0A7EE101-4C9F-4795-8C24-E9E3F23D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Three AI reviewers. One mobile specialist.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E465DFE-591B-43E1-955B-8B85171A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Review feedback arrives without waiting days for a person.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19118EB-50E4-4F71-8266-95A86F9F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CodeRabbit, Qodo, cubic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63352D9-2767-465D-B719-71AB6CF0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Three review perspectives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BFBAC59-26D1-4D3E-A7CC-91E35877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Custom Cursor reviewer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C84E6FB-25C1-4D18-AF36-AE96C35F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hourly review focused on React Native.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F6C4F01-ADB9-4C90-8343-D720A56F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shared 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7B07DFD-3164-43BC-968C-5A57E88F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All reviewers use the guidelines in the repository.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DE40C4B-069C-4945-B431-02DB0A2E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2839623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48F70E94-39B8-48E0-AB54-120D0C16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Review guidelines live with the code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1D7C23F-695C-4192-BF2D-D6D62C74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Every AI reviewer starts with the same mobile context.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9D15681-D72F-47B3-9455-6C17CDD6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React Native standards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F56510D-2366-4BCB-AC58-8C5E0FEE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best practices and platform behaviour.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69FC0C3-FC4A-49BA-8654-A5E14A56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Engineering expectations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BC27C82-B09D-4EDC-AB30-97DC4573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Reuse existing code. Separate concerns. Require tests.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F773D4D-1FE8-4461-B5FB-E968D746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Guidelines evolve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C0C9D4A-DCF0-4A3A-B12C-FD674210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Clarify missed context and improve future reviews.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664BB56-BAA8-45ED-9D0F-80477C84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7722120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D9CB9B4A-7E58-428C-B35B-33A705D8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22CA7A14-D753-4E6B-A0A5-B924196C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2B7D5FA3-BD78-4384-8874-932426492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EB72FACC-F8AD-43FB-B872-A8F87673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E7E7AC81-DE07-4846-99F7-ED94128C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6BC369A6-FF89-4A46-A7F5-D86212E7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4193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87AA2B8D-053A-435B-AC25-A2F050BB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61A4E7B9-78CB-4702-981B-5116CAC0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004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74E481D1-C901-4363-A538-F82F7312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814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9C4248F3-2204-497A-8DFA-6CEFFB9C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9814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ACB3BA86-F290-440B-8098-0307D1AB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6245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C9D9F7C4-5C01-41CA-B6C9-5A9D3C64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88632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323269de254441"/>
          <a:stretch xmlns:a="http://schemas.openxmlformats.org/drawingml/2006/main"/>
        </p:blipFill>
        <p:spPr>
          <a:xfrm xmlns:a="http://schemas.openxmlformats.org/drawingml/2006/main">
            <a:off x="1333500" y="5200650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CE0CA5B-8751-4205-9AA1-814C354B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54993860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3E7231CA-D219-473C-8EB5-3DC33532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Turn an issue into a regression check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DF4BE2C-01DE-4E0E-9098-7058B985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860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CB6C70A-95B6-4CC0-8431-4DDC0966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2860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Investigate a recorded issue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12F5A72-5F98-4B1A-995B-4618C970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337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DE8CF45-B6AB-40C4-9425-36156018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9337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Reproduce the relevant behaviour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8DEF9B9-AEF1-4EEC-914B-3D1E3A6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5814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95D03D8-C51C-47D1-9D48-0512308E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5814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a bounded correction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92FC040-A08C-4D9A-B81C-73DAA2F4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291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E5BF635-D1F0-447C-91BD-33BF1576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2291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Add a regression 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7D23202-EDD8-4CE1-9FB5-1F57F422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76800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7850662-365F-40D7-A74A-33E83957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76800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Return evidence to review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414C0A5-B92A-442B-9DEC-2BC479E6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57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 resurfacing issue becomes a focused development task.</a:t>
            </a:r>
          </a:p>
        </p:txBody>
      </p:sp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06CEC3A-D044-4457-88EC-AA47877B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38991545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1C0F829-47B1-43BF-9DEC-40BAB8F8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Fewer recorded errors, with variation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c0fa79a3f9497a"/>
          </a:graphicData>
        </a:graphic>
      </p:graphicFrame>
      <p:sp>
        <p:nvSpPr>
          <p:cNvPr id="3" name="Date label">
            <a:extLst xmlns:a="http://schemas.openxmlformats.org/drawingml/2006/main">
              <a:ext uri="{FF2B5EF4-FFF2-40B4-BE49-F238E27FC236}">
                <a16:creationId xmlns:a16="http://schemas.microsoft.com/office/drawing/2014/main" id="{CC1418D9-61B9-4331-97D9-0DE48A39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7 Jul</a:t>
            </a:r>
          </a:p>
        </p:txBody>
      </p:sp>
      <p:sp>
        <p:nvSpPr>
          <p:cNvPr id="4" name="Date label">
            <a:extLst xmlns:a="http://schemas.openxmlformats.org/drawingml/2006/main">
              <a:ext uri="{FF2B5EF4-FFF2-40B4-BE49-F238E27FC236}">
                <a16:creationId xmlns:a16="http://schemas.microsoft.com/office/drawing/2014/main" id="{13B8E838-09A9-40EE-90C6-AAC02B79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4 Aug</a:t>
            </a:r>
          </a:p>
        </p:txBody>
      </p:sp>
      <p:sp>
        <p:nvSpPr>
          <p:cNvPr id="5" name="Date label">
            <a:extLst xmlns:a="http://schemas.openxmlformats.org/drawingml/2006/main">
              <a:ext uri="{FF2B5EF4-FFF2-40B4-BE49-F238E27FC236}">
                <a16:creationId xmlns:a16="http://schemas.microsoft.com/office/drawing/2014/main" id="{DDF329CD-9C88-4F04-8EA6-33B7D3C6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 Sep</a:t>
            </a:r>
          </a:p>
        </p:txBody>
      </p:sp>
      <p:sp>
        <p:nvSpPr>
          <p:cNvPr id="6" name="Date label">
            <a:extLst xmlns:a="http://schemas.openxmlformats.org/drawingml/2006/main">
              <a:ext uri="{FF2B5EF4-FFF2-40B4-BE49-F238E27FC236}">
                <a16:creationId xmlns:a16="http://schemas.microsoft.com/office/drawing/2014/main" id="{8EBFE820-D8C8-4B9F-9E60-7592D844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 Sep</a:t>
            </a:r>
          </a:p>
        </p:txBody>
      </p:sp>
      <p:sp>
        <p:nvSpPr>
          <p:cNvPr id="7" name="Methodology">
            <a:extLst xmlns:a="http://schemas.openxmlformats.org/drawingml/2006/main">
              <a:ext uri="{FF2B5EF4-FFF2-40B4-BE49-F238E27FC236}">
                <a16:creationId xmlns:a16="http://schemas.microsoft.com/office/drawing/2014/main" id="{5354FCB1-2504-4BF6-805B-59724D66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Daily events, all environments. 7 July to 30 September 2026.</a:t>
            </a:r>
          </a:p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Fixes, filters and sampling affect counts. No usage denominator.</a:t>
            </a:r>
          </a:p>
        </p:txBody>
      </p:sp>
      <p:sp>
        <p:nvSpPr>
          <p:cNvPr id="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4B6D8D4-8531-4F41-B041-04B27B30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00362343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412EE8AA-55A4-4FBE-A30C-54195CBF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C15951CE-3309-4A42-B287-75110CD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572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AE0DD652-FCBA-471A-9294-2527E04F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382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BA2840E4-735E-4E43-B414-B3C19469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383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40458CB7-5CE5-4A3E-9F5B-8AA5B6C6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F68C64D3-D620-4C6E-B59B-1730B9CD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4193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2F46954C-98A2-4807-910B-CE2BDF49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2C5C51FF-58BE-4F7A-A1CB-922ABDC3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004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CB3E9634-C3F9-4CD7-9702-867D9A6B7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8140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61390E88-DF67-4338-B436-D5C2436B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98145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Completed section 5">
            <a:extLst xmlns:a="http://schemas.openxmlformats.org/drawingml/2006/main">
              <a:ext uri="{FF2B5EF4-FFF2-40B4-BE49-F238E27FC236}">
                <a16:creationId xmlns:a16="http://schemas.microsoft.com/office/drawing/2014/main" id="{93132C8F-2594-41CD-8ED2-FA15F06A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62450"/>
            <a:ext cx="914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37ABCAE6-57B6-423D-8884-2987DC26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62500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7D3373CE-731A-4FD3-B24F-FAD9F338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34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07  Delivery</a:t>
            </a:r>
          </a:p>
        </p:txBody>
      </p:sp>
      <p:sp>
        <p:nvSpPr>
          <p:cNvPr id="14" name="Section description 6">
            <a:extLst xmlns:a="http://schemas.openxmlformats.org/drawingml/2006/main">
              <a:ext uri="{FF2B5EF4-FFF2-40B4-BE49-F238E27FC236}">
                <a16:creationId xmlns:a16="http://schemas.microsoft.com/office/drawing/2014/main" id="{4FFAB23A-956C-4BED-B414-A3FD1155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667375"/>
            <a:ext cx="857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Ship small changes. Activate features separately.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6E3E225-5E73-4585-92D7-7134AC5C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3089694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A12F779E-9B15-4761-80AE-247C60C8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Canary builds and nightly betas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F81E3EB-F203-4AA3-82A9-43579EC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TestFlight for iOS. Test builds for Android.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382F0A8-0770-455D-8DC1-5EE0CFE8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After each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BBDD2D6-231E-4040-9BBA-1AAAE1B6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 canary build to try the change.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7E95DFD-CF41-4542-A2C5-60D3E3D5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CCBB040-D5E0-4E9A-BD9F-C21328B1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909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automated beta build for testing.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C5CF31C-69E7-4E77-A5D5-4370260D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Side by side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9F4684A-C8B2-4C69-A4AA-84EA1FCC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053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Install canary beside the normal app. Compare before and after.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F199C6A-230B-4702-812C-A1124C3E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Clear test instructions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8605815-BDB1-4353-8324-2FB8BE63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197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Generated TestFlight notes explain what changed and what to test.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4C42454-1017-4A2F-9234-E3A9D0CA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32876596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0A1CEAFF-6531-4940-A8DD-4CD95F63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Release the code. Approve the flag.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84781EC-5954-48C1-8FA0-C96B5618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Small changes ship behind feature flags.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4406093-9BF1-49C5-AB36-A33598CA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Small increments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891BF32-9847-4BA8-9F7E-28E62381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unfinished features hidden behind a flag.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90B87A8-24F3-47DA-8A4E-43FD2329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Seamless releases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39C61F0-8CA7-4A27-BB13-A55C8C35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Release verified code without the feature sign-off queue.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66251E0-2CB5-4B5F-B481-482631CF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Focused approval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87C1A94-F7B1-4CC8-B70E-64733CE5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Approve activating the feature when it is ready.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1031795-FEA1-48C1-AAF3-EF5F073C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7213990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C093152A-7387-4E17-AA79-808A2DCA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development rhythm changed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1f71c78bc64716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F8EE451D-7BCE-4A2B-AC88-F256BC4D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27F20E5D-224A-4245-9733-57F1BC16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79CCFD08-36ED-486A-B1E8-9D0D87EB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2026 app and design-system PRs across two repositories. Activity, not productivity.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65596F5-38FD-4F56-8C12-3DA74AD8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12856004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8B19E80D-6F6E-43D3-8E00-90AD4912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There’s another talk in what we left out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FC3CF7C-B2A8-42E6-9B30-24C9700E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A few months of change, while learning the team, codebase and business.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2FED95E-6B7B-4F1A-9302-C94B2D39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The design system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986E479-0FC8-4C2F-887A-6763FBC7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UI and a consistent quality bar.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7AEBC85-0C2D-46DC-B944-B72ABAB7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The monorepo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33F8377-CF08-40CF-946D-2EB554D5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code and coordinated changes.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F1F1A55-FF5B-4F9E-A509-CD983EF8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Ways of working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B4E5FE2-40DC-4932-804E-FFA6B517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Onboarding, ownership and the wider engineering process.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0BEF0F0-BE70-4481-92BE-58AF155D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18971666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BC0A6DAD-B17F-4BFE-9AAF-0E86949B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What I’d take into another team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F9B3694-C59F-42DF-BA4E-0D3F1D22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Find the 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8B05D9E-F2F9-4C72-A4F2-B1C289F6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Start where repeated work slows delivery.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46DBA9C-FB56-4C84-BDD2-9D765EE9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Write down the bar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3DAC5D2-70B5-4E9D-B96B-291F128F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99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quality expectations clear to people and AI.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77B57DD-2A57-4E45-88F2-EA97235C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Close the feedback loop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E7613E9-97DD-4280-9765-0C6E8AAA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Connect checks, evidence and fixes.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2CD3D6A-32C4-4EFA-AE92-9DA586AB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Adapt the rollout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97BE20E-3F83-45B0-BDB9-FF464C0F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87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Choose tools and release rules that fit your team.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239A43E-AFFA-4670-98B3-22697BBC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Keep the principles. Adapt the implementation.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357B00C-6AEB-48CF-9547-F55E9AF6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35589871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">
            <a:extLst xmlns:a="http://schemas.openxmlformats.org/drawingml/2006/main">
              <a:ext uri="{FF2B5EF4-FFF2-40B4-BE49-F238E27FC236}">
                <a16:creationId xmlns:a16="http://schemas.microsoft.com/office/drawing/2014/main" id="{0A65E929-19E8-473B-8008-EF160BAE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Confidence, built into development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C221CAA-A243-497E-953D-03E1C94A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Verification belongs inside everyday development.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60D4B31-5BD1-4C16-880F-4057EB5A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Skills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92F520C-EFEB-4902-94C1-1828656F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Repeat good habits and engineering standards.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4091570-E08B-4AFF-85EB-57568E30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Testing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01B837C-B6DA-4848-8FD0-7BDEFCDB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337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Protect behaviour with meaningful regression checks.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66D2190-E987-4DD8-992B-A8A58E70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CI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D7EC166-F2C9-45A5-8445-96197E7B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909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Check every PR. Block failures until fixed.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84B06ED-9AFF-49B3-A92D-BAE6E9D2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Device verification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1928ABC-93EB-4F1F-9176-224DF0BF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481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Maestro smoke and nightly checks. Videos and logs.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E5C8790-7915-4D19-BF91-DF2CBAED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AI reviewers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2B5B76C-7614-42DE-A81D-9D65A3D0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053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Shared mobile guidelines. Feedback evaluated and fixed.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0CD14DB3-E897-4586-9636-F1BFEBD2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Sentry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C660DAE-90DE-4735-B495-6EBBC21F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625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Turn production issues into regression checks.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7CB557D-7D42-4B7C-A5F7-AC37582B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Delivery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9724A3B1-EBE8-443A-9C49-B74C5915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19700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Canary per PR. Nightly beta. Feature flags.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E8C80CF1-5C3C-42AF-B5A5-0457692C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Less repetitive QA. More confidence. Faster delivery.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1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A09BCF9-F9F4-4B21-8B37-C9DB623F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3013912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2026-10-04T23:43:05.9900000Z</dcterms:created>
  <dcterms:modified xsi:type="dcterms:W3CDTF">2026-10-04T23:43:05.9900000Z</dcterms:modified>
</coreProperties>
</file>