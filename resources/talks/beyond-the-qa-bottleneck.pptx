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1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2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slides/charts/chart3.xml" ContentType="application/vnd.openxmlformats-officedocument.drawingml.chart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slides/charts/chart4.xml" ContentType="application/vnd.openxmlformats-officedocument.drawingml.chart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1b8d8e044824e69" /><Relationship Type="http://schemas.openxmlformats.org/officeDocument/2006/relationships/extended-properties" Target="/docProps/app.xml" Id="R7c8efccbfbbb42ce" /><Relationship Type="http://schemas.openxmlformats.org/officeDocument/2006/relationships/officeDocument" Target="/ppt/presentation.xml" Id="Rcf050ea88ce44ad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00f2c3ea0b5492b"/>
  </p:sldMasterIdLst>
  <p:notesMasterIdLst>
    <p:notesMasterId xmlns:r="http://schemas.openxmlformats.org/officeDocument/2006/relationships" r:id="R1954fb5872214bfe"/>
  </p:notesMasterIdLst>
  <p:sldIdLst>
    <p:sldId xmlns:r="http://schemas.openxmlformats.org/officeDocument/2006/relationships" id="256" r:id="R41f0373294cf4ade"/>
    <p:sldId xmlns:r="http://schemas.openxmlformats.org/officeDocument/2006/relationships" id="257" r:id="Ra5b2712d80c6491e"/>
    <p:sldId xmlns:r="http://schemas.openxmlformats.org/officeDocument/2006/relationships" id="258" r:id="R36c4c98571e04cd7"/>
    <p:sldId xmlns:r="http://schemas.openxmlformats.org/officeDocument/2006/relationships" id="259" r:id="Reaec46b5921449ea"/>
    <p:sldId xmlns:r="http://schemas.openxmlformats.org/officeDocument/2006/relationships" id="260" r:id="Rbc4350d6eb1c4b32"/>
    <p:sldId xmlns:r="http://schemas.openxmlformats.org/officeDocument/2006/relationships" id="261" r:id="Recb251864e9d4aaa"/>
    <p:sldId xmlns:r="http://schemas.openxmlformats.org/officeDocument/2006/relationships" id="262" r:id="Rd5034da4e0994a4b"/>
    <p:sldId xmlns:r="http://schemas.openxmlformats.org/officeDocument/2006/relationships" id="263" r:id="Rc0a3316c864545ff"/>
    <p:sldId xmlns:r="http://schemas.openxmlformats.org/officeDocument/2006/relationships" id="264" r:id="Rc2375fe5720c45c4"/>
    <p:sldId xmlns:r="http://schemas.openxmlformats.org/officeDocument/2006/relationships" id="265" r:id="Rabc4bc1c03e846a9"/>
    <p:sldId xmlns:r="http://schemas.openxmlformats.org/officeDocument/2006/relationships" id="266" r:id="R3dd5aed433704f43"/>
    <p:sldId xmlns:r="http://schemas.openxmlformats.org/officeDocument/2006/relationships" id="267" r:id="Rb60d7a6df93d40f2"/>
    <p:sldId xmlns:r="http://schemas.openxmlformats.org/officeDocument/2006/relationships" id="268" r:id="Rac16c8789e954675"/>
    <p:sldId xmlns:r="http://schemas.openxmlformats.org/officeDocument/2006/relationships" id="269" r:id="R909d858dcb6c4f1d"/>
    <p:sldId xmlns:r="http://schemas.openxmlformats.org/officeDocument/2006/relationships" id="270" r:id="Rf56c66650622469f"/>
    <p:sldId xmlns:r="http://schemas.openxmlformats.org/officeDocument/2006/relationships" id="271" r:id="Rbb7edbcaa6a647c1"/>
    <p:sldId xmlns:r="http://schemas.openxmlformats.org/officeDocument/2006/relationships" id="272" r:id="Rfd37461469aa407b"/>
    <p:sldId xmlns:r="http://schemas.openxmlformats.org/officeDocument/2006/relationships" id="273" r:id="Rab3a195ca96f4f6a"/>
    <p:sldId xmlns:r="http://schemas.openxmlformats.org/officeDocument/2006/relationships" id="274" r:id="R099c5863ce454c23"/>
    <p:sldId xmlns:r="http://schemas.openxmlformats.org/officeDocument/2006/relationships" id="275" r:id="R53b5fefa3eff4a77"/>
    <p:sldId xmlns:r="http://schemas.openxmlformats.org/officeDocument/2006/relationships" id="276" r:id="R7d194c7c8a8c4e89"/>
    <p:sldId xmlns:r="http://schemas.openxmlformats.org/officeDocument/2006/relationships" id="277" r:id="Ra318dcea340745d7"/>
    <p:sldId xmlns:r="http://schemas.openxmlformats.org/officeDocument/2006/relationships" id="278" r:id="R9b84a6ae69e44248"/>
    <p:sldId xmlns:r="http://schemas.openxmlformats.org/officeDocument/2006/relationships" id="279" r:id="R2fcbda823fdb4187"/>
    <p:sldId xmlns:r="http://schemas.openxmlformats.org/officeDocument/2006/relationships" id="280" r:id="R7dd300406f714998"/>
    <p:sldId xmlns:r="http://schemas.openxmlformats.org/officeDocument/2006/relationships" id="281" r:id="R5c92a39a7cb64508"/>
    <p:sldId xmlns:r="http://schemas.openxmlformats.org/officeDocument/2006/relationships" id="282" r:id="R9dead64dde824385"/>
    <p:sldId xmlns:r="http://schemas.openxmlformats.org/officeDocument/2006/relationships" id="283" r:id="R3380dd6f34264d6c"/>
    <p:sldId xmlns:r="http://schemas.openxmlformats.org/officeDocument/2006/relationships" id="284" r:id="R18b9e9dee9e14e58"/>
    <p:sldId xmlns:r="http://schemas.openxmlformats.org/officeDocument/2006/relationships" id="285" r:id="Rd85a9131e53944a4"/>
    <p:sldId xmlns:r="http://schemas.openxmlformats.org/officeDocument/2006/relationships" id="286" r:id="R1b884058918b4aa6"/>
    <p:sldId xmlns:r="http://schemas.openxmlformats.org/officeDocument/2006/relationships" id="287" r:id="R7274328a018842a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9348e74bd1d48cd" /><Relationship Type="http://schemas.openxmlformats.org/officeDocument/2006/relationships/slideMaster" Target="/ppt/slideMasters/slideMaster1.xml" Id="R800f2c3ea0b5492b" /><Relationship Type="http://schemas.openxmlformats.org/officeDocument/2006/relationships/notesMaster" Target="/ppt/notesMasters/notesMaster1.xml" Id="R1954fb5872214bfe" /><Relationship Type="http://schemas.openxmlformats.org/officeDocument/2006/relationships/presProps" Target="/ppt/presProps.xml" Id="R7e6c492308684ae9" /><Relationship Type="http://schemas.openxmlformats.org/officeDocument/2006/relationships/tableStyles" Target="/ppt/tableStyles.xml" Id="R350d36ec91044822" /><Relationship Type="http://schemas.openxmlformats.org/officeDocument/2006/relationships/slide" Target="/ppt/slides/slide1.xml" Id="R41f0373294cf4ade" /><Relationship Type="http://schemas.openxmlformats.org/officeDocument/2006/relationships/slide" Target="/ppt/slides/slide2.xml" Id="Ra5b2712d80c6491e" /><Relationship Type="http://schemas.openxmlformats.org/officeDocument/2006/relationships/slide" Target="/ppt/slides/slide3.xml" Id="R36c4c98571e04cd7" /><Relationship Type="http://schemas.openxmlformats.org/officeDocument/2006/relationships/slide" Target="/ppt/slides/slide4.xml" Id="Reaec46b5921449ea" /><Relationship Type="http://schemas.openxmlformats.org/officeDocument/2006/relationships/slide" Target="/ppt/slides/slide5.xml" Id="Rbc4350d6eb1c4b32" /><Relationship Type="http://schemas.openxmlformats.org/officeDocument/2006/relationships/slide" Target="/ppt/slides/slide6.xml" Id="Recb251864e9d4aaa" /><Relationship Type="http://schemas.openxmlformats.org/officeDocument/2006/relationships/slide" Target="/ppt/slides/slide7.xml" Id="Rd5034da4e0994a4b" /><Relationship Type="http://schemas.openxmlformats.org/officeDocument/2006/relationships/slide" Target="/ppt/slides/slide8.xml" Id="Rc0a3316c864545ff" /><Relationship Type="http://schemas.openxmlformats.org/officeDocument/2006/relationships/slide" Target="/ppt/slides/slide9.xml" Id="Rc2375fe5720c45c4" /><Relationship Type="http://schemas.openxmlformats.org/officeDocument/2006/relationships/slide" Target="/ppt/slides/slide10.xml" Id="Rabc4bc1c03e846a9" /><Relationship Type="http://schemas.openxmlformats.org/officeDocument/2006/relationships/slide" Target="/ppt/slides/slide11.xml" Id="R3dd5aed433704f43" /><Relationship Type="http://schemas.openxmlformats.org/officeDocument/2006/relationships/slide" Target="/ppt/slides/slide12.xml" Id="Rb60d7a6df93d40f2" /><Relationship Type="http://schemas.openxmlformats.org/officeDocument/2006/relationships/slide" Target="/ppt/slides/slide13.xml" Id="Rac16c8789e954675" /><Relationship Type="http://schemas.openxmlformats.org/officeDocument/2006/relationships/slide" Target="/ppt/slides/slide14.xml" Id="R909d858dcb6c4f1d" /><Relationship Type="http://schemas.openxmlformats.org/officeDocument/2006/relationships/slide" Target="/ppt/slides/slide15.xml" Id="Rf56c66650622469f" /><Relationship Type="http://schemas.openxmlformats.org/officeDocument/2006/relationships/slide" Target="/ppt/slides/slide16.xml" Id="Rbb7edbcaa6a647c1" /><Relationship Type="http://schemas.openxmlformats.org/officeDocument/2006/relationships/slide" Target="/ppt/slides/slide17.xml" Id="Rfd37461469aa407b" /><Relationship Type="http://schemas.openxmlformats.org/officeDocument/2006/relationships/slide" Target="/ppt/slides/slide18.xml" Id="Rab3a195ca96f4f6a" /><Relationship Type="http://schemas.openxmlformats.org/officeDocument/2006/relationships/slide" Target="/ppt/slides/slide19.xml" Id="R099c5863ce454c23" /><Relationship Type="http://schemas.openxmlformats.org/officeDocument/2006/relationships/slide" Target="/ppt/slides/slide20.xml" Id="R53b5fefa3eff4a77" /><Relationship Type="http://schemas.openxmlformats.org/officeDocument/2006/relationships/slide" Target="/ppt/slides/slide21.xml" Id="R7d194c7c8a8c4e89" /><Relationship Type="http://schemas.openxmlformats.org/officeDocument/2006/relationships/slide" Target="/ppt/slides/slide22.xml" Id="Ra318dcea340745d7" /><Relationship Type="http://schemas.openxmlformats.org/officeDocument/2006/relationships/slide" Target="/ppt/slides/slide23.xml" Id="R9b84a6ae69e44248" /><Relationship Type="http://schemas.openxmlformats.org/officeDocument/2006/relationships/slide" Target="/ppt/slides/slide24.xml" Id="R2fcbda823fdb4187" /><Relationship Type="http://schemas.openxmlformats.org/officeDocument/2006/relationships/slide" Target="/ppt/slides/slide25.xml" Id="R7dd300406f714998" /><Relationship Type="http://schemas.openxmlformats.org/officeDocument/2006/relationships/slide" Target="/ppt/slides/slide26.xml" Id="R5c92a39a7cb64508" /><Relationship Type="http://schemas.openxmlformats.org/officeDocument/2006/relationships/slide" Target="/ppt/slides/slide27.xml" Id="R9dead64dde824385" /><Relationship Type="http://schemas.openxmlformats.org/officeDocument/2006/relationships/slide" Target="/ppt/slides/slide28.xml" Id="R3380dd6f34264d6c" /><Relationship Type="http://schemas.openxmlformats.org/officeDocument/2006/relationships/slide" Target="/ppt/slides/slide29.xml" Id="R18b9e9dee9e14e58" /><Relationship Type="http://schemas.openxmlformats.org/officeDocument/2006/relationships/slide" Target="/ppt/slides/slide30.xml" Id="Rd85a9131e53944a4" /><Relationship Type="http://schemas.openxmlformats.org/officeDocument/2006/relationships/slide" Target="/ppt/slides/slide31.xml" Id="R1b884058918b4aa6" /><Relationship Type="http://schemas.openxmlformats.org/officeDocument/2006/relationships/slide" Target="/ppt/slides/slide32.xml" Id="R7274328a018842a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dfb6681e6bd4b1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43261d06ebb4c25" /><Relationship Type="http://schemas.openxmlformats.org/officeDocument/2006/relationships/notesMaster" Target="/ppt/notesMasters/notesMaster1.xml" Id="Rd38ddfc1f65642b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cf8bfee5c634f61" /><Relationship Type="http://schemas.openxmlformats.org/officeDocument/2006/relationships/notesMaster" Target="/ppt/notesMasters/notesMaster1.xml" Id="R5d9f1e883fd645f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41971da980b47f0" /><Relationship Type="http://schemas.openxmlformats.org/officeDocument/2006/relationships/notesMaster" Target="/ppt/notesMasters/notesMaster1.xml" Id="Red9467f0933e499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ead642478c44819" /><Relationship Type="http://schemas.openxmlformats.org/officeDocument/2006/relationships/notesMaster" Target="/ppt/notesMasters/notesMaster1.xml" Id="Re41f3b5aaebb456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3b08ea6cf1648a4" /><Relationship Type="http://schemas.openxmlformats.org/officeDocument/2006/relationships/notesMaster" Target="/ppt/notesMasters/notesMaster1.xml" Id="R72020bfd5e11434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3c89a12a3314314" /><Relationship Type="http://schemas.openxmlformats.org/officeDocument/2006/relationships/notesMaster" Target="/ppt/notesMasters/notesMaster1.xml" Id="Rc909c0e3be874bc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bfbb8b1e78f405d" /><Relationship Type="http://schemas.openxmlformats.org/officeDocument/2006/relationships/notesMaster" Target="/ppt/notesMasters/notesMaster1.xml" Id="R27e7b744c2ac476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9320bdb2f034dbe" /><Relationship Type="http://schemas.openxmlformats.org/officeDocument/2006/relationships/notesMaster" Target="/ppt/notesMasters/notesMaster1.xml" Id="R513cd0cdee994eb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7bd21e89ac24494" /><Relationship Type="http://schemas.openxmlformats.org/officeDocument/2006/relationships/notesMaster" Target="/ppt/notesMasters/notesMaster1.xml" Id="Rce013c0a3cfe4b4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e15f3b988f6423b" /><Relationship Type="http://schemas.openxmlformats.org/officeDocument/2006/relationships/notesMaster" Target="/ppt/notesMasters/notesMaster1.xml" Id="Rc5e8f598f2b0464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80fd38b558d40d4" /><Relationship Type="http://schemas.openxmlformats.org/officeDocument/2006/relationships/notesMaster" Target="/ppt/notesMasters/notesMaster1.xml" Id="R0f1d767555fd45e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d2ade2749094484" /><Relationship Type="http://schemas.openxmlformats.org/officeDocument/2006/relationships/notesMaster" Target="/ppt/notesMasters/notesMaster1.xml" Id="R982538cfc29e47f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18a245ff98c4d1a" /><Relationship Type="http://schemas.openxmlformats.org/officeDocument/2006/relationships/notesMaster" Target="/ppt/notesMasters/notesMaster1.xml" Id="R786d18c9e13047b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c700268a48e46f8" /><Relationship Type="http://schemas.openxmlformats.org/officeDocument/2006/relationships/notesMaster" Target="/ppt/notesMasters/notesMaster1.xml" Id="R5d75985e2e20467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0d244105e804115" /><Relationship Type="http://schemas.openxmlformats.org/officeDocument/2006/relationships/notesMaster" Target="/ppt/notesMasters/notesMaster1.xml" Id="Rd468753decf94f8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df688fe44694b0d" /><Relationship Type="http://schemas.openxmlformats.org/officeDocument/2006/relationships/notesMaster" Target="/ppt/notesMasters/notesMaster1.xml" Id="R2f59c5caa97b43c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8937637e3d1499f" /><Relationship Type="http://schemas.openxmlformats.org/officeDocument/2006/relationships/notesMaster" Target="/ppt/notesMasters/notesMaster1.xml" Id="Rf22f779e780d4b8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dc90706a75746bb" /><Relationship Type="http://schemas.openxmlformats.org/officeDocument/2006/relationships/notesMaster" Target="/ppt/notesMasters/notesMaster1.xml" Id="Re53feaf409bf4ca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6376e8fa96c49c3" /><Relationship Type="http://schemas.openxmlformats.org/officeDocument/2006/relationships/notesMaster" Target="/ppt/notesMasters/notesMaster1.xml" Id="R27bf226c7e654da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f25a679bbd349ff" /><Relationship Type="http://schemas.openxmlformats.org/officeDocument/2006/relationships/notesMaster" Target="/ppt/notesMasters/notesMaster1.xml" Id="R19d6ae87bb524d5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6d39218e9994b98" /><Relationship Type="http://schemas.openxmlformats.org/officeDocument/2006/relationships/notesMaster" Target="/ppt/notesMasters/notesMaster1.xml" Id="Rc91893987c844e9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8a8d02af12f43fe" /><Relationship Type="http://schemas.openxmlformats.org/officeDocument/2006/relationships/notesMaster" Target="/ppt/notesMasters/notesMaster1.xml" Id="R1e60da70108843d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9f64b1bf5d14252" /><Relationship Type="http://schemas.openxmlformats.org/officeDocument/2006/relationships/notesMaster" Target="/ppt/notesMasters/notesMaster1.xml" Id="R93b63663a821434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c374c69ec514b62" /><Relationship Type="http://schemas.openxmlformats.org/officeDocument/2006/relationships/notesMaster" Target="/ppt/notesMasters/notesMaster1.xml" Id="R04b06f22a2a04532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c0ec583b1294906" /><Relationship Type="http://schemas.openxmlformats.org/officeDocument/2006/relationships/notesMaster" Target="/ppt/notesMasters/notesMaster1.xml" Id="R04de5739a6d647dd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170cb830696d42b1" /><Relationship Type="http://schemas.openxmlformats.org/officeDocument/2006/relationships/notesMaster" Target="/ppt/notesMasters/notesMaster1.xml" Id="R0077fcc86cee455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159ff1f6c83641a3" /><Relationship Type="http://schemas.openxmlformats.org/officeDocument/2006/relationships/notesMaster" Target="/ppt/notesMasters/notesMaster1.xml" Id="R1f22e1dcd29e494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0c55c724635b4ce7" /><Relationship Type="http://schemas.openxmlformats.org/officeDocument/2006/relationships/notesMaster" Target="/ppt/notesMasters/notesMaster1.xml" Id="Rda3b0d0e029f4722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c62123236fa242a5" /><Relationship Type="http://schemas.openxmlformats.org/officeDocument/2006/relationships/notesMaster" Target="/ppt/notesMasters/notesMaster1.xml" Id="R3455ebf399f44d8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9fd747d736ce479d" /><Relationship Type="http://schemas.openxmlformats.org/officeDocument/2006/relationships/notesMaster" Target="/ppt/notesMasters/notesMaster1.xml" Id="R832ecf37a03c4e04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00a29161b11747d0" /><Relationship Type="http://schemas.openxmlformats.org/officeDocument/2006/relationships/notesMaster" Target="/ppt/notesMasters/notesMaster1.xml" Id="Rfc72105b8e174776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cc526373a7714bc3" /><Relationship Type="http://schemas.openxmlformats.org/officeDocument/2006/relationships/notesMaster" Target="/ppt/notesMasters/notesMaster1.xml" Id="Re390db9df65742d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Code finished. Confidence missing.</a:t>
            </a:r>
          </a:p>
          <a:p xmlns:a="http://schemas.openxmlformats.org/drawingml/2006/main">
            <a:r>
              <a:t>• React Native + AI adoption</a:t>
            </a:r>
          </a:p>
          <a:p xmlns:a="http://schemas.openxmlformats.org/drawingml/2006/main">
            <a:r>
              <a:t>• Verification inside everyday development</a:t>
            </a:r>
          </a:p>
          <a:p xmlns:a="http://schemas.openxmlformats.org/drawingml/2006/main">
            <a:r>
              <a:t>• John Adib · MrAdib.com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Regressions every release</a:t>
            </a:r>
          </a:p>
          <a:p xmlns:a="http://schemas.openxmlformats.org/drawingml/2006/main">
            <a:r>
              <a:t>• Previously checked behaviour breaks again</a:t>
            </a:r>
          </a:p>
          <a:p xmlns:a="http://schemas.openxmlformats.org/drawingml/2006/main">
            <a:r>
              <a:t>• Repeated work. Falling confidence.</a:t>
            </a:r>
          </a:p>
          <a:p xmlns:a="http://schemas.openxmlformats.org/drawingml/2006/main">
            <a:r>
              <a:t>• First-hand experience, not an incident-rate metric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Small unit-test suite</a:t>
            </a:r>
          </a:p>
          <a:p xmlns:a="http://schemas.openxmlformats.org/drawingml/2006/main">
            <a:r>
              <a:t>• End-to-end checks outside CI</a:t>
            </a:r>
          </a:p>
          <a:p xmlns:a="http://schemas.openxmlformats.org/drawingml/2006/main">
            <a:r>
              <a:t>• Nobody ran them</a:t>
            </a:r>
          </a:p>
          <a:p xmlns:a="http://schemas.openxmlformats.org/drawingml/2006/main">
            <a:r>
              <a:t>• Files existed. Reliable feedback did not.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More than three days of app QA</a:t>
            </a:r>
          </a:p>
          <a:p xmlns:a="http://schemas.openxmlformats.org/drawingml/2006/main">
            <a:r>
              <a:t>• Engineering, product, UX/design</a:t>
            </a:r>
          </a:p>
          <a:p xmlns:a="http://schemas.openxmlformats.org/drawingml/2006/main">
            <a:r>
              <a:t>• Many people pause their own work</a:t>
            </a:r>
          </a:p>
          <a:p xmlns:a="http://schemas.openxmlformats.org/drawingml/2006/main">
            <a:r>
              <a:t>• The cost: interrupted progress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Days waiting for approval</a:t>
            </a:r>
          </a:p>
          <a:p xmlns:a="http://schemas.openxmlformats.org/drawingml/2006/main">
            <a:r>
              <a:t>• Sign-off chain holds the whole release</a:t>
            </a:r>
          </a:p>
          <a:p xmlns:a="http://schemas.openxmlformats.org/drawingml/2006/main">
            <a:r>
              <a:t>• One feature delays other work</a:t>
            </a:r>
          </a:p>
          <a:p xmlns:a="http://schemas.openxmlformats.org/drawingml/2006/main">
            <a:r>
              <a:t>• Later: approve the feature flag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Existing projects delayed over a quarter</a:t>
            </a:r>
          </a:p>
          <a:p xmlns:a="http://schemas.openxmlformats.org/drawingml/2006/main">
            <a:r>
              <a:t>• Regression work + slow QA + release queues</a:t>
            </a:r>
          </a:p>
          <a:p xmlns:a="http://schemas.openxmlformats.org/drawingml/2006/main">
            <a:r>
              <a:t>• Backlog uncertainty</a:t>
            </a:r>
          </a:p>
          <a:p xmlns:a="http://schemas.openxmlformats.org/drawingml/2006/main">
            <a:r>
              <a:t>• Process problem, not individual blame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John Adib · London</a:t>
            </a:r>
          </a:p>
          <a:p xmlns:a="http://schemas.openxmlformats.org/drawingml/2006/main">
            <a:r>
              <a:t>• 2× co-founder. Former CTO. 18 years.</a:t>
            </a:r>
          </a:p>
          <a:p xmlns:a="http://schemas.openxmlformats.org/drawingml/2006/main">
            <a:r>
              <a:t>• Engineering leader + mentor</a:t>
            </a:r>
          </a:p>
          <a:p xmlns:a="http://schemas.openxmlformats.org/drawingml/2006/main">
            <a:r>
              <a:t>• Product engineering. Broader ownership.</a:t>
            </a:r>
          </a:p>
          <a:p xmlns:a="http://schemas.openxmlformats.org/drawingml/2006/main">
            <a:r>
              <a:t>• I love moving mountains.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Repeat the good engineering habits</a:t>
            </a:r>
          </a:p>
          <a:p xmlns:a="http://schemas.openxmlformats.org/drawingml/2006/main">
            <a:r>
              <a:t>• AI adoption includes verification</a:t>
            </a:r>
          </a:p>
          <a:p xmlns:a="http://schemas.openxmlformats.org/drawingml/2006/main">
            <a:r>
              <a:t>• Seven changes, one development loop</a:t>
            </a:r>
          </a:p>
          <a:p xmlns:a="http://schemas.openxmlformats.org/drawingml/2006/main">
            <a:r>
              <a:t>• First: reusable skills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cook: coordinate; sherlock: discover</a:t>
            </a:r>
          </a:p>
          <a:p xmlns:a="http://schemas.openxmlformats.org/drawingml/2006/main">
            <a:r>
              <a:t>• dig: research; mastermind: plan</a:t>
            </a:r>
          </a:p>
          <a:p xmlns:a="http://schemas.openxmlformats.org/drawingml/2006/main">
            <a:r>
              <a:t>• michelin: implement; mugshot: capture</a:t>
            </a:r>
          </a:p>
          <a:p xmlns:a="http://schemas.openxmlformats.org/drawingml/2006/main">
            <a:r>
              <a:t>• parole: evaluate feedback; saul: communicate</a:t>
            </a:r>
          </a:p>
          <a:p xmlns:a="http://schemas.openxmlformats.org/drawingml/2006/main">
            <a:r>
              <a:t>• One workflow. Focus next on Michelin.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18 years of engineering judgement, written down</a:t>
            </a:r>
          </a:p>
          <a:p xmlns:a="http://schemas.openxmlformats.org/drawingml/2006/main">
            <a:r>
              <a:t>• Reuse: code, components, patterns, tools</a:t>
            </a:r>
          </a:p>
          <a:p xmlns:a="http://schemas.openxmlformats.org/drawingml/2006/main">
            <a:r>
              <a:t>• Separation: UI, state, business decisions</a:t>
            </a:r>
          </a:p>
          <a:p xmlns:a="http://schemas.openxmlformats.org/drawingml/2006/main">
            <a:r>
              <a:t>• Quality: tests, readability, actual check results</a:t>
            </a:r>
          </a:p>
          <a:p xmlns:a="http://schemas.openxmlformats.org/drawingml/2006/main">
            <a:r>
              <a:t>• Shared standards for implementation and review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Next: meaningful tests</a:t>
            </a:r>
          </a:p>
          <a:p xmlns:a="http://schemas.openxmlformats.org/drawingml/2006/main">
            <a:r>
              <a:t>• Expected behaviour + failure case</a:t>
            </a:r>
          </a:p>
          <a:p xmlns:a="http://schemas.openxmlformats.org/drawingml/2006/main">
            <a:r>
              <a:t>• Every correction leaves protection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Before editing: read the testing guidelines</a:t>
            </a:r>
          </a:p>
          <a:p xmlns:a="http://schemas.openxmlformats.org/drawingml/2006/main">
            <a:r>
              <a:t>• New code must include meaningful tests</a:t>
            </a:r>
          </a:p>
          <a:p xmlns:a="http://schemas.openxmlformats.org/drawingml/2006/main">
            <a:r>
              <a:t>• Bug fix: reproduce failure, prove the fix, preserve working behaviour</a:t>
            </a:r>
          </a:p>
          <a:p xmlns:a="http://schemas.openxmlformats.org/drawingml/2006/main">
            <a:r>
              <a:t>• Human-readable test titles help people and AI understand intent</a:t>
            </a:r>
          </a:p>
          <a:p xmlns:a="http://schemas.openxmlformats.org/drawingml/2006/main">
            <a:r>
              <a:t>• Never lower the bar. Raise it gradually.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April: 113 files. September: 1,669 files.</a:t>
            </a:r>
          </a:p>
          <a:p xmlns:a="http://schemas.openxmlformats.org/drawingml/2006/main">
            <a:r>
              <a:t>• Dashed line: joined in April</a:t>
            </a:r>
          </a:p>
          <a:p xmlns:a="http://schemas.openxmlformats.org/drawingml/2006/main">
            <a:r>
              <a:t>• More protection added as the product evolves</a:t>
            </a:r>
          </a:p>
          <a:p xmlns:a="http://schemas.openxmlformats.org/drawingml/2006/main">
            <a:r>
              <a:t>• Same application across a repository move</a:t>
            </a:r>
          </a:p>
          <a:p xmlns:a="http://schemas.openxmlformats.org/drawingml/2006/main">
            <a:r>
              <a:t>• Files can contain many tests. Coverage is a separate measure.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CI on every PR</a:t>
            </a:r>
          </a:p>
          <a:p xmlns:a="http://schemas.openxmlformats.org/drawingml/2006/main">
            <a:r>
              <a:t>• Lint, types, tests and build</a:t>
            </a:r>
          </a:p>
          <a:p xmlns:a="http://schemas.openxmlformats.org/drawingml/2006/main">
            <a:r>
              <a:t>• Failed checks block the pipeline</a:t>
            </a:r>
          </a:p>
          <a:p xmlns:a="http://schemas.openxmlformats.org/drawingml/2006/main">
            <a:r>
              <a:t>• Parole watches results. Michelin makes valid fixes.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Automated CI on every PR</a:t>
            </a:r>
          </a:p>
          <a:p xmlns:a="http://schemas.openxmlformats.org/drawingml/2006/main">
            <a:r>
              <a:t>• Parole continuously checks the results</a:t>
            </a:r>
          </a:p>
          <a:p xmlns:a="http://schemas.openxmlformats.org/drawingml/2006/main">
            <a:r>
              <a:t>• Evaluate the failure and pass valid work to Michelin</a:t>
            </a:r>
          </a:p>
          <a:p xmlns:a="http://schemas.openxmlformats.org/drawingml/2006/main">
            <a:r>
              <a:t>• Michelin fixes, commits and pushes</a:t>
            </a:r>
          </a:p>
          <a:p xmlns:a="http://schemas.openxmlformats.org/drawingml/2006/main">
            <a:r>
              <a:t>• New commit triggers CI and another review. Repeat until clear.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September snapshot: 72% line coverage</a:t>
            </a:r>
          </a:p>
          <a:p xmlns:a="http://schemas.openxmlformats.org/drawingml/2006/main">
            <a:r>
              <a:t>• Coverage means lines executed during tests</a:t>
            </a:r>
          </a:p>
          <a:p xmlns:a="http://schemas.openxmlformats.org/drawingml/2006/main">
            <a:r>
              <a:t>• 1,669 files: month-end repository inventory</a:t>
            </a:r>
          </a:p>
          <a:p xmlns:a="http://schemas.openxmlformats.org/drawingml/2006/main">
            <a:r>
              <a:t>• 1,351 suites and 7,693 individual tests: one CI run</a:t>
            </a:r>
          </a:p>
          <a:p xmlns:a="http://schemas.openxmlformats.org/drawingml/2006/main">
            <a:r>
              <a:t>• Different units and snapshots. No measured zero-coverage baseline.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Maestro, the end-to-end testing tool</a:t>
            </a:r>
          </a:p>
          <a:p xmlns:a="http://schemas.openxmlformats.org/drawingml/2006/main">
            <a:r>
              <a:t>• Android and iOS</a:t>
            </a:r>
          </a:p>
          <a:p xmlns:a="http://schemas.openxmlformats.org/drawingml/2006/main">
            <a:r>
              <a:t>• Smoke checks on every PR</a:t>
            </a:r>
          </a:p>
          <a:p xmlns:a="http://schemas.openxmlformats.org/drawingml/2006/main">
            <a:r>
              <a:t>• Full suite overnight</a:t>
            </a:r>
          </a:p>
          <a:p xmlns:a="http://schemas.openxmlformats.org/drawingml/2006/main">
            <a:r>
              <a:t>• Failed nightly checks block delivery until fixed.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Smoke tests on every PR</a:t>
            </a:r>
          </a:p>
          <a:p xmlns:a="http://schemas.openxmlformats.org/drawingml/2006/main">
            <a:r>
              <a:t>• Full suite nightly on Android and iOS</a:t>
            </a:r>
          </a:p>
          <a:p xmlns:a="http://schemas.openxmlformats.org/drawingml/2006/main">
            <a:r>
              <a:t>• Morning starts with the nightly result</a:t>
            </a:r>
          </a:p>
          <a:p xmlns:a="http://schemas.openxmlformats.org/drawingml/2006/main">
            <a:r>
              <a:t>• A failed run blocks the release pipeline until fixed</a:t>
            </a:r>
          </a:p>
          <a:p xmlns:a="http://schemas.openxmlformats.org/drawingml/2006/main">
            <a:r>
              <a:t>• Maestro video + logs give the AI agent evidence to investigate.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14 YAML files through April; 225 by September</a:t>
            </a:r>
          </a:p>
          <a:p xmlns:a="http://schemas.openxmlformats.org/drawingml/2006/main">
            <a:r>
              <a:t>• Leaf flows + shared setup + suite entrypoints</a:t>
            </a:r>
          </a:p>
          <a:p xmlns:a="http://schemas.openxmlformats.org/drawingml/2006/main">
            <a:r>
              <a:t>• Runnable checks connected to development</a:t>
            </a:r>
          </a:p>
          <a:p xmlns:a="http://schemas.openxmlformats.org/drawingml/2006/main">
            <a:r>
              <a:t>• File counts do not prove journeys or platform coverage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Human review queues took days</a:t>
            </a:r>
          </a:p>
          <a:p xmlns:a="http://schemas.openxmlformats.org/drawingml/2006/main">
            <a:r>
              <a:t>• Three AI reviewers on every PR</a:t>
            </a:r>
          </a:p>
          <a:p xmlns:a="http://schemas.openxmlformats.org/drawingml/2006/main">
            <a:r>
              <a:t>• Custom mobile reviewer runs hourly</a:t>
            </a:r>
          </a:p>
          <a:p xmlns:a="http://schemas.openxmlformats.org/drawingml/2006/main">
            <a:r>
              <a:t>• Repository guidelines provide React Native context</a:t>
            </a:r>
          </a:p>
          <a:p xmlns:a="http://schemas.openxmlformats.org/drawingml/2006/main">
            <a:r>
              <a:t>• Parole’s feedback loop connects this to CI.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CodeRabbit + Qodo Merge + cubic</a:t>
            </a:r>
          </a:p>
          <a:p xmlns:a="http://schemas.openxmlformats.org/drawingml/2006/main">
            <a:r>
              <a:t>• Every PR receives automated feedback</a:t>
            </a:r>
          </a:p>
          <a:p xmlns:a="http://schemas.openxmlformats.org/drawingml/2006/main">
            <a:r>
              <a:t>• Custom Cursor reviewer runs hourly</a:t>
            </a:r>
          </a:p>
          <a:p xmlns:a="http://schemas.openxmlformats.org/drawingml/2006/main">
            <a:r>
              <a:t>• React Native context in the review prompt</a:t>
            </a:r>
          </a:p>
          <a:p xmlns:a="http://schemas.openxmlformats.org/drawingml/2006/main">
            <a:r>
              <a:t>• Different perspectives. Parole evaluates the feedback.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Guidelines committed to the repository</a:t>
            </a:r>
          </a:p>
          <a:p xmlns:a="http://schemas.openxmlformats.org/drawingml/2006/main">
            <a:r>
              <a:t>• React Native + iOS/Android expectations</a:t>
            </a:r>
          </a:p>
          <a:p xmlns:a="http://schemas.openxmlformats.org/drawingml/2006/main">
            <a:r>
              <a:t>• Component reuse, separation of concerns, meaningful tests</a:t>
            </a:r>
          </a:p>
          <a:p xmlns:a="http://schemas.openxmlformats.org/drawingml/2006/main">
            <a:r>
              <a:t>• Reviewers read the same rules used for implementation</a:t>
            </a:r>
          </a:p>
          <a:p xmlns:a="http://schemas.openxmlformats.org/drawingml/2006/main">
            <a:r>
              <a:t>• Explain incorrect feedback. Refine the guidance. No guarantee of catching everything.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Next: Sentry</a:t>
            </a:r>
          </a:p>
          <a:p xmlns:a="http://schemas.openxmlformats.org/drawingml/2006/main">
            <a:r>
              <a:t>• Production feedback returns to development</a:t>
            </a:r>
          </a:p>
          <a:p xmlns:a="http://schemas.openxmlformats.org/drawingml/2006/main">
            <a:r>
              <a:t>• July: systematic error cleanup</a:t>
            </a:r>
          </a:p>
          <a:p xmlns:a="http://schemas.openxmlformats.org/drawingml/2006/main">
            <a:r>
              <a:t>• Prioritise reproducible problems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Investigate context + revision + flags</a:t>
            </a:r>
          </a:p>
          <a:p xmlns:a="http://schemas.openxmlformats.org/drawingml/2006/main">
            <a:r>
              <a:t>• Reproduce before correcting</a:t>
            </a:r>
          </a:p>
          <a:p xmlns:a="http://schemas.openxmlformats.org/drawingml/2006/main">
            <a:r>
              <a:t>• Bounded fix + regression check</a:t>
            </a:r>
          </a:p>
          <a:p xmlns:a="http://schemas.openxmlformats.org/drawingml/2006/main">
            <a:r>
              <a:t>• Return fresh evidence to review</a:t>
            </a:r>
          </a:p>
          <a:p xmlns:a="http://schemas.openxmlformats.org/drawingml/2006/main">
            <a:r>
              <a:t>• Recorded event does not always mean a user crash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86 complete days: 7 July to 30 September</a:t>
            </a:r>
          </a:p>
          <a:p xmlns:a="http://schemas.openxmlformats.org/drawingml/2006/main">
            <a:r>
              <a:t>• Raw daily variation, including September rise</a:t>
            </a:r>
          </a:p>
          <a:p xmlns:a="http://schemas.openxmlformats.org/drawingml/2006/main">
            <a:r>
              <a:t>• All environments; no usage denominator</a:t>
            </a:r>
          </a:p>
          <a:p xmlns:a="http://schemas.openxmlformats.org/drawingml/2006/main">
            <a:r>
              <a:t>• Fixes, filters and sampling affect volume</a:t>
            </a:r>
          </a:p>
          <a:p xmlns:a="http://schemas.openxmlformats.org/drawingml/2006/main">
            <a:r>
              <a:t>• No crash-rate or AI-causality claim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Finally: delivery</a:t>
            </a:r>
          </a:p>
          <a:p xmlns:a="http://schemas.openxmlformats.org/drawingml/2006/main">
            <a:r>
              <a:t>• Small verified changes</a:t>
            </a:r>
          </a:p>
          <a:p xmlns:a="http://schemas.openxmlformats.org/drawingml/2006/main">
            <a:r>
              <a:t>• Feature activation separated from code release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Canary build after every PR</a:t>
            </a:r>
          </a:p>
          <a:p xmlns:a="http://schemas.openxmlformats.org/drawingml/2006/main">
            <a:r>
              <a:t>• Automated nightly beta. iOS TestFlight + Android</a:t>
            </a:r>
          </a:p>
          <a:p xmlns:a="http://schemas.openxmlformats.org/drawingml/2006/main">
            <a:r>
              <a:t>• Separate installs allow before/after comparison</a:t>
            </a:r>
          </a:p>
          <a:p xmlns:a="http://schemas.openxmlformats.org/drawingml/2006/main">
            <a:r>
              <a:t>• Deep links and payment flows need that comparison</a:t>
            </a:r>
          </a:p>
          <a:p xmlns:a="http://schemas.openxmlformats.org/drawingml/2006/main">
            <a:r>
              <a:t>• Skills generate specific TestFlight change notes and testing instructions.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Return to the days-long approval queue</a:t>
            </a:r>
          </a:p>
          <a:p xmlns:a="http://schemas.openxmlformats.org/drawingml/2006/main">
            <a:r>
              <a:t>• Small increments behind feature flags</a:t>
            </a:r>
          </a:p>
          <a:p xmlns:a="http://schemas.openxmlformats.org/drawingml/2006/main">
            <a:r>
              <a:t>• Ship verified code; decide activation separately</a:t>
            </a:r>
          </a:p>
          <a:p xmlns:a="http://schemas.openxmlformats.org/drawingml/2006/main">
            <a:r>
              <a:t>• Check enabled and disabled behaviour</a:t>
            </a:r>
          </a:p>
          <a:p xmlns:a="http://schemas.openxmlformats.org/drawingml/2006/main">
            <a:r>
              <a:t>• Mobile flag needs code in the installed app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September: 188 app/design-system PRs across two repos</a:t>
            </a:r>
          </a:p>
          <a:p xmlns:a="http://schemas.openxmlformats.org/drawingml/2006/main">
            <a:r>
              <a:t>• 77 original repository + 111 monorepo</a:t>
            </a:r>
          </a:p>
          <a:p xmlns:a="http://schemas.openxmlformats.org/drawingml/2006/main">
            <a:r>
              <a:t>• May onward also includes scoped design-system work</a:t>
            </a:r>
          </a:p>
          <a:p xmlns:a="http://schemas.openxmlformats.org/drawingml/2006/main">
            <a:r>
              <a:t>• April joining marker; process changed in May</a:t>
            </a:r>
          </a:p>
          <a:p xmlns:a="http://schemas.openxmlformats.org/drawingml/2006/main">
            <a:r>
              <a:t>• PR activity is not productivity, feature value or lead time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This talk covers the QA and delivery loop</a:t>
            </a:r>
          </a:p>
          <a:p xmlns:a="http://schemas.openxmlformats.org/drawingml/2006/main">
            <a:r>
              <a:t>• Design system: a talk of its own</a:t>
            </a:r>
          </a:p>
          <a:p xmlns:a="http://schemas.openxmlformats.org/drawingml/2006/main">
            <a:r>
              <a:t>• Monorepo migration: another major change</a:t>
            </a:r>
          </a:p>
          <a:p xmlns:a="http://schemas.openxmlformats.org/drawingml/2006/main">
            <a:r>
              <a:t>• Other improvements to how we work and raise quality</a:t>
            </a:r>
          </a:p>
          <a:p xmlns:a="http://schemas.openxmlformats.org/drawingml/2006/main">
            <a:r>
              <a:t>• All alongside onboarding myself to the team, codebase and business.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Lessons to adapt, not a universal five-step recipe</a:t>
            </a:r>
          </a:p>
          <a:p xmlns:a="http://schemas.openxmlformats.org/drawingml/2006/main">
            <a:r>
              <a:t>• Start with your team’s actual bottleneck</a:t>
            </a:r>
          </a:p>
          <a:p xmlns:a="http://schemas.openxmlformats.org/drawingml/2006/main">
            <a:r>
              <a:t>• Clear expectations and meaningful checks matter everywhere</a:t>
            </a:r>
          </a:p>
          <a:p xmlns:a="http://schemas.openxmlformats.org/drawingml/2006/main">
            <a:r>
              <a:t>• Tools, approval boundaries and rollout depend on context</a:t>
            </a:r>
          </a:p>
          <a:p xmlns:a="http://schemas.openxmlformats.org/drawingml/2006/main">
            <a:r>
              <a:t>• Start small. Inspect the outcome. Expand what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Regressions every release. Days of QA and approvals.</a:t>
            </a:r>
          </a:p>
          <a:p xmlns:a="http://schemas.openxmlformats.org/drawingml/2006/main">
            <a:r>
              <a:t>• Skills → tests → CI → device evidence</a:t>
            </a:r>
          </a:p>
          <a:p xmlns:a="http://schemas.openxmlformats.org/drawingml/2006/main">
            <a:r>
              <a:t>• Review → production feedback → delivery</a:t>
            </a:r>
          </a:p>
          <a:p xmlns:a="http://schemas.openxmlformats.org/drawingml/2006/main">
            <a:r>
              <a:t>• Less repetitive QA. More confidence. Faster delivery.</a:t>
            </a:r>
          </a:p>
          <a:p xmlns:a="http://schemas.openxmlformats.org/drawingml/2006/main">
            <a:r>
              <a:t>• Evidence has limits. Human judgement still matters.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2984b2c6fa4a8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2cd40e0246d4372" /><Relationship Type="http://schemas.openxmlformats.org/officeDocument/2006/relationships/slideLayout" Target="/ppt/slideLayouts/slideLayout1.xml" Id="Rd0c38637d6964c6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0c38637d6964c6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b29e2e4b0f49f8" /><Relationship Type="http://schemas.openxmlformats.org/officeDocument/2006/relationships/image" Target="/ppt/media/image.png" Id="R11fbb65654a64376" /><Relationship Type="http://schemas.openxmlformats.org/officeDocument/2006/relationships/image" Target="/ppt/media/image.jpeg" Id="R4eff632efcd04c3f" /><Relationship Type="http://schemas.openxmlformats.org/officeDocument/2006/relationships/notesSlide" Target="/ppt/notesSlides/notesSlide1.xml" Id="R170c472e68d0473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2e8e3ef7834d01" /><Relationship Type="http://schemas.openxmlformats.org/officeDocument/2006/relationships/notesSlide" Target="/ppt/notesSlides/notesSlide2.xml" Id="Ra4a45a428048474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f0d403b7504d84" /><Relationship Type="http://schemas.openxmlformats.org/officeDocument/2006/relationships/notesSlide" Target="/ppt/notesSlides/notesSlide3.xml" Id="Rff6fd4fb8681455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1f4042768942db" /><Relationship Type="http://schemas.openxmlformats.org/officeDocument/2006/relationships/notesSlide" Target="/ppt/notesSlides/notesSlide4.xml" Id="R8ac44f2839474c7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fc9bb575b8486b" /><Relationship Type="http://schemas.openxmlformats.org/officeDocument/2006/relationships/notesSlide" Target="/ppt/notesSlides/notesSlide5.xml" Id="R9e1f5e65fa4d4b4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e842d19edb4e03" /><Relationship Type="http://schemas.openxmlformats.org/officeDocument/2006/relationships/notesSlide" Target="/ppt/notesSlides/notesSlide6.xml" Id="R12d6ac6537cd4f2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a6ce416f9e4e6d" /><Relationship Type="http://schemas.openxmlformats.org/officeDocument/2006/relationships/image" Target="/ppt/media/image2.jpeg" Id="R586e434493a54a14" /><Relationship Type="http://schemas.openxmlformats.org/officeDocument/2006/relationships/notesSlide" Target="/ppt/notesSlides/notesSlide7.xml" Id="Ra3a19e3a5621448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b3505234094bf7" /><Relationship Type="http://schemas.openxmlformats.org/officeDocument/2006/relationships/image" Target="/ppt/media/image2.png" Id="R60d5379dfb594bdc" /><Relationship Type="http://schemas.openxmlformats.org/officeDocument/2006/relationships/image" Target="/ppt/media/image3.png" Id="Rbaa3cfd0c8c9424c" /><Relationship Type="http://schemas.openxmlformats.org/officeDocument/2006/relationships/image" Target="/ppt/media/image4.png" Id="Rd1449189056d4c33" /><Relationship Type="http://schemas.openxmlformats.org/officeDocument/2006/relationships/image" Target="/ppt/media/image5.png" Id="R616a3f12fcd94f4c" /><Relationship Type="http://schemas.openxmlformats.org/officeDocument/2006/relationships/image" Target="/ppt/media/image6.png" Id="Ra2efd9d936b84c31" /><Relationship Type="http://schemas.openxmlformats.org/officeDocument/2006/relationships/image" Target="/ppt/media/image7.png" Id="R41d994cf918b45dd" /><Relationship Type="http://schemas.openxmlformats.org/officeDocument/2006/relationships/notesSlide" Target="/ppt/notesSlides/notesSlide8.xml" Id="R9f98731b1bd349d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3051c57a734599" /><Relationship Type="http://schemas.openxmlformats.org/officeDocument/2006/relationships/notesSlide" Target="/ppt/notesSlides/notesSlide9.xml" Id="R21c4b8177413469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775017227942ff" /><Relationship Type="http://schemas.openxmlformats.org/officeDocument/2006/relationships/notesSlide" Target="/ppt/notesSlides/notesSlide10.xml" Id="Rb99ebc7eec6d4dc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d7bbcbf701446d" /><Relationship Type="http://schemas.openxmlformats.org/officeDocument/2006/relationships/image" Target="/ppt/media/image8.png" Id="R564ee36cee62472c" /><Relationship Type="http://schemas.openxmlformats.org/officeDocument/2006/relationships/image" Target="/ppt/media/image9.png" Id="Rb9d150959bbc46f6" /><Relationship Type="http://schemas.openxmlformats.org/officeDocument/2006/relationships/image" Target="/ppt/media/image10.png" Id="Ra4b0f415c36d42e5" /><Relationship Type="http://schemas.openxmlformats.org/officeDocument/2006/relationships/image" Target="/ppt/media/image11.png" Id="R64df57f567b34082" /><Relationship Type="http://schemas.openxmlformats.org/officeDocument/2006/relationships/image" Target="/ppt/media/image12.png" Id="R6a9fa6996bdd46bb" /><Relationship Type="http://schemas.openxmlformats.org/officeDocument/2006/relationships/notesSlide" Target="/ppt/notesSlides/notesSlide11.xml" Id="R7f6cc267ed1d452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6d434dbd194876" /><Relationship Type="http://schemas.openxmlformats.org/officeDocument/2006/relationships/notesSlide" Target="/ppt/notesSlides/notesSlide12.xml" Id="R2d64fdf1e402433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7feeed529a4a0e" /><Relationship Type="http://schemas.openxmlformats.org/officeDocument/2006/relationships/chart" Target="/ppt/slides/charts/chart1.xml" Id="R90e66843db9e43b4" /><Relationship Type="http://schemas.openxmlformats.org/officeDocument/2006/relationships/notesSlide" Target="/ppt/notesSlides/notesSlide13.xml" Id="R54ab26d012484d7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f61b5abe4f4b6a" /><Relationship Type="http://schemas.openxmlformats.org/officeDocument/2006/relationships/image" Target="/ppt/media/image13.png" Id="R92c8ce00253044a0" /><Relationship Type="http://schemas.openxmlformats.org/officeDocument/2006/relationships/image" Target="/ppt/media/image14.png" Id="R43d4c8dd01994996" /><Relationship Type="http://schemas.openxmlformats.org/officeDocument/2006/relationships/image" Target="/ppt/media/image15.png" Id="Ra4c6cb94ec6e4392" /><Relationship Type="http://schemas.openxmlformats.org/officeDocument/2006/relationships/image" Target="/ppt/media/image16.png" Id="Recd67ba14a504214" /><Relationship Type="http://schemas.openxmlformats.org/officeDocument/2006/relationships/notesSlide" Target="/ppt/notesSlides/notesSlide14.xml" Id="R038b293ea5d74fd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b76c48746d40bb" /><Relationship Type="http://schemas.openxmlformats.org/officeDocument/2006/relationships/notesSlide" Target="/ppt/notesSlides/notesSlide15.xml" Id="Re3e11c4e2db546e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af13e6852e4043" /><Relationship Type="http://schemas.openxmlformats.org/officeDocument/2006/relationships/notesSlide" Target="/ppt/notesSlides/notesSlide16.xml" Id="Ra714dfd267cf438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94d85a70674578" /><Relationship Type="http://schemas.openxmlformats.org/officeDocument/2006/relationships/image" Target="/ppt/media/image17.png" Id="R73d39291516449d9" /><Relationship Type="http://schemas.openxmlformats.org/officeDocument/2006/relationships/image" Target="/ppt/media/image18.png" Id="Rb7c7c8b92cf3467a" /><Relationship Type="http://schemas.openxmlformats.org/officeDocument/2006/relationships/image" Target="/ppt/media/image19.png" Id="Rc5911d3e9fbf41b0" /><Relationship Type="http://schemas.openxmlformats.org/officeDocument/2006/relationships/notesSlide" Target="/ppt/notesSlides/notesSlide17.xml" Id="Rc8b80cc67fa6449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479fb451cb4ddc" /><Relationship Type="http://schemas.openxmlformats.org/officeDocument/2006/relationships/notesSlide" Target="/ppt/notesSlides/notesSlide18.xml" Id="R9c84f4d8a1a741a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9d3ac24d0a4550" /><Relationship Type="http://schemas.openxmlformats.org/officeDocument/2006/relationships/chart" Target="/ppt/slides/charts/chart2.xml" Id="R5cdc627162974a47" /><Relationship Type="http://schemas.openxmlformats.org/officeDocument/2006/relationships/notesSlide" Target="/ppt/notesSlides/notesSlide19.xml" Id="R8e8acfc7455b453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0455497ec44e70" /><Relationship Type="http://schemas.openxmlformats.org/officeDocument/2006/relationships/image" Target="/ppt/media/image20.png" Id="Rec29b75b2d974eef" /><Relationship Type="http://schemas.openxmlformats.org/officeDocument/2006/relationships/image" Target="/ppt/media/image21.png" Id="R8e6610ddb0774a33" /><Relationship Type="http://schemas.openxmlformats.org/officeDocument/2006/relationships/notesSlide" Target="/ppt/notesSlides/notesSlide20.xml" Id="Rad47c09db04a410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826f5739d24f50" /><Relationship Type="http://schemas.openxmlformats.org/officeDocument/2006/relationships/notesSlide" Target="/ppt/notesSlides/notesSlide21.xml" Id="R77f268b870d143a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e19b4346b34fe8" /><Relationship Type="http://schemas.openxmlformats.org/officeDocument/2006/relationships/notesSlide" Target="/ppt/notesSlides/notesSlide22.xml" Id="R9fe236f78aee4b9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8844d33f794665" /><Relationship Type="http://schemas.openxmlformats.org/officeDocument/2006/relationships/image" Target="/ppt/media/image22.png" Id="Rdecf9eb2b8d6498e" /><Relationship Type="http://schemas.openxmlformats.org/officeDocument/2006/relationships/notesSlide" Target="/ppt/notesSlides/notesSlide23.xml" Id="Re07d04a6b68f4dd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ab232bf36d4789" /><Relationship Type="http://schemas.openxmlformats.org/officeDocument/2006/relationships/notesSlide" Target="/ppt/notesSlides/notesSlide24.xml" Id="R5b8da9e7304441a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08a3b39a014989" /><Relationship Type="http://schemas.openxmlformats.org/officeDocument/2006/relationships/chart" Target="/ppt/slides/charts/chart3.xml" Id="Ra2567e7617c84cb3" /><Relationship Type="http://schemas.openxmlformats.org/officeDocument/2006/relationships/notesSlide" Target="/ppt/notesSlides/notesSlide25.xml" Id="Ref8cca11774a43eb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a2fa2190c64027" /><Relationship Type="http://schemas.openxmlformats.org/officeDocument/2006/relationships/notesSlide" Target="/ppt/notesSlides/notesSlide26.xml" Id="R51cb7d39808b44ec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7e046ac0234917" /><Relationship Type="http://schemas.openxmlformats.org/officeDocument/2006/relationships/notesSlide" Target="/ppt/notesSlides/notesSlide27.xml" Id="Rbfe4cfab2e664b1b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f1ac8cc1f24601" /><Relationship Type="http://schemas.openxmlformats.org/officeDocument/2006/relationships/notesSlide" Target="/ppt/notesSlides/notesSlide28.xml" Id="Rf505fcbad2914883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843a29d5c84791" /><Relationship Type="http://schemas.openxmlformats.org/officeDocument/2006/relationships/chart" Target="/ppt/slides/charts/chart4.xml" Id="R4234f1675b444451" /><Relationship Type="http://schemas.openxmlformats.org/officeDocument/2006/relationships/notesSlide" Target="/ppt/notesSlides/notesSlide29.xml" Id="R86baf9ad6f364694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222fd3810148da" /><Relationship Type="http://schemas.openxmlformats.org/officeDocument/2006/relationships/notesSlide" Target="/ppt/notesSlides/notesSlide30.xml" Id="Rfd7179593a3c4ffa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da710b8f644183" /><Relationship Type="http://schemas.openxmlformats.org/officeDocument/2006/relationships/notesSlide" Target="/ppt/notesSlides/notesSlide31.xml" Id="R45af9a4a0d1d4a22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9384481b1840ef" /><Relationship Type="http://schemas.openxmlformats.org/officeDocument/2006/relationships/notesSlide" Target="/ppt/notesSlides/notesSlide32.xml" Id="R30faa9e4e41c4d64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Unit-test files</c:v>
          </c:tx>
          <c:spPr>
            <a:solidFill xmlns:a="http://schemas.openxmlformats.org/drawingml/2006/main">
              <a:srgbClr val="00786F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7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8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cat>
            <c:strRef>
              <c:f>'Chart Data'!$A$2:$A$10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'Chart Data'!$B$2:$B$10</c:f>
              <c:numCache>
                <c:formatCode>#,##0</c:formatCode>
                <c:ptCount val="9"/>
                <c:pt idx="0">
                  <c:v>93</c:v>
                </c:pt>
                <c:pt idx="1">
                  <c:v>95</c:v>
                </c:pt>
                <c:pt idx="2">
                  <c:v>98</c:v>
                </c:pt>
                <c:pt idx="3">
                  <c:v>113</c:v>
                </c:pt>
                <c:pt idx="4">
                  <c:v>164</c:v>
                </c:pt>
                <c:pt idx="5">
                  <c:v>250</c:v>
                </c:pt>
                <c:pt idx="6">
                  <c:v>395</c:v>
                </c:pt>
                <c:pt idx="7">
                  <c:v>1040</c:v>
                </c:pt>
                <c:pt idx="8">
                  <c:v>1669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1">
                  <a:solidFill>
                    <a:srgbClr val="15181B"/>
                  </a:solidFill>
                  <a:latin typeface="Satoshi Variable"/>
                  <a:ea typeface="Satoshi Variable"/>
                  <a:cs typeface="Satoshi Variabl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6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CD0C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72768"/>
      </c:catAx>
      <c:valAx>
        <c:axId val="48672768"/>
        <c:scaling>
          <c:orientation val="minMax"/>
          <c:max val="18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CD0CB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50112"/>
        <c:crossBetween val="between"/>
        <c:majorUnit val="600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Maestro YAML files</c:v>
          </c:tx>
          <c:spPr>
            <a:solidFill xmlns:a="http://schemas.openxmlformats.org/drawingml/2006/main">
              <a:srgbClr val="00786F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7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8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cat>
            <c:strRef>
              <c:f>'Chart Data'!$A$2:$A$10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'Chart Data'!$B$2:$B$10</c:f>
              <c:numCache>
                <c:formatCode>#,##0</c:formatCode>
                <c:ptCount val="9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14</c:v>
                </c:pt>
                <c:pt idx="4">
                  <c:v>129</c:v>
                </c:pt>
                <c:pt idx="5">
                  <c:v>135</c:v>
                </c:pt>
                <c:pt idx="6">
                  <c:v>136</c:v>
                </c:pt>
                <c:pt idx="7">
                  <c:v>147</c:v>
                </c:pt>
                <c:pt idx="8">
                  <c:v>225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1">
                  <a:solidFill>
                    <a:srgbClr val="15181B"/>
                  </a:solidFill>
                  <a:latin typeface="Satoshi Variable"/>
                  <a:ea typeface="Satoshi Variable"/>
                  <a:cs typeface="Satoshi Variabl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6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CD0C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72768"/>
      </c:catAx>
      <c:valAx>
        <c:axId val="48672768"/>
        <c:scaling>
          <c:orientation val="minMax"/>
          <c:max val="25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CD0CB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50112"/>
        <c:crossBetween val="between"/>
        <c:majorUnit val="50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Recorded events per day</c:v>
          </c:tx>
          <c:spPr>
            <a:solidFill xmlns:a="http://schemas.openxmlformats.org/drawingml/2006/main">
              <a:srgbClr val="00786F"/>
            </a:solidFill>
            <a:ln xmlns:a="http://schemas.openxmlformats.org/drawingml/2006/main" w="28575">
              <a:solidFill>
                <a:srgbClr val="00786F"/>
              </a:solidFill>
              <a:prstDash val="solid"/>
            </a:ln>
          </c:spPr>
          <c:marker>
            <c:symbol val="none"/>
          </c:marker>
          <c:xVal>
            <c:numRef>
              <c:f>'Chart Data'!$A$2:$A$87</c:f>
              <c:numCache>
                <c:formatCode>d mmm</c:formatCode>
                <c:ptCount val="86"/>
                <c:pt idx="0">
                  <c:v>46210</c:v>
                </c:pt>
                <c:pt idx="1">
                  <c:v>46211</c:v>
                </c:pt>
                <c:pt idx="2">
                  <c:v>46212</c:v>
                </c:pt>
                <c:pt idx="3">
                  <c:v>46213</c:v>
                </c:pt>
                <c:pt idx="4">
                  <c:v>46214</c:v>
                </c:pt>
                <c:pt idx="5">
                  <c:v>46215</c:v>
                </c:pt>
                <c:pt idx="6">
                  <c:v>46216</c:v>
                </c:pt>
                <c:pt idx="7">
                  <c:v>46217</c:v>
                </c:pt>
                <c:pt idx="8">
                  <c:v>46218</c:v>
                </c:pt>
                <c:pt idx="9">
                  <c:v>46219</c:v>
                </c:pt>
                <c:pt idx="10">
                  <c:v>46220</c:v>
                </c:pt>
                <c:pt idx="11">
                  <c:v>46221</c:v>
                </c:pt>
                <c:pt idx="12">
                  <c:v>46222</c:v>
                </c:pt>
                <c:pt idx="13">
                  <c:v>46223</c:v>
                </c:pt>
                <c:pt idx="14">
                  <c:v>46224</c:v>
                </c:pt>
                <c:pt idx="15">
                  <c:v>46225</c:v>
                </c:pt>
                <c:pt idx="16">
                  <c:v>46226</c:v>
                </c:pt>
                <c:pt idx="17">
                  <c:v>46227</c:v>
                </c:pt>
                <c:pt idx="18">
                  <c:v>46228</c:v>
                </c:pt>
                <c:pt idx="19">
                  <c:v>46229</c:v>
                </c:pt>
                <c:pt idx="20">
                  <c:v>46230</c:v>
                </c:pt>
                <c:pt idx="21">
                  <c:v>46231</c:v>
                </c:pt>
                <c:pt idx="22">
                  <c:v>46232</c:v>
                </c:pt>
                <c:pt idx="23">
                  <c:v>46233</c:v>
                </c:pt>
                <c:pt idx="24">
                  <c:v>46234</c:v>
                </c:pt>
                <c:pt idx="25">
                  <c:v>46235</c:v>
                </c:pt>
                <c:pt idx="26">
                  <c:v>46236</c:v>
                </c:pt>
                <c:pt idx="27">
                  <c:v>46237</c:v>
                </c:pt>
                <c:pt idx="28">
                  <c:v>46238</c:v>
                </c:pt>
                <c:pt idx="29">
                  <c:v>46239</c:v>
                </c:pt>
                <c:pt idx="30">
                  <c:v>46240</c:v>
                </c:pt>
                <c:pt idx="31">
                  <c:v>46241</c:v>
                </c:pt>
                <c:pt idx="32">
                  <c:v>46242</c:v>
                </c:pt>
                <c:pt idx="33">
                  <c:v>46243</c:v>
                </c:pt>
                <c:pt idx="34">
                  <c:v>46244</c:v>
                </c:pt>
                <c:pt idx="35">
                  <c:v>46245</c:v>
                </c:pt>
                <c:pt idx="36">
                  <c:v>46246</c:v>
                </c:pt>
                <c:pt idx="37">
                  <c:v>46247</c:v>
                </c:pt>
                <c:pt idx="38">
                  <c:v>46248</c:v>
                </c:pt>
                <c:pt idx="39">
                  <c:v>46249</c:v>
                </c:pt>
                <c:pt idx="40">
                  <c:v>46250</c:v>
                </c:pt>
                <c:pt idx="41">
                  <c:v>46251</c:v>
                </c:pt>
                <c:pt idx="42">
                  <c:v>46252</c:v>
                </c:pt>
                <c:pt idx="43">
                  <c:v>46253</c:v>
                </c:pt>
                <c:pt idx="44">
                  <c:v>46254</c:v>
                </c:pt>
                <c:pt idx="45">
                  <c:v>46255</c:v>
                </c:pt>
                <c:pt idx="46">
                  <c:v>46256</c:v>
                </c:pt>
                <c:pt idx="47">
                  <c:v>46257</c:v>
                </c:pt>
                <c:pt idx="48">
                  <c:v>46258</c:v>
                </c:pt>
                <c:pt idx="49">
                  <c:v>46259</c:v>
                </c:pt>
                <c:pt idx="50">
                  <c:v>46260</c:v>
                </c:pt>
                <c:pt idx="51">
                  <c:v>46261</c:v>
                </c:pt>
                <c:pt idx="52">
                  <c:v>46262</c:v>
                </c:pt>
                <c:pt idx="53">
                  <c:v>46263</c:v>
                </c:pt>
                <c:pt idx="54">
                  <c:v>46264</c:v>
                </c:pt>
                <c:pt idx="55">
                  <c:v>46265</c:v>
                </c:pt>
                <c:pt idx="56">
                  <c:v>46266</c:v>
                </c:pt>
                <c:pt idx="57">
                  <c:v>46267</c:v>
                </c:pt>
                <c:pt idx="58">
                  <c:v>46268</c:v>
                </c:pt>
                <c:pt idx="59">
                  <c:v>46269</c:v>
                </c:pt>
                <c:pt idx="60">
                  <c:v>46270</c:v>
                </c:pt>
                <c:pt idx="61">
                  <c:v>46271</c:v>
                </c:pt>
                <c:pt idx="62">
                  <c:v>46272</c:v>
                </c:pt>
                <c:pt idx="63">
                  <c:v>46273</c:v>
                </c:pt>
                <c:pt idx="64">
                  <c:v>46274</c:v>
                </c:pt>
                <c:pt idx="65">
                  <c:v>46275</c:v>
                </c:pt>
                <c:pt idx="66">
                  <c:v>46276</c:v>
                </c:pt>
                <c:pt idx="67">
                  <c:v>46277</c:v>
                </c:pt>
                <c:pt idx="68">
                  <c:v>46278</c:v>
                </c:pt>
                <c:pt idx="69">
                  <c:v>46279</c:v>
                </c:pt>
                <c:pt idx="70">
                  <c:v>46280</c:v>
                </c:pt>
                <c:pt idx="71">
                  <c:v>46281</c:v>
                </c:pt>
                <c:pt idx="72">
                  <c:v>46282</c:v>
                </c:pt>
                <c:pt idx="73">
                  <c:v>46283</c:v>
                </c:pt>
                <c:pt idx="74">
                  <c:v>46284</c:v>
                </c:pt>
                <c:pt idx="75">
                  <c:v>46285</c:v>
                </c:pt>
                <c:pt idx="76">
                  <c:v>46286</c:v>
                </c:pt>
                <c:pt idx="77">
                  <c:v>46287</c:v>
                </c:pt>
                <c:pt idx="78">
                  <c:v>46288</c:v>
                </c:pt>
                <c:pt idx="79">
                  <c:v>46289</c:v>
                </c:pt>
                <c:pt idx="80">
                  <c:v>46290</c:v>
                </c:pt>
                <c:pt idx="81">
                  <c:v>46291</c:v>
                </c:pt>
                <c:pt idx="82">
                  <c:v>46292</c:v>
                </c:pt>
                <c:pt idx="83">
                  <c:v>46293</c:v>
                </c:pt>
                <c:pt idx="84">
                  <c:v>46294</c:v>
                </c:pt>
                <c:pt idx="85">
                  <c:v>46295</c:v>
                </c:pt>
              </c:numCache>
            </c:numRef>
          </c:xVal>
          <c:yVal>
            <c:numRef>
              <c:f>'Chart Data'!$B$2:$B$87</c:f>
              <c:numCache>
                <c:formatCode>#,##0</c:formatCode>
                <c:ptCount val="86"/>
                <c:pt idx="0">
                  <c:v>24012</c:v>
                </c:pt>
                <c:pt idx="1">
                  <c:v>20186</c:v>
                </c:pt>
                <c:pt idx="2">
                  <c:v>18996</c:v>
                </c:pt>
                <c:pt idx="3">
                  <c:v>19756</c:v>
                </c:pt>
                <c:pt idx="4">
                  <c:v>23024</c:v>
                </c:pt>
                <c:pt idx="5">
                  <c:v>23245</c:v>
                </c:pt>
                <c:pt idx="6">
                  <c:v>16295</c:v>
                </c:pt>
                <c:pt idx="7">
                  <c:v>15949</c:v>
                </c:pt>
                <c:pt idx="8">
                  <c:v>16897</c:v>
                </c:pt>
                <c:pt idx="9">
                  <c:v>15846</c:v>
                </c:pt>
                <c:pt idx="10">
                  <c:v>17738</c:v>
                </c:pt>
                <c:pt idx="11">
                  <c:v>16197</c:v>
                </c:pt>
                <c:pt idx="12">
                  <c:v>17393</c:v>
                </c:pt>
                <c:pt idx="13">
                  <c:v>10078</c:v>
                </c:pt>
                <c:pt idx="14">
                  <c:v>7617</c:v>
                </c:pt>
                <c:pt idx="15">
                  <c:v>9141</c:v>
                </c:pt>
                <c:pt idx="16">
                  <c:v>6265</c:v>
                </c:pt>
                <c:pt idx="17">
                  <c:v>9794</c:v>
                </c:pt>
                <c:pt idx="18">
                  <c:v>8768</c:v>
                </c:pt>
                <c:pt idx="19">
                  <c:v>10718</c:v>
                </c:pt>
                <c:pt idx="20">
                  <c:v>8498</c:v>
                </c:pt>
                <c:pt idx="21">
                  <c:v>8371</c:v>
                </c:pt>
                <c:pt idx="22">
                  <c:v>5913</c:v>
                </c:pt>
                <c:pt idx="23">
                  <c:v>5496</c:v>
                </c:pt>
                <c:pt idx="24">
                  <c:v>5007</c:v>
                </c:pt>
                <c:pt idx="25">
                  <c:v>4590</c:v>
                </c:pt>
                <c:pt idx="26">
                  <c:v>5165</c:v>
                </c:pt>
                <c:pt idx="27">
                  <c:v>4218</c:v>
                </c:pt>
                <c:pt idx="28">
                  <c:v>4651</c:v>
                </c:pt>
                <c:pt idx="29">
                  <c:v>4593</c:v>
                </c:pt>
                <c:pt idx="30">
                  <c:v>4182</c:v>
                </c:pt>
                <c:pt idx="31">
                  <c:v>3842</c:v>
                </c:pt>
                <c:pt idx="32">
                  <c:v>4780</c:v>
                </c:pt>
                <c:pt idx="33">
                  <c:v>4634</c:v>
                </c:pt>
                <c:pt idx="34">
                  <c:v>4177</c:v>
                </c:pt>
                <c:pt idx="35">
                  <c:v>3653</c:v>
                </c:pt>
                <c:pt idx="36">
                  <c:v>4288</c:v>
                </c:pt>
                <c:pt idx="37">
                  <c:v>4385</c:v>
                </c:pt>
                <c:pt idx="38">
                  <c:v>5033</c:v>
                </c:pt>
                <c:pt idx="39">
                  <c:v>5656</c:v>
                </c:pt>
                <c:pt idx="40">
                  <c:v>4126</c:v>
                </c:pt>
                <c:pt idx="41">
                  <c:v>3445</c:v>
                </c:pt>
                <c:pt idx="42">
                  <c:v>4120</c:v>
                </c:pt>
                <c:pt idx="43">
                  <c:v>4262</c:v>
                </c:pt>
                <c:pt idx="44">
                  <c:v>4618</c:v>
                </c:pt>
                <c:pt idx="45">
                  <c:v>5010</c:v>
                </c:pt>
                <c:pt idx="46">
                  <c:v>4141</c:v>
                </c:pt>
                <c:pt idx="47">
                  <c:v>5675</c:v>
                </c:pt>
                <c:pt idx="48">
                  <c:v>3831</c:v>
                </c:pt>
                <c:pt idx="49">
                  <c:v>4252</c:v>
                </c:pt>
                <c:pt idx="50">
                  <c:v>4041</c:v>
                </c:pt>
                <c:pt idx="51">
                  <c:v>5122</c:v>
                </c:pt>
                <c:pt idx="52">
                  <c:v>4364</c:v>
                </c:pt>
                <c:pt idx="53">
                  <c:v>5519</c:v>
                </c:pt>
                <c:pt idx="54">
                  <c:v>4933</c:v>
                </c:pt>
                <c:pt idx="55">
                  <c:v>4120</c:v>
                </c:pt>
                <c:pt idx="56">
                  <c:v>5575</c:v>
                </c:pt>
                <c:pt idx="57">
                  <c:v>2856</c:v>
                </c:pt>
                <c:pt idx="58">
                  <c:v>3542</c:v>
                </c:pt>
                <c:pt idx="59">
                  <c:v>4435</c:v>
                </c:pt>
                <c:pt idx="60">
                  <c:v>3839</c:v>
                </c:pt>
                <c:pt idx="61">
                  <c:v>4728</c:v>
                </c:pt>
                <c:pt idx="62">
                  <c:v>3747</c:v>
                </c:pt>
                <c:pt idx="63">
                  <c:v>4707</c:v>
                </c:pt>
                <c:pt idx="64">
                  <c:v>4024</c:v>
                </c:pt>
                <c:pt idx="65">
                  <c:v>3937</c:v>
                </c:pt>
                <c:pt idx="66">
                  <c:v>5324</c:v>
                </c:pt>
                <c:pt idx="67">
                  <c:v>5981</c:v>
                </c:pt>
                <c:pt idx="68">
                  <c:v>6254</c:v>
                </c:pt>
                <c:pt idx="69">
                  <c:v>6468</c:v>
                </c:pt>
                <c:pt idx="70">
                  <c:v>6111</c:v>
                </c:pt>
                <c:pt idx="71">
                  <c:v>5340</c:v>
                </c:pt>
                <c:pt idx="72">
                  <c:v>4087</c:v>
                </c:pt>
                <c:pt idx="73">
                  <c:v>7077</c:v>
                </c:pt>
                <c:pt idx="74">
                  <c:v>5791</c:v>
                </c:pt>
                <c:pt idx="75">
                  <c:v>8333</c:v>
                </c:pt>
                <c:pt idx="76">
                  <c:v>4433</c:v>
                </c:pt>
                <c:pt idx="77">
                  <c:v>8013</c:v>
                </c:pt>
                <c:pt idx="78">
                  <c:v>4019</c:v>
                </c:pt>
                <c:pt idx="79">
                  <c:v>4336</c:v>
                </c:pt>
                <c:pt idx="80">
                  <c:v>5115</c:v>
                </c:pt>
                <c:pt idx="81">
                  <c:v>5466</c:v>
                </c:pt>
                <c:pt idx="82">
                  <c:v>5764</c:v>
                </c:pt>
                <c:pt idx="83">
                  <c:v>5162</c:v>
                </c:pt>
                <c:pt idx="84">
                  <c:v>4156</c:v>
                </c:pt>
                <c:pt idx="85">
                  <c:v>4189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1">
                  <a:solidFill>
                    <a:srgbClr val="15181B"/>
                  </a:solidFill>
                  <a:latin typeface="Satoshi Variable"/>
                  <a:ea typeface="Satoshi Variable"/>
                  <a:cs typeface="Satoshi Variabl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5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CD0CB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50112"/>
        <c:majorUnit val="5000"/>
      </c:valAx>
      <c:valAx>
        <c:axId val="48650112"/>
        <c:scaling>
          <c:orientation val="minMax"/>
          <c:max val="46295"/>
          <c:min val="46210"/>
        </c:scaling>
        <c:delete val="0"/>
        <c:axPos val="b"/>
        <c:numFmt formatCode="d mmm"/>
        <c:majorTickMark val="none"/>
        <c:minorTickMark val="none"/>
        <c:tickLblPos val="none"/>
        <c:spPr>
          <a:ln xmlns:a="http://schemas.openxmlformats.org/drawingml/2006/main" w="9525">
            <a:solidFill>
              <a:srgbClr val="CCD0C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72768"/>
        <c:majorUnit val="28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Merged mobile PRs</c:v>
          </c:tx>
          <c:spPr>
            <a:solidFill xmlns:a="http://schemas.openxmlformats.org/drawingml/2006/main">
              <a:srgbClr val="00786F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7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8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cat>
            <c:strRef>
              <c:f>'Chart Data'!$A$2:$A$10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'Chart Data'!$B$2:$B$10</c:f>
              <c:numCache>
                <c:formatCode>#,##0</c:formatCode>
                <c:ptCount val="9"/>
                <c:pt idx="0">
                  <c:v>25</c:v>
                </c:pt>
                <c:pt idx="1">
                  <c:v>32</c:v>
                </c:pt>
                <c:pt idx="2">
                  <c:v>46</c:v>
                </c:pt>
                <c:pt idx="3">
                  <c:v>58</c:v>
                </c:pt>
                <c:pt idx="4">
                  <c:v>159</c:v>
                </c:pt>
                <c:pt idx="5">
                  <c:v>222</c:v>
                </c:pt>
                <c:pt idx="6">
                  <c:v>158</c:v>
                </c:pt>
                <c:pt idx="7">
                  <c:v>194</c:v>
                </c:pt>
                <c:pt idx="8">
                  <c:v>188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1">
                  <a:solidFill>
                    <a:srgbClr val="15181B"/>
                  </a:solidFill>
                  <a:latin typeface="Satoshi Variable"/>
                  <a:ea typeface="Satoshi Variable"/>
                  <a:cs typeface="Satoshi Variabl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6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CD0C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72768"/>
      </c:catAx>
      <c:valAx>
        <c:axId val="48672768"/>
        <c:scaling>
          <c:orientation val="minMax"/>
          <c:max val="25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CD0CB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50112"/>
        <c:crossBetween val="between"/>
        <c:majorUnit val="50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fbb65654a64376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Deck title">
            <a:extLst xmlns:a="http://schemas.openxmlformats.org/drawingml/2006/main">
              <a:ext uri="{FF2B5EF4-FFF2-40B4-BE49-F238E27FC236}">
                <a16:creationId xmlns:a16="http://schemas.microsoft.com/office/drawing/2014/main" id="{8E6C1C23-D214-40E4-A62F-BAC0B2A74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57250"/>
            <a:ext cx="10668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Beyond the QA</a:t>
            </a:r>
          </a:p>
          <a:p xmlns:a="http://schemas.openxmlformats.org/drawingml/2006/main">
            <a:pPr algn="l">
              <a:def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Bottleneck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F7183065-8348-4C3A-A5BE-E83CD9880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Building confidence in React Native with AI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ff632efcd04c3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9625" y="5143500"/>
            <a:ext cx="685800" cy="685800"/>
          </a:xfrm>
          <a:prstGeom xmlns:a="http://schemas.openxmlformats.org/drawingml/2006/main" prst="ellipse">
            <a:avLst/>
          </a:prstGeom>
        </p:spPr>
      </p:pic>
      <p:sp>
        <p:nvSpPr>
          <p:cNvPr id="5" name="Speaker">
            <a:extLst xmlns:a="http://schemas.openxmlformats.org/drawingml/2006/main">
              <a:ext uri="{FF2B5EF4-FFF2-40B4-BE49-F238E27FC236}">
                <a16:creationId xmlns:a16="http://schemas.microsoft.com/office/drawing/2014/main" id="{35F2EA53-08BD-4177-ACFB-76DB6862A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143500"/>
            <a:ext cx="9525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4EE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F6F4EE"/>
                </a:solidFill>
                <a:latin typeface="Satoshi Variable"/>
                <a:ea typeface="Satoshi Variable"/>
                <a:cs typeface="Satoshi Variable"/>
              </a:rPr>
              <a:t>John Adib · MrAdib.com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9EB70777-7D0B-46FA-B7B4-E8CC1DB9C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62600"/>
            <a:ext cx="952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9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Engineering Manager at Zapp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5C690C43-1CB0-4384-9C18-E1730635E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6181725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React Native London</a:t>
            </a:r>
          </a:p>
        </p:txBody>
      </p:sp>
    </p:spTree>
    <p:extLst>
      <p:ext uri="{BB962C8B-B14F-4D97-AF65-F5344CB8AC3E}">
        <p14:creationId xmlns:p14="http://schemas.microsoft.com/office/powerpoint/2010/main" val="12726362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8F7347F-2EBA-4ECA-9DF1-0DE97334C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Regressions.</a:t>
            </a:r>
          </a:p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Every release.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15130628-78C1-4CF3-BF88-5E38CF09D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67250"/>
            <a:ext cx="1019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We kept returning to behaviour we had already checked.</a:t>
            </a:r>
          </a:p>
        </p:txBody>
      </p:sp>
      <p:sp>
        <p:nvSpPr>
          <p:cNvPr id="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7E084FD0-45C3-490D-98E0-5025ABF44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4631111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7A3EBD6-2CDB-4B6E-BAE8-9E7D3A1E4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Tests existed.</a:t>
            </a:r>
          </a:p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Nobody ran them.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1874DCAB-2FE8-4F80-8DBD-99A550C12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67250"/>
            <a:ext cx="1019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A small test suite. End-to-end checks outside CI.</a:t>
            </a:r>
          </a:p>
        </p:txBody>
      </p:sp>
      <p:sp>
        <p:nvSpPr>
          <p:cNvPr id="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FFDC9D87-3417-4590-882A-2BD4BC765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77352944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9B1B30B-7CCA-4382-901F-EA8130E3E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More than</a:t>
            </a:r>
          </a:p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three days of QA.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EECF0200-ED33-4C75-AB87-AC7AFF9CC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67250"/>
            <a:ext cx="1019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Engineering, product and UX/design.</a:t>
            </a:r>
          </a:p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Many people paused their own work.</a:t>
            </a:r>
          </a:p>
        </p:txBody>
      </p:sp>
      <p:sp>
        <p:nvSpPr>
          <p:cNvPr id="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34799F64-4739-4809-980A-B1DFC3662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64145324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881AD34-EBAF-4F7C-A9B2-3B2C395C0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Every release waited</a:t>
            </a:r>
          </a:p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days for approval.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EE1E06AF-D30B-46D8-A6D2-325DB2718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67250"/>
            <a:ext cx="1019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A chain of sign-offs held up the whole release.</a:t>
            </a:r>
          </a:p>
        </p:txBody>
      </p:sp>
      <p:sp>
        <p:nvSpPr>
          <p:cNvPr id="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1837BC1C-56CE-4D4E-A3A2-7835BD892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1840796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0EF91FA-0984-46C6-A9A3-5236D7DBC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Projects postponed</a:t>
            </a:r>
          </a:p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by over a quarter.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54AEDEB5-43D2-472E-A94E-3C43014FF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67250"/>
            <a:ext cx="1019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All the existing projects had slipped by more than a quarter.</a:t>
            </a:r>
          </a:p>
        </p:txBody>
      </p:sp>
      <p:sp>
        <p:nvSpPr>
          <p:cNvPr id="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D09C8F64-A73B-4150-99E4-E216A2BF2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6800719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6e434493a54a1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76850" y="609600"/>
            <a:ext cx="1638300" cy="1638300"/>
          </a:xfrm>
          <a:prstGeom xmlns:a="http://schemas.openxmlformats.org/drawingml/2006/main" prst="ellipse">
            <a:avLst/>
          </a:prstGeom>
        </p:spPr>
      </p:pic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FD13C49-3D25-420B-9F07-19CC8C47A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193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4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64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John Adib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E82110B-32E9-40B6-83C3-28BDD3C37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3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33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The story of an EM in the era of AI</a:t>
            </a:r>
          </a:p>
        </p:txBody>
      </p:sp>
      <p:sp>
        <p:nvSpPr>
          <p:cNvPr id="4" name="Credentials">
            <a:extLst xmlns:a="http://schemas.openxmlformats.org/drawingml/2006/main">
              <a:ext uri="{FF2B5EF4-FFF2-40B4-BE49-F238E27FC236}">
                <a16:creationId xmlns:a16="http://schemas.microsoft.com/office/drawing/2014/main" id="{78B64D60-0D7B-4587-8C47-FCC5E1AF2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672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2× co-founder. Former CTO. Engineering leader and mentor.</a:t>
            </a:r>
          </a:p>
        </p:txBody>
      </p:sp>
      <p:sp>
        <p:nvSpPr>
          <p:cNvPr id="5" name="Experience">
            <a:extLst xmlns:a="http://schemas.openxmlformats.org/drawingml/2006/main">
              <a:ext uri="{FF2B5EF4-FFF2-40B4-BE49-F238E27FC236}">
                <a16:creationId xmlns:a16="http://schemas.microsoft.com/office/drawing/2014/main" id="{B100D47E-30A2-4B93-9048-C09A077E1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76775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18 years building and improving systems. I love moving mountains.</a:t>
            </a:r>
          </a:p>
        </p:txBody>
      </p:sp>
      <p:sp>
        <p:nvSpPr>
          <p:cNvPr id="6" name="Website">
            <a:extLst xmlns:a="http://schemas.openxmlformats.org/drawingml/2006/main">
              <a:ext uri="{FF2B5EF4-FFF2-40B4-BE49-F238E27FC236}">
                <a16:creationId xmlns:a16="http://schemas.microsoft.com/office/drawing/2014/main" id="{0A795F41-F790-4968-BAB6-B5CFA3209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81625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MrAdib.com</a:t>
            </a:r>
          </a:p>
        </p:txBody>
      </p:sp>
      <p:sp>
        <p:nvSpPr>
          <p:cNvPr id="7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423F2320-46FF-454C-AAA7-29BAEC06C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96518864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34574421-8327-4D03-9ED3-2982045E8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57200"/>
            <a:ext cx="914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3450" b="0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1EFA5945-B639-4FB8-B560-302724BD3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981075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d5379dfb594bdc"/>
          <a:stretch xmlns:a="http://schemas.openxmlformats.org/drawingml/2006/main"/>
        </p:blipFill>
        <p:spPr>
          <a:xfrm xmlns:a="http://schemas.openxmlformats.org/drawingml/2006/main">
            <a:off x="1333500" y="1295400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a3cfd0c8c9424c"/>
          <a:stretch xmlns:a="http://schemas.openxmlformats.org/drawingml/2006/main"/>
        </p:blipFill>
        <p:spPr>
          <a:xfrm xmlns:a="http://schemas.openxmlformats.org/drawingml/2006/main">
            <a:off x="1333500" y="2076450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449189056d4c33"/>
          <a:stretch xmlns:a="http://schemas.openxmlformats.org/drawingml/2006/main"/>
        </p:blipFill>
        <p:spPr>
          <a:xfrm xmlns:a="http://schemas.openxmlformats.org/drawingml/2006/main">
            <a:off x="1333500" y="2857500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6a3f12fcd94f4c"/>
          <a:stretch xmlns:a="http://schemas.openxmlformats.org/drawingml/2006/main"/>
        </p:blipFill>
        <p:spPr>
          <a:xfrm xmlns:a="http://schemas.openxmlformats.org/drawingml/2006/main">
            <a:off x="1333500" y="3638550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efd9d936b84c31"/>
          <a:stretch xmlns:a="http://schemas.openxmlformats.org/drawingml/2006/main"/>
        </p:blipFill>
        <p:spPr>
          <a:xfrm xmlns:a="http://schemas.openxmlformats.org/drawingml/2006/main">
            <a:off x="1333500" y="4419600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d994cf918b45dd"/>
          <a:stretch xmlns:a="http://schemas.openxmlformats.org/drawingml/2006/main"/>
        </p:blipFill>
        <p:spPr>
          <a:xfrm xmlns:a="http://schemas.openxmlformats.org/drawingml/2006/main">
            <a:off x="1333500" y="5200650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B675EA72-8DB0-4D12-9F71-CF27336D8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59752411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itle">
            <a:extLst xmlns:a="http://schemas.openxmlformats.org/drawingml/2006/main">
              <a:ext uri="{FF2B5EF4-FFF2-40B4-BE49-F238E27FC236}">
                <a16:creationId xmlns:a16="http://schemas.microsoft.com/office/drawing/2014/main" id="{2C6A9527-FCF4-4387-9BA7-59CE7463F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Eight skills. One development loop.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A83D6ADF-ADCD-4AB1-8BE5-CB9D28A38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Each skill has a responsibility and an output.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4ABF9F20-657B-4430-B9DC-9D5435AC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812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cook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12788574-B8A0-429C-B1F1-FF1DC1DC8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03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Coordinates the task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AC977ACE-98E7-46D1-949B-A38F78BA8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812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sherlock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550EE34D-E3E4-42CA-BA35-41930EC8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8003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Discovers the repository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6673C8CB-FE0D-4BD0-B7E2-653807BF9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956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dig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2B872F40-4AB8-470A-8A8C-55D0B2C73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Researches the behaviour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4CF3889F-58DF-4496-A921-150215D5B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956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mastermind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D7F86EB8-6B38-4BD7-AAEE-FB277A7E3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147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Plans for approval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18E4B122-082F-4576-B5DA-92B0B916D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100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michelin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2B167CDD-97F8-4D40-8209-60DC3BBE2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291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Implements and verifies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5F63B313-5A37-427A-B41B-CFA1254E7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mugshot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2AA5752B-D82D-40F8-9BC0-F50E59499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291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Captures device evidence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1E9CB0F5-21D6-437A-B28C-B6214FE27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244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parole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E98E29B3-B694-4BE5-9655-4C9AF5E44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Evaluates review feedback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7FA1420A-EF62-46E5-AFD2-972053397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244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saul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606B7A48-3B96-44D4-9A91-798678039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5435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Communicates the result</a:t>
            </a:r>
          </a:p>
        </p:txBody>
      </p:sp>
      <p:sp>
        <p:nvSpPr>
          <p:cNvPr id="1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DB7D3251-4A9C-49EB-A3B0-0C31BE543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10445215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D3D7AE67-D883-418C-AB6E-CF36EA95C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My engineering standards, written down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53FF7C33-BD42-4BC5-A757-A57299E92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Michelin makes those standards part of every change.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59F96083-B115-47B4-AA1D-F310886FB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Reuse and consistency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3B524F4C-3D3E-472F-9C9A-52F33B613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Build on existing code, patterns and tools.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5ACDD8A2-09AD-462C-BB97-131253FF1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38575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Separation of concerns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4C0D42FD-812D-4CCF-A61E-AD6F6CD48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3857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Keep UI, state and business logic focused.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183CDEBF-5551-4D52-B17A-90E32F214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015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Quality bar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5BD05F03-F01A-41E7-B987-7377E85C0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01015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Meaningful tests. Readable code. Verified results.</a:t>
            </a:r>
          </a:p>
        </p:txBody>
      </p:sp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43E61DDD-BEA0-4CED-BCBE-B6B50B96E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03152569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ACDDB11C-1C7D-4D5B-8944-1DE9F5B1D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5720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A74E248D-4F9C-4450-98FF-05D9D662F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85725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D7333DC-6AEF-4EE1-8A60-934A4C00F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238250"/>
            <a:ext cx="914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3450" b="0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B19FC184-FDAA-461D-AD7B-8250E81FD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762125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4ee36cee62472c"/>
          <a:stretch xmlns:a="http://schemas.openxmlformats.org/drawingml/2006/main"/>
        </p:blipFill>
        <p:spPr>
          <a:xfrm xmlns:a="http://schemas.openxmlformats.org/drawingml/2006/main">
            <a:off x="1333500" y="2076450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d150959bbc46f6"/>
          <a:stretch xmlns:a="http://schemas.openxmlformats.org/drawingml/2006/main"/>
        </p:blipFill>
        <p:spPr>
          <a:xfrm xmlns:a="http://schemas.openxmlformats.org/drawingml/2006/main">
            <a:off x="1333500" y="2857500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b0f415c36d42e5"/>
          <a:stretch xmlns:a="http://schemas.openxmlformats.org/drawingml/2006/main"/>
        </p:blipFill>
        <p:spPr>
          <a:xfrm xmlns:a="http://schemas.openxmlformats.org/drawingml/2006/main">
            <a:off x="1333500" y="3638550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df57f567b34082"/>
          <a:stretch xmlns:a="http://schemas.openxmlformats.org/drawingml/2006/main"/>
        </p:blipFill>
        <p:spPr>
          <a:xfrm xmlns:a="http://schemas.openxmlformats.org/drawingml/2006/main">
            <a:off x="1333500" y="4419600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9fa6996bdd46bb"/>
          <a:stretch xmlns:a="http://schemas.openxmlformats.org/drawingml/2006/main"/>
        </p:blipFill>
        <p:spPr>
          <a:xfrm xmlns:a="http://schemas.openxmlformats.org/drawingml/2006/main">
            <a:off x="1333500" y="5200650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10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464B2E36-E060-4759-8B5A-94F48F4A0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7818315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">
            <a:extLst xmlns:a="http://schemas.openxmlformats.org/drawingml/2006/main">
              <a:ext uri="{FF2B5EF4-FFF2-40B4-BE49-F238E27FC236}">
                <a16:creationId xmlns:a16="http://schemas.microsoft.com/office/drawing/2014/main" id="{93C2A37B-6123-4DFE-A6F4-93D0BA53F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The testing bar, written into the codebase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95C50288-F2B4-44EE-AB8A-22509616B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Protect what works. Raise the bar with every change.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1922F3D0-42E3-4807-8C80-F9652C3AC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7650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New code needs tests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FC2ECD5E-8EB4-4C3B-8EDD-A80E7B729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7650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No test, no acceptance.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565A2F73-61DD-40C9-944E-6705256AE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9090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Bug fixes prove both cases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0538101A-12E6-49FD-990D-5754A3F52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9090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The test fails before the fix and passes after it.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6E380CC0-12A7-4428-969D-D925CD6E8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0530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Titles explain behaviour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2541E784-2F17-4B0D-810F-819A6E41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30530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Name the expected result in plain language.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82E16921-FECC-4A04-9279-CC4C5C548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1970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The bar keeps rising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7701C3C3-FB6E-4756-AE67-D12D5998D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21970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Keep existing checks passing. Add protection as we go.</a:t>
            </a:r>
          </a:p>
        </p:txBody>
      </p:sp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C6F07778-E143-4332-9316-A13F0993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38161476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6252A9E6-BD23-4527-BEB0-D935CC1CB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113 to 1,669 unit-test files</a:t>
            </a:r>
          </a:p>
        </p:txBody>
      </p:sp>
      <p:graphicFrame>
        <p:nvGraphicFramePr>
          <p:cNvPr id="8" name="Chart"/>
          <p:cNvGraphicFramePr/>
          <p:nvPr/>
        </p:nvGraphicFramePr>
        <p:xfrm>
          <a:off xmlns:a="http://schemas.openxmlformats.org/drawingml/2006/main" x="723900" y="2381250"/>
          <a:ext xmlns:a="http://schemas.openxmlformats.org/drawingml/2006/main" cx="10744200" cy="31813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0e66843db9e43b4"/>
          </a:graphicData>
        </a:graphic>
      </p:graphicFrame>
      <p:sp>
        <p:nvSpPr>
          <p:cNvPr id="3" name="April month marker">
            <a:extLst xmlns:a="http://schemas.openxmlformats.org/drawingml/2006/main">
              <a:ext uri="{FF2B5EF4-FFF2-40B4-BE49-F238E27FC236}">
                <a16:creationId xmlns:a16="http://schemas.microsoft.com/office/drawing/2014/main" id="{550D2CA3-E16D-498D-A583-8820A9340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2381250"/>
            <a:ext cx="0" cy="2800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65F65"/>
            </a:solidFill>
            <a:prstDash val="dash"/>
          </a:ln>
        </p:spPr>
      </p:sp>
      <p:sp>
        <p:nvSpPr>
          <p:cNvPr id="4" name="April joining context">
            <a:extLst xmlns:a="http://schemas.openxmlformats.org/drawingml/2006/main">
              <a:ext uri="{FF2B5EF4-FFF2-40B4-BE49-F238E27FC236}">
                <a16:creationId xmlns:a16="http://schemas.microsoft.com/office/drawing/2014/main" id="{C797346A-0E26-457F-8983-78DB2217E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Joined in April 2026</a:t>
            </a:r>
          </a:p>
        </p:txBody>
      </p:sp>
      <p:sp>
        <p:nvSpPr>
          <p:cNvPr id="5" name="Methodology">
            <a:extLst xmlns:a="http://schemas.openxmlformats.org/drawingml/2006/main">
              <a:ext uri="{FF2B5EF4-FFF2-40B4-BE49-F238E27FC236}">
                <a16:creationId xmlns:a16="http://schemas.microsoft.com/office/drawing/2014/main" id="{D867AD4F-EEA6-40C5-B641-37BE95D14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Month-end test-file inventory, January to September 2026. File count does not measure coverage.</a:t>
            </a:r>
          </a:p>
        </p:txBody>
      </p:sp>
      <p:sp>
        <p:nvSpPr>
          <p:cNvPr id="6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72E0DA62-B7EE-4C7F-94FD-C6F9EFE24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44320995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CC7D9535-4CCB-4242-9E94-A8CC64E5F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5720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D002FFC4-CF7C-423F-85EB-5BFE61FD8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85725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Completed section 1">
            <a:extLst xmlns:a="http://schemas.openxmlformats.org/drawingml/2006/main">
              <a:ext uri="{FF2B5EF4-FFF2-40B4-BE49-F238E27FC236}">
                <a16:creationId xmlns:a16="http://schemas.microsoft.com/office/drawing/2014/main" id="{D38F0230-A282-43D8-A5A3-5860D8328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23825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DA451308-AB2E-41BA-A186-36D9075D6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63830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030786C6-8316-4A1A-B805-EBB435377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019300"/>
            <a:ext cx="914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3450" b="0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03  CI</a:t>
            </a:r>
          </a:p>
        </p:txBody>
      </p:sp>
      <p:sp>
        <p:nvSpPr>
          <p:cNvPr id="6" name="Section description 2">
            <a:extLst xmlns:a="http://schemas.openxmlformats.org/drawingml/2006/main">
              <a:ext uri="{FF2B5EF4-FFF2-40B4-BE49-F238E27FC236}">
                <a16:creationId xmlns:a16="http://schemas.microsoft.com/office/drawing/2014/main" id="{013820CF-36D4-431F-A992-9FDE6DB58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543175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Check every PR. Block the pipeline on failure.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c8ce00253044a0"/>
          <a:stretch xmlns:a="http://schemas.openxmlformats.org/drawingml/2006/main"/>
        </p:blipFill>
        <p:spPr>
          <a:xfrm xmlns:a="http://schemas.openxmlformats.org/drawingml/2006/main">
            <a:off x="1333500" y="2857500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d4c8dd01994996"/>
          <a:stretch xmlns:a="http://schemas.openxmlformats.org/drawingml/2006/main"/>
        </p:blipFill>
        <p:spPr>
          <a:xfrm xmlns:a="http://schemas.openxmlformats.org/drawingml/2006/main">
            <a:off x="1333500" y="3638550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c6cb94ec6e4392"/>
          <a:stretch xmlns:a="http://schemas.openxmlformats.org/drawingml/2006/main"/>
        </p:blipFill>
        <p:spPr>
          <a:xfrm xmlns:a="http://schemas.openxmlformats.org/drawingml/2006/main">
            <a:off x="1333500" y="4419600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d67ba14a504214"/>
          <a:stretch xmlns:a="http://schemas.openxmlformats.org/drawingml/2006/main"/>
        </p:blipFill>
        <p:spPr>
          <a:xfrm xmlns:a="http://schemas.openxmlformats.org/drawingml/2006/main">
            <a:off x="1333500" y="5200650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0785596F-1B47-44C8-96B8-97B9A9591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65536904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">
            <a:extLst xmlns:a="http://schemas.openxmlformats.org/drawingml/2006/main">
              <a:ext uri="{FF2B5EF4-FFF2-40B4-BE49-F238E27FC236}">
                <a16:creationId xmlns:a16="http://schemas.microsoft.com/office/drawing/2014/main" id="{5DAA1398-2698-457B-9A8A-483BECF12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Every PR goes through CI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30A94E23-7455-4BE3-995D-60B1F775B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Failed checks block the pipeline until they pass.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A5EBF88B-3B14-4AA5-88E0-4FC380364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Run the checks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0F29B60F-6991-4BB4-9B55-097F5E7BF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Lint, types, tests and build on every PR.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5CA651BB-E787-46A8-92B4-202DFFD4B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38575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Parole evaluates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B998258E-7424-4E71-84DA-C08CAF07D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3857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Watch CI results. Investigate each failure.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AEB5ACA6-B474-462A-A18B-7BF4AE929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015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Michelin fixes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A1563359-A226-48D3-B461-2FD99E5FD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01015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Make the correction. Commit, push and run again.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9FCF66E4-77AE-4152-89CB-556F498ED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67425"/>
            <a:ext cx="1057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The loop repeats until the required checks pass.</a:t>
            </a:r>
          </a:p>
        </p:txBody>
      </p:sp>
      <p:sp>
        <p:nvSpPr>
          <p:cNvPr id="10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F5D11C03-F974-41E9-A89B-D47572C03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89150889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80B9FB35-E991-4E7C-8F09-4A58CCE28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The quality bar keeps rising</a:t>
            </a:r>
          </a:p>
        </p:txBody>
      </p:sp>
      <p:sp>
        <p:nvSpPr>
          <p:cNvPr id="2" name="Metric value">
            <a:extLst xmlns:a="http://schemas.openxmlformats.org/drawingml/2006/main">
              <a:ext uri="{FF2B5EF4-FFF2-40B4-BE49-F238E27FC236}">
                <a16:creationId xmlns:a16="http://schemas.microsoft.com/office/drawing/2014/main" id="{70D68C48-77F9-44F8-B46A-156C30764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10287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3200" b="0">
                <a:solidFill>
                  <a:srgbClr val="00786F"/>
                </a:solidFill>
                <a:latin typeface="Newsreader"/>
                <a:ea typeface="Newsreader"/>
                <a:cs typeface="Newsreader"/>
              </a:defRPr>
            </a:pPr>
            <a:r>
              <a:rPr sz="13200" b="0">
                <a:solidFill>
                  <a:srgbClr val="00786F"/>
                </a:solidFill>
                <a:latin typeface="Newsreader"/>
                <a:ea typeface="Newsreader"/>
                <a:cs typeface="Newsreader"/>
              </a:rPr>
              <a:t>72%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D3492B33-9A74-4BB2-9F45-866CD312D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29125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Line coverage, September 2026</a:t>
            </a:r>
          </a:p>
        </p:txBody>
      </p:sp>
      <p:sp>
        <p:nvSpPr>
          <p:cNvPr id="4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38665F53-0F5D-4673-9D61-F5DDAD6F9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36153206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67017849-36D3-464C-A7EB-7CFA476B1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5720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85553CB1-507A-499D-A101-03F704B19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85725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Completed section 1">
            <a:extLst xmlns:a="http://schemas.openxmlformats.org/drawingml/2006/main">
              <a:ext uri="{FF2B5EF4-FFF2-40B4-BE49-F238E27FC236}">
                <a16:creationId xmlns:a16="http://schemas.microsoft.com/office/drawing/2014/main" id="{9242B5A9-15B8-4F80-8555-A7C7F3D89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23825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9DDD57BE-B264-4EA0-ABD2-E21AE71EC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63830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sp>
        <p:nvSpPr>
          <p:cNvPr id="5" name="Completed section 2">
            <a:extLst xmlns:a="http://schemas.openxmlformats.org/drawingml/2006/main">
              <a:ext uri="{FF2B5EF4-FFF2-40B4-BE49-F238E27FC236}">
                <a16:creationId xmlns:a16="http://schemas.microsoft.com/office/drawing/2014/main" id="{B02FA1C0-CC25-474C-9E7E-C138BDA04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01930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03  CI</a:t>
            </a:r>
          </a:p>
        </p:txBody>
      </p:sp>
      <p:sp>
        <p:nvSpPr>
          <p:cNvPr id="6" name="Section description 2">
            <a:extLst xmlns:a="http://schemas.openxmlformats.org/drawingml/2006/main">
              <a:ext uri="{FF2B5EF4-FFF2-40B4-BE49-F238E27FC236}">
                <a16:creationId xmlns:a16="http://schemas.microsoft.com/office/drawing/2014/main" id="{84CA0994-97F1-40E5-8766-68DD3F259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41935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Check every PR. Block the pipeline on failure.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AD1DA170-D4E5-4FB8-99E1-EE57BCC67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800350"/>
            <a:ext cx="914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3450" b="0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04  Device verification</a:t>
            </a:r>
          </a:p>
        </p:txBody>
      </p:sp>
      <p:sp>
        <p:nvSpPr>
          <p:cNvPr id="8" name="Section description 3">
            <a:extLst xmlns:a="http://schemas.openxmlformats.org/drawingml/2006/main">
              <a:ext uri="{FF2B5EF4-FFF2-40B4-BE49-F238E27FC236}">
                <a16:creationId xmlns:a16="http://schemas.microsoft.com/office/drawing/2014/main" id="{B6135A08-EDD7-4B16-A24F-24B34F33D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324225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Maestro checks on iOS and Android. Failures block delivery.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d39291516449d9"/>
          <a:stretch xmlns:a="http://schemas.openxmlformats.org/drawingml/2006/main"/>
        </p:blipFill>
        <p:spPr>
          <a:xfrm xmlns:a="http://schemas.openxmlformats.org/drawingml/2006/main">
            <a:off x="1333500" y="3638550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c7c8b92cf3467a"/>
          <a:stretch xmlns:a="http://schemas.openxmlformats.org/drawingml/2006/main"/>
        </p:blipFill>
        <p:spPr>
          <a:xfrm xmlns:a="http://schemas.openxmlformats.org/drawingml/2006/main">
            <a:off x="1333500" y="4419600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911d3e9fbf41b0"/>
          <a:stretch xmlns:a="http://schemas.openxmlformats.org/drawingml/2006/main"/>
        </p:blipFill>
        <p:spPr>
          <a:xfrm xmlns:a="http://schemas.openxmlformats.org/drawingml/2006/main">
            <a:off x="1333500" y="5200650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12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06A2A80E-9D24-423F-ADBA-DA3A939D1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16320872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">
            <a:extLst xmlns:a="http://schemas.openxmlformats.org/drawingml/2006/main">
              <a:ext uri="{FF2B5EF4-FFF2-40B4-BE49-F238E27FC236}">
                <a16:creationId xmlns:a16="http://schemas.microsoft.com/office/drawing/2014/main" id="{6C2A2B30-43FB-409E-89B1-39995838C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Maestro checks the app while we sleep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D86917A1-B020-4463-BCAC-EC41B388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Android and iOS, with evidence of every failure.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06F56D53-1853-4113-800F-0C01B6A5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Every PR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6A65289C-1E80-4FD4-9A1F-0969A4140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Run the smoke tests.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51C8289C-5C41-42C5-84F3-58C380514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38575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Every night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D8E639C1-31CC-439E-916E-017784F02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3857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Run the full end-to-end suite.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E0490DD6-403D-41BB-8265-F14959344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015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A failure blocks delivery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6B2D1144-DE3A-4111-B761-EC0124280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01015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Fix it first. Watch the video and inspect the logs.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F3817302-9348-4A18-8DD5-6EB08E5DA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67425"/>
            <a:ext cx="1057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Attach recordings and logs so people and AI can investigate.</a:t>
            </a:r>
          </a:p>
        </p:txBody>
      </p:sp>
      <p:sp>
        <p:nvSpPr>
          <p:cNvPr id="10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F39A546D-C887-474C-B08C-026566123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24385554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30E401D1-6EEE-4869-8ACA-05E8E2FEF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14 to 225 Maestro YAML files</a:t>
            </a:r>
          </a:p>
        </p:txBody>
      </p:sp>
      <p:graphicFrame>
        <p:nvGraphicFramePr>
          <p:cNvPr id="8" name="Chart"/>
          <p:cNvGraphicFramePr/>
          <p:nvPr/>
        </p:nvGraphicFramePr>
        <p:xfrm>
          <a:off xmlns:a="http://schemas.openxmlformats.org/drawingml/2006/main" x="723900" y="2381250"/>
          <a:ext xmlns:a="http://schemas.openxmlformats.org/drawingml/2006/main" cx="10744200" cy="31813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cdc627162974a47"/>
          </a:graphicData>
        </a:graphic>
      </p:graphicFrame>
      <p:sp>
        <p:nvSpPr>
          <p:cNvPr id="3" name="April month marker">
            <a:extLst xmlns:a="http://schemas.openxmlformats.org/drawingml/2006/main">
              <a:ext uri="{FF2B5EF4-FFF2-40B4-BE49-F238E27FC236}">
                <a16:creationId xmlns:a16="http://schemas.microsoft.com/office/drawing/2014/main" id="{D0B5B0BE-8829-4A9D-9D24-7FBC6EFA4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381250"/>
            <a:ext cx="0" cy="2800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65F65"/>
            </a:solidFill>
            <a:prstDash val="dash"/>
          </a:ln>
        </p:spPr>
      </p:sp>
      <p:sp>
        <p:nvSpPr>
          <p:cNvPr id="4" name="April joining context">
            <a:extLst xmlns:a="http://schemas.openxmlformats.org/drawingml/2006/main">
              <a:ext uri="{FF2B5EF4-FFF2-40B4-BE49-F238E27FC236}">
                <a16:creationId xmlns:a16="http://schemas.microsoft.com/office/drawing/2014/main" id="{7B43F7F8-4521-4614-9B21-E03FEE565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Joined in April 2026</a:t>
            </a:r>
          </a:p>
        </p:txBody>
      </p:sp>
      <p:sp>
        <p:nvSpPr>
          <p:cNvPr id="5" name="Methodology">
            <a:extLst xmlns:a="http://schemas.openxmlformats.org/drawingml/2006/main">
              <a:ext uri="{FF2B5EF4-FFF2-40B4-BE49-F238E27FC236}">
                <a16:creationId xmlns:a16="http://schemas.microsoft.com/office/drawing/2014/main" id="{7A13090D-BAFA-45F9-A3F2-CD7B9DEC1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Month-end Maestro YAML files, January to September 2026. Includes shared flows and suites.</a:t>
            </a:r>
          </a:p>
        </p:txBody>
      </p:sp>
      <p:sp>
        <p:nvSpPr>
          <p:cNvPr id="6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F3F80FCB-8245-4A92-9497-903611044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13810428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9785EBEA-8021-4E96-8AFD-AF5A85D8B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5720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11193B5B-CEAD-44A8-81AF-70CB3DEF9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85725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Completed section 1">
            <a:extLst xmlns:a="http://schemas.openxmlformats.org/drawingml/2006/main">
              <a:ext uri="{FF2B5EF4-FFF2-40B4-BE49-F238E27FC236}">
                <a16:creationId xmlns:a16="http://schemas.microsoft.com/office/drawing/2014/main" id="{091EAE3C-170E-4FAB-8B4A-81F47D366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23825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B609FEBB-B075-49CD-A901-0B5169957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63830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sp>
        <p:nvSpPr>
          <p:cNvPr id="5" name="Completed section 2">
            <a:extLst xmlns:a="http://schemas.openxmlformats.org/drawingml/2006/main">
              <a:ext uri="{FF2B5EF4-FFF2-40B4-BE49-F238E27FC236}">
                <a16:creationId xmlns:a16="http://schemas.microsoft.com/office/drawing/2014/main" id="{49B1341A-AADB-4842-9666-C2518F85D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01930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03  CI</a:t>
            </a:r>
          </a:p>
        </p:txBody>
      </p:sp>
      <p:sp>
        <p:nvSpPr>
          <p:cNvPr id="6" name="Section description 2">
            <a:extLst xmlns:a="http://schemas.openxmlformats.org/drawingml/2006/main">
              <a:ext uri="{FF2B5EF4-FFF2-40B4-BE49-F238E27FC236}">
                <a16:creationId xmlns:a16="http://schemas.microsoft.com/office/drawing/2014/main" id="{C222798C-0D66-46E5-B144-F24F2F05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41935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Check every PR. Block the pipeline on failure.</a:t>
            </a:r>
          </a:p>
        </p:txBody>
      </p:sp>
      <p:sp>
        <p:nvSpPr>
          <p:cNvPr id="7" name="Completed section 3">
            <a:extLst xmlns:a="http://schemas.openxmlformats.org/drawingml/2006/main">
              <a:ext uri="{FF2B5EF4-FFF2-40B4-BE49-F238E27FC236}">
                <a16:creationId xmlns:a16="http://schemas.microsoft.com/office/drawing/2014/main" id="{51CC05A4-042E-4A7A-BF48-9032D15FD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80035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04  Device verification</a:t>
            </a:r>
          </a:p>
        </p:txBody>
      </p:sp>
      <p:sp>
        <p:nvSpPr>
          <p:cNvPr id="8" name="Section description 3">
            <a:extLst xmlns:a="http://schemas.openxmlformats.org/drawingml/2006/main">
              <a:ext uri="{FF2B5EF4-FFF2-40B4-BE49-F238E27FC236}">
                <a16:creationId xmlns:a16="http://schemas.microsoft.com/office/drawing/2014/main" id="{F863FD43-4FAE-4610-860E-F2FEB2AD6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20040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Maestro checks on iOS and Android. Failures block delivery.</a:t>
            </a:r>
          </a:p>
        </p:txBody>
      </p:sp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F6344781-06CC-4E42-810D-D46BCF9C8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581400"/>
            <a:ext cx="914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3450" b="0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05  AI reviewers</a:t>
            </a:r>
          </a:p>
        </p:txBody>
      </p:sp>
      <p:sp>
        <p:nvSpPr>
          <p:cNvPr id="10" name="Section description 4">
            <a:extLst xmlns:a="http://schemas.openxmlformats.org/drawingml/2006/main">
              <a:ext uri="{FF2B5EF4-FFF2-40B4-BE49-F238E27FC236}">
                <a16:creationId xmlns:a16="http://schemas.microsoft.com/office/drawing/2014/main" id="{8E708DEE-5555-457F-B65D-A4406420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105275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Three reviewers on every PR. Shared mobile guidelines.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29b75b2d974eef"/>
          <a:stretch xmlns:a="http://schemas.openxmlformats.org/drawingml/2006/main"/>
        </p:blipFill>
        <p:spPr>
          <a:xfrm xmlns:a="http://schemas.openxmlformats.org/drawingml/2006/main">
            <a:off x="1333500" y="4419600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6610ddb0774a33"/>
          <a:stretch xmlns:a="http://schemas.openxmlformats.org/drawingml/2006/main"/>
        </p:blipFill>
        <p:spPr>
          <a:xfrm xmlns:a="http://schemas.openxmlformats.org/drawingml/2006/main">
            <a:off x="1333500" y="5200650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1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EC00A7AD-F6C5-4F5D-A83B-45B448B91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06265539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6844E19E-4116-4A19-9492-4616012FA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Three AI reviewers. One mobile specialist.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C017E8E7-5E8F-4192-A1C1-2A7AD4401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Review feedback arrives without waiting days for a person.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D71CFBB7-D9B5-4CA6-A6AF-33F9355D9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CodeRabbit, Qodo, cubic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037EB504-3DF5-4B59-BE7D-ACADC55D4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Three review perspectives on every PR.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2DAB457E-1FD0-46C9-86E4-555903DA7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38575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Custom Cursor reviewer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DB88C600-7186-4E3A-9CEA-E8980C564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3857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An hourly review focused on React Native.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E35D87D6-7D5B-443B-AB2A-FCFC4C61A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015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A shared quality bar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A61966DB-93A8-47A9-A5E3-9BF0746AE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01015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All reviewers use the guidelines in the repository.</a:t>
            </a:r>
          </a:p>
        </p:txBody>
      </p:sp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28BD9855-9C25-4139-93B9-DD107FD31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23384155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9D660A9A-57C9-421C-9E81-E3F87E9BA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Review guidelines live with the code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E43E33E0-D6A3-43FB-A324-D68B28129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Every AI reviewer starts with the same mobile context.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569549E0-E45B-452E-A711-F29976257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React Native standards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ED2E8868-5372-4197-B5B8-44355D7BB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Mobile best practices and platform behaviour.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D7DB71B2-670B-45B2-9355-D804CDB3F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38575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Engineering expectations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C97EEAD8-119F-4A22-88F1-2877D2870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3857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Reuse existing code. Separate concerns. Require tests.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4785CEDA-8220-4672-BBFC-0566B8490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015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Guidelines evolve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BB590B5B-7149-4F56-A4B8-A11772BF2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01015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Clarify missed context and improve future reviews.</a:t>
            </a:r>
          </a:p>
        </p:txBody>
      </p:sp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D8C87F73-1978-4DD0-BC26-87D3D7DC1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4076811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96CAC356-B74A-4CB7-B78E-4E505481C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5720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E15A6D3C-770A-42F0-961B-1D8D686A6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85725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Completed section 1">
            <a:extLst xmlns:a="http://schemas.openxmlformats.org/drawingml/2006/main">
              <a:ext uri="{FF2B5EF4-FFF2-40B4-BE49-F238E27FC236}">
                <a16:creationId xmlns:a16="http://schemas.microsoft.com/office/drawing/2014/main" id="{7E0DE1CD-4F09-4E41-A613-44294EF99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23825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50C50ACF-3CCA-4361-B40B-096559772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63830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sp>
        <p:nvSpPr>
          <p:cNvPr id="5" name="Completed section 2">
            <a:extLst xmlns:a="http://schemas.openxmlformats.org/drawingml/2006/main">
              <a:ext uri="{FF2B5EF4-FFF2-40B4-BE49-F238E27FC236}">
                <a16:creationId xmlns:a16="http://schemas.microsoft.com/office/drawing/2014/main" id="{979C00C0-0D5A-4F33-B638-7A2BC02D7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01930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03  CI</a:t>
            </a:r>
          </a:p>
        </p:txBody>
      </p:sp>
      <p:sp>
        <p:nvSpPr>
          <p:cNvPr id="6" name="Section description 2">
            <a:extLst xmlns:a="http://schemas.openxmlformats.org/drawingml/2006/main">
              <a:ext uri="{FF2B5EF4-FFF2-40B4-BE49-F238E27FC236}">
                <a16:creationId xmlns:a16="http://schemas.microsoft.com/office/drawing/2014/main" id="{DF8C1EA8-C820-4F54-B4ED-746F752AB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41935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Check every PR. Block the pipeline on failure.</a:t>
            </a:r>
          </a:p>
        </p:txBody>
      </p:sp>
      <p:sp>
        <p:nvSpPr>
          <p:cNvPr id="7" name="Completed section 3">
            <a:extLst xmlns:a="http://schemas.openxmlformats.org/drawingml/2006/main">
              <a:ext uri="{FF2B5EF4-FFF2-40B4-BE49-F238E27FC236}">
                <a16:creationId xmlns:a16="http://schemas.microsoft.com/office/drawing/2014/main" id="{67557EAE-F8F3-4BD0-903F-34F600C6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80035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04  Device verification</a:t>
            </a:r>
          </a:p>
        </p:txBody>
      </p:sp>
      <p:sp>
        <p:nvSpPr>
          <p:cNvPr id="8" name="Section description 3">
            <a:extLst xmlns:a="http://schemas.openxmlformats.org/drawingml/2006/main">
              <a:ext uri="{FF2B5EF4-FFF2-40B4-BE49-F238E27FC236}">
                <a16:creationId xmlns:a16="http://schemas.microsoft.com/office/drawing/2014/main" id="{34E48395-ADAE-4922-BDD5-9690765D5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20040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Maestro checks on iOS and Android. Failures block delivery.</a:t>
            </a:r>
          </a:p>
        </p:txBody>
      </p:sp>
      <p:sp>
        <p:nvSpPr>
          <p:cNvPr id="9" name="Completed section 4">
            <a:extLst xmlns:a="http://schemas.openxmlformats.org/drawingml/2006/main">
              <a:ext uri="{FF2B5EF4-FFF2-40B4-BE49-F238E27FC236}">
                <a16:creationId xmlns:a16="http://schemas.microsoft.com/office/drawing/2014/main" id="{1234EF02-4B0C-4AEE-B169-0C8D6FFDE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58140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05  AI reviewers</a:t>
            </a:r>
          </a:p>
        </p:txBody>
      </p:sp>
      <p:sp>
        <p:nvSpPr>
          <p:cNvPr id="10" name="Section description 4">
            <a:extLst xmlns:a="http://schemas.openxmlformats.org/drawingml/2006/main">
              <a:ext uri="{FF2B5EF4-FFF2-40B4-BE49-F238E27FC236}">
                <a16:creationId xmlns:a16="http://schemas.microsoft.com/office/drawing/2014/main" id="{9AC411AA-1108-4E86-A8F4-B26CC2F06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98145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Three reviewers on every PR. Shared mobile guidelines.</a:t>
            </a:r>
          </a:p>
        </p:txBody>
      </p:sp>
      <p:sp>
        <p:nvSpPr>
          <p:cNvPr id="11" name="Title">
            <a:extLst xmlns:a="http://schemas.openxmlformats.org/drawingml/2006/main">
              <a:ext uri="{FF2B5EF4-FFF2-40B4-BE49-F238E27FC236}">
                <a16:creationId xmlns:a16="http://schemas.microsoft.com/office/drawing/2014/main" id="{5D23B9FF-62CB-4512-8CD7-5D01E6020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62450"/>
            <a:ext cx="914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3450" b="0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06  Sentry</a:t>
            </a:r>
          </a:p>
        </p:txBody>
      </p:sp>
      <p:sp>
        <p:nvSpPr>
          <p:cNvPr id="12" name="Section description 5">
            <a:extLst xmlns:a="http://schemas.openxmlformats.org/drawingml/2006/main">
              <a:ext uri="{FF2B5EF4-FFF2-40B4-BE49-F238E27FC236}">
                <a16:creationId xmlns:a16="http://schemas.microsoft.com/office/drawing/2014/main" id="{6474714B-21CE-4FE8-BBEF-3A406A2C3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886325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Turn production issues into the next regression check.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cf9eb2b8d6498e"/>
          <a:stretch xmlns:a="http://schemas.openxmlformats.org/drawingml/2006/main"/>
        </p:blipFill>
        <p:spPr>
          <a:xfrm xmlns:a="http://schemas.openxmlformats.org/drawingml/2006/main">
            <a:off x="1333500" y="5200650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14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F492130C-241F-49FC-B133-2898B0DC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48778028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itle">
            <a:extLst xmlns:a="http://schemas.openxmlformats.org/drawingml/2006/main">
              <a:ext uri="{FF2B5EF4-FFF2-40B4-BE49-F238E27FC236}">
                <a16:creationId xmlns:a16="http://schemas.microsoft.com/office/drawing/2014/main" id="{F15B326C-CF7B-47E5-8B9A-4FFA32A09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Turn an issue into a regression check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B78EC291-B42E-474B-A104-2F4CA45A9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286000"/>
            <a:ext cx="7905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01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E78A62A0-E13B-4CDF-96E7-7307DB7CC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286000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Investigate a recorded issue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E824BB14-94D1-408A-8AB6-1471DD1AD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33700"/>
            <a:ext cx="7905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02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46D15619-9156-45DD-8817-15D91848F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933700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Reproduce the relevant behaviour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165E161B-D501-41EC-9EFC-7AFBAE253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581400"/>
            <a:ext cx="7905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03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976E1674-ED3C-4E37-B654-D85BBEE32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581400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Make a bounded correction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31F0FB7E-3C3E-4604-ADA2-061E38A8B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229100"/>
            <a:ext cx="7905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04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FEE2F09B-80B5-47E0-815B-CAA4F584D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229100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Add a regression check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EC8E4434-281E-42A3-9AE9-213D32DA2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76800"/>
            <a:ext cx="7905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05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EF4CEA9B-C778-493D-ABDD-3CB399838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876800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Return evidence to review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F8E5B6B7-8696-44CC-8C6D-088F841E7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57875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A resurfacing issue becomes a focused development task.</a:t>
            </a:r>
          </a:p>
        </p:txBody>
      </p:sp>
      <p:sp>
        <p:nvSpPr>
          <p:cNvPr id="1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4C239D67-C5EF-420C-9F6C-00D121F31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74860671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68CB5BA-281A-4A22-8BD0-1A604F905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Fewer recorded errors, with variation</a:t>
            </a:r>
          </a:p>
        </p:txBody>
      </p:sp>
      <p:graphicFrame>
        <p:nvGraphicFramePr>
          <p:cNvPr id="10" name="Chart"/>
          <p:cNvGraphicFramePr/>
          <p:nvPr/>
        </p:nvGraphicFramePr>
        <p:xfrm>
          <a:off xmlns:a="http://schemas.openxmlformats.org/drawingml/2006/main" x="723900" y="2381250"/>
          <a:ext xmlns:a="http://schemas.openxmlformats.org/drawingml/2006/main" cx="107442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2567e7617c84cb3"/>
          </a:graphicData>
        </a:graphic>
      </p:graphicFrame>
      <p:sp>
        <p:nvSpPr>
          <p:cNvPr id="3" name="Date label">
            <a:extLst xmlns:a="http://schemas.openxmlformats.org/drawingml/2006/main">
              <a:ext uri="{FF2B5EF4-FFF2-40B4-BE49-F238E27FC236}">
                <a16:creationId xmlns:a16="http://schemas.microsoft.com/office/drawing/2014/main" id="{90A7FA67-00FC-4A54-8D3F-0A6B9F41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5435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7 Jul</a:t>
            </a:r>
          </a:p>
        </p:txBody>
      </p:sp>
      <p:sp>
        <p:nvSpPr>
          <p:cNvPr id="4" name="Date label">
            <a:extLst xmlns:a="http://schemas.openxmlformats.org/drawingml/2006/main">
              <a:ext uri="{FF2B5EF4-FFF2-40B4-BE49-F238E27FC236}">
                <a16:creationId xmlns:a16="http://schemas.microsoft.com/office/drawing/2014/main" id="{B3D947C1-9015-4C77-A29E-2E0A5425D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5435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4 Aug</a:t>
            </a:r>
          </a:p>
        </p:txBody>
      </p:sp>
      <p:sp>
        <p:nvSpPr>
          <p:cNvPr id="5" name="Date label">
            <a:extLst xmlns:a="http://schemas.openxmlformats.org/drawingml/2006/main">
              <a:ext uri="{FF2B5EF4-FFF2-40B4-BE49-F238E27FC236}">
                <a16:creationId xmlns:a16="http://schemas.microsoft.com/office/drawing/2014/main" id="{D5B5250F-6BB2-4BCA-A04A-121604572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55435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 Sep</a:t>
            </a:r>
          </a:p>
        </p:txBody>
      </p:sp>
      <p:sp>
        <p:nvSpPr>
          <p:cNvPr id="6" name="Date label">
            <a:extLst xmlns:a="http://schemas.openxmlformats.org/drawingml/2006/main">
              <a:ext uri="{FF2B5EF4-FFF2-40B4-BE49-F238E27FC236}">
                <a16:creationId xmlns:a16="http://schemas.microsoft.com/office/drawing/2014/main" id="{99E91714-8F8A-4F7F-A1B5-F27CD3C72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55435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29 Sep</a:t>
            </a:r>
          </a:p>
        </p:txBody>
      </p:sp>
      <p:sp>
        <p:nvSpPr>
          <p:cNvPr id="7" name="Methodology">
            <a:extLst xmlns:a="http://schemas.openxmlformats.org/drawingml/2006/main">
              <a:ext uri="{FF2B5EF4-FFF2-40B4-BE49-F238E27FC236}">
                <a16:creationId xmlns:a16="http://schemas.microsoft.com/office/drawing/2014/main" id="{2BA68363-ECF6-4D12-88FF-9BF6FB0D8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Daily events, all environments. 7 July to 30 September 2026.</a:t>
            </a:r>
          </a:p>
          <a:p xmlns:a="http://schemas.openxmlformats.org/drawingml/2006/main">
            <a:pPr algn="l">
              <a:def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Fixes, filters and sampling affect counts. No usage denominator.</a:t>
            </a:r>
          </a:p>
        </p:txBody>
      </p:sp>
      <p:sp>
        <p:nvSpPr>
          <p:cNvPr id="8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B82978AA-7808-4F74-BB58-FF0CCA01E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88989901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BEC7408C-162B-4032-8548-3C39DAE6F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5720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6E7603B9-625F-4D69-8A02-A83E8A849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85725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Completed section 1">
            <a:extLst xmlns:a="http://schemas.openxmlformats.org/drawingml/2006/main">
              <a:ext uri="{FF2B5EF4-FFF2-40B4-BE49-F238E27FC236}">
                <a16:creationId xmlns:a16="http://schemas.microsoft.com/office/drawing/2014/main" id="{C3ACF4E2-0F92-4BE2-BDD3-7879BFE1E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23825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260551A5-25AB-4189-B05E-4425C9274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63830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sp>
        <p:nvSpPr>
          <p:cNvPr id="5" name="Completed section 2">
            <a:extLst xmlns:a="http://schemas.openxmlformats.org/drawingml/2006/main">
              <a:ext uri="{FF2B5EF4-FFF2-40B4-BE49-F238E27FC236}">
                <a16:creationId xmlns:a16="http://schemas.microsoft.com/office/drawing/2014/main" id="{795CD32F-692C-4787-ADB8-C881262BC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01930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03  CI</a:t>
            </a:r>
          </a:p>
        </p:txBody>
      </p:sp>
      <p:sp>
        <p:nvSpPr>
          <p:cNvPr id="6" name="Section description 2">
            <a:extLst xmlns:a="http://schemas.openxmlformats.org/drawingml/2006/main">
              <a:ext uri="{FF2B5EF4-FFF2-40B4-BE49-F238E27FC236}">
                <a16:creationId xmlns:a16="http://schemas.microsoft.com/office/drawing/2014/main" id="{78056AC6-FA9B-4E82-BF77-2C774DE58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41935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Check every PR. Block the pipeline on failure.</a:t>
            </a:r>
          </a:p>
        </p:txBody>
      </p:sp>
      <p:sp>
        <p:nvSpPr>
          <p:cNvPr id="7" name="Completed section 3">
            <a:extLst xmlns:a="http://schemas.openxmlformats.org/drawingml/2006/main">
              <a:ext uri="{FF2B5EF4-FFF2-40B4-BE49-F238E27FC236}">
                <a16:creationId xmlns:a16="http://schemas.microsoft.com/office/drawing/2014/main" id="{8A324B42-AF18-444C-AE7E-D4EEE7247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80035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04  Device verification</a:t>
            </a:r>
          </a:p>
        </p:txBody>
      </p:sp>
      <p:sp>
        <p:nvSpPr>
          <p:cNvPr id="8" name="Section description 3">
            <a:extLst xmlns:a="http://schemas.openxmlformats.org/drawingml/2006/main">
              <a:ext uri="{FF2B5EF4-FFF2-40B4-BE49-F238E27FC236}">
                <a16:creationId xmlns:a16="http://schemas.microsoft.com/office/drawing/2014/main" id="{77046E73-D9B7-42AC-8C6E-27C52265F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20040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Maestro checks on iOS and Android. Failures block delivery.</a:t>
            </a:r>
          </a:p>
        </p:txBody>
      </p:sp>
      <p:sp>
        <p:nvSpPr>
          <p:cNvPr id="9" name="Completed section 4">
            <a:extLst xmlns:a="http://schemas.openxmlformats.org/drawingml/2006/main">
              <a:ext uri="{FF2B5EF4-FFF2-40B4-BE49-F238E27FC236}">
                <a16:creationId xmlns:a16="http://schemas.microsoft.com/office/drawing/2014/main" id="{FA5C51DF-2A93-45E8-8F78-1FB3C8725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58140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05  AI reviewers</a:t>
            </a:r>
          </a:p>
        </p:txBody>
      </p:sp>
      <p:sp>
        <p:nvSpPr>
          <p:cNvPr id="10" name="Section description 4">
            <a:extLst xmlns:a="http://schemas.openxmlformats.org/drawingml/2006/main">
              <a:ext uri="{FF2B5EF4-FFF2-40B4-BE49-F238E27FC236}">
                <a16:creationId xmlns:a16="http://schemas.microsoft.com/office/drawing/2014/main" id="{E8675550-51AB-4712-BDE5-D13B3E1A9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98145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Three reviewers on every PR. Shared mobile guidelines.</a:t>
            </a:r>
          </a:p>
        </p:txBody>
      </p:sp>
      <p:sp>
        <p:nvSpPr>
          <p:cNvPr id="11" name="Completed section 5">
            <a:extLst xmlns:a="http://schemas.openxmlformats.org/drawingml/2006/main">
              <a:ext uri="{FF2B5EF4-FFF2-40B4-BE49-F238E27FC236}">
                <a16:creationId xmlns:a16="http://schemas.microsoft.com/office/drawing/2014/main" id="{78854BF8-9CA5-4B41-A619-E3AA073CE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6245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06  Sentry</a:t>
            </a:r>
          </a:p>
        </p:txBody>
      </p:sp>
      <p:sp>
        <p:nvSpPr>
          <p:cNvPr id="12" name="Section description 5">
            <a:extLst xmlns:a="http://schemas.openxmlformats.org/drawingml/2006/main">
              <a:ext uri="{FF2B5EF4-FFF2-40B4-BE49-F238E27FC236}">
                <a16:creationId xmlns:a16="http://schemas.microsoft.com/office/drawing/2014/main" id="{F4A61600-FFB2-418B-81EB-BA73E664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76250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Turn production issues into the next regression check.</a:t>
            </a:r>
          </a:p>
        </p:txBody>
      </p:sp>
      <p:sp>
        <p:nvSpPr>
          <p:cNvPr id="13" name="Title">
            <a:extLst xmlns:a="http://schemas.openxmlformats.org/drawingml/2006/main">
              <a:ext uri="{FF2B5EF4-FFF2-40B4-BE49-F238E27FC236}">
                <a16:creationId xmlns:a16="http://schemas.microsoft.com/office/drawing/2014/main" id="{B11E7D66-9479-42A1-A9C9-95C190EC3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143500"/>
            <a:ext cx="914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3450" b="0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07  Delivery</a:t>
            </a:r>
          </a:p>
        </p:txBody>
      </p:sp>
      <p:sp>
        <p:nvSpPr>
          <p:cNvPr id="14" name="Section description 6">
            <a:extLst xmlns:a="http://schemas.openxmlformats.org/drawingml/2006/main">
              <a:ext uri="{FF2B5EF4-FFF2-40B4-BE49-F238E27FC236}">
                <a16:creationId xmlns:a16="http://schemas.microsoft.com/office/drawing/2014/main" id="{C0E0C4DF-4DA5-408C-A6CC-34DBCEC1E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667375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Ship small changes. Activate features separately.</a:t>
            </a:r>
          </a:p>
        </p:txBody>
      </p:sp>
      <p:sp>
        <p:nvSpPr>
          <p:cNvPr id="15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B3186662-16F9-4570-847F-7504094DE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005169478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">
            <a:extLst xmlns:a="http://schemas.openxmlformats.org/drawingml/2006/main">
              <a:ext uri="{FF2B5EF4-FFF2-40B4-BE49-F238E27FC236}">
                <a16:creationId xmlns:a16="http://schemas.microsoft.com/office/drawing/2014/main" id="{72A6ED65-8CDC-4AEE-B668-F621B2A05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Canary builds and nightly betas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6019C45D-214C-4B14-A3E8-57F328A44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TestFlight for iOS. Test builds for Android.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42B37AD4-05B9-4A4B-97B2-2A9AC33A3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7650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After each PR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1E795AC6-EAE3-42D7-A3CA-AEDB694AC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7650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 canary build to try the change.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597D0EB4-72ED-40F0-850F-308C56FD3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9090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Every night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409FC3FF-599C-4F71-B747-6E4EFE37C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9090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An automated beta build for testing.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0CFB49A0-3E6D-4B7A-95E8-41E51D2D8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0530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Side by side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7C3AE15C-39E8-4DDD-8FA1-27BDAB11E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30530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Install canary beside the normal app. Compare before and after.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00785CAC-C902-4B82-8161-C27CCF1EB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1970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Clear test instructions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8B0FFF2F-F86C-47E6-AE96-0165FB8E6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21970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Generated TestFlight notes explain what changed and what to test.</a:t>
            </a:r>
          </a:p>
        </p:txBody>
      </p:sp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631DE450-A017-4C00-AF90-459B1FB6A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01838923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8B1CB38E-1586-4020-ACAA-D277E7154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Release the code. Approve the flag.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6600903E-8CDE-4B09-94F5-8D656B400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Small changes ship behind feature flags.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1D2A7302-1822-448B-9899-1391BF0BF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Small increments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1AB5E5B9-B6A0-4F04-AE9D-AA9CFDE41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Keep unfinished features hidden behind a flag.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8A59A8D5-A028-4245-817E-ED7CD2295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38575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Seamless releases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C95FCDD7-73A0-4F6E-93E3-3AA10A927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3857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Release verified code without the feature sign-off queue.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B6607407-BBD4-4450-97AA-8773BA118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015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Focused approval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B5135DB4-5FB7-4B84-AA3C-FBDEE4F2A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01015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Approve activating the feature when it is ready.</a:t>
            </a:r>
          </a:p>
        </p:txBody>
      </p:sp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7B1AE42C-43B8-49F3-A223-1A0A5F6A5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81138110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8860B78B-ACDC-4D91-8F59-A6AEC61B9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The development rhythm changed</a:t>
            </a:r>
          </a:p>
        </p:txBody>
      </p:sp>
      <p:graphicFrame>
        <p:nvGraphicFramePr>
          <p:cNvPr id="8" name="Chart"/>
          <p:cNvGraphicFramePr/>
          <p:nvPr/>
        </p:nvGraphicFramePr>
        <p:xfrm>
          <a:off xmlns:a="http://schemas.openxmlformats.org/drawingml/2006/main" x="723900" y="2381250"/>
          <a:ext xmlns:a="http://schemas.openxmlformats.org/drawingml/2006/main" cx="10744200" cy="31813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234f1675b444451"/>
          </a:graphicData>
        </a:graphic>
      </p:graphicFrame>
      <p:sp>
        <p:nvSpPr>
          <p:cNvPr id="3" name="April month marker">
            <a:extLst xmlns:a="http://schemas.openxmlformats.org/drawingml/2006/main">
              <a:ext uri="{FF2B5EF4-FFF2-40B4-BE49-F238E27FC236}">
                <a16:creationId xmlns:a16="http://schemas.microsoft.com/office/drawing/2014/main" id="{25CA7CDB-6268-4DDA-8480-91A17E29D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381250"/>
            <a:ext cx="0" cy="2800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65F65"/>
            </a:solidFill>
            <a:prstDash val="dash"/>
          </a:ln>
        </p:spPr>
      </p:sp>
      <p:sp>
        <p:nvSpPr>
          <p:cNvPr id="4" name="April joining context">
            <a:extLst xmlns:a="http://schemas.openxmlformats.org/drawingml/2006/main">
              <a:ext uri="{FF2B5EF4-FFF2-40B4-BE49-F238E27FC236}">
                <a16:creationId xmlns:a16="http://schemas.microsoft.com/office/drawing/2014/main" id="{9D383EF5-99AE-48FD-B9B0-7946DCB07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Joined in April 2026</a:t>
            </a:r>
          </a:p>
        </p:txBody>
      </p:sp>
      <p:sp>
        <p:nvSpPr>
          <p:cNvPr id="5" name="Methodology">
            <a:extLst xmlns:a="http://schemas.openxmlformats.org/drawingml/2006/main">
              <a:ext uri="{FF2B5EF4-FFF2-40B4-BE49-F238E27FC236}">
                <a16:creationId xmlns:a16="http://schemas.microsoft.com/office/drawing/2014/main" id="{0D2B0809-1540-4554-9CFD-B05B12576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2026 app and design-system PRs across two repositories. Activity, not productivity.</a:t>
            </a:r>
          </a:p>
        </p:txBody>
      </p:sp>
      <p:sp>
        <p:nvSpPr>
          <p:cNvPr id="6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60975BFC-07F3-4FBA-ADFD-70A8DEB24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8769285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5D7360A5-21B1-48DB-B3A0-97008AEEB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There’s another talk in what we left out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F442DE67-679A-41DE-88FD-0FA9560B3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A few months of change, while learning the team, codebase and business.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650D5F58-04B7-4D3C-AF42-7E9DB6C2F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The design system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66D5EED1-CAAD-4954-BEB9-3F2E89342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Shared UI and a consistent quality bar.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87313970-F288-4C7F-BCCD-33DF6635A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38575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The monorepo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AFF863E2-21CC-4C22-85C9-D8BEF510D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3857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Shared code and coordinated changes.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2B2AC683-31E7-47E9-AE11-67D075C56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015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Ways of working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4A21D41D-3259-496B-89A9-BDC3733E0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01015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Onboarding, ownership and the wider engineering process.</a:t>
            </a:r>
          </a:p>
        </p:txBody>
      </p:sp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3012F3F6-E6AB-4790-8B5C-0FA413D6D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733908757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">
            <a:extLst xmlns:a="http://schemas.openxmlformats.org/drawingml/2006/main">
              <a:ext uri="{FF2B5EF4-FFF2-40B4-BE49-F238E27FC236}">
                <a16:creationId xmlns:a16="http://schemas.microsoft.com/office/drawing/2014/main" id="{9A3406B3-AD1A-4289-AFE7-FE2C26790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What I’d take into another team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94174E89-BDB1-407B-868D-B76C72C67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550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Find the bottleneck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118EE328-B280-4F12-8F26-836A9683F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9550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Start where repeated work slows delivery.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E7F685AF-0167-47A6-9FE1-24C6C1F62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0990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Write down the bar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B805E832-2EAC-446A-9041-A5598E0B6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0990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Make quality expectations clear to people and AI.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F0BB1937-1332-4723-8CBA-D11ECCAC8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2430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Close the feedback loop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AA20175A-2148-45A7-82B4-0D82F5C41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Connect checks, evidence and fixes.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D03EBD0F-AFDD-4E8A-8B3A-1AA0DB633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3870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Adapt the rollout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4654BBCB-3D55-4BDC-9772-BE7238B81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83870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Choose tools and release rules that fit your team.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C91A9679-6D58-4E6A-ADA8-464070A46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67425"/>
            <a:ext cx="1057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Keep the principles. Adapt the implementation.</a:t>
            </a:r>
          </a:p>
        </p:txBody>
      </p:sp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A67DC86E-DEB4-4114-A72B-73D5311AD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124122595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itle">
            <a:extLst xmlns:a="http://schemas.openxmlformats.org/drawingml/2006/main">
              <a:ext uri="{FF2B5EF4-FFF2-40B4-BE49-F238E27FC236}">
                <a16:creationId xmlns:a16="http://schemas.microsoft.com/office/drawing/2014/main" id="{FC5120DF-6BC1-401E-983E-967DA5120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Confidence, built into development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4E54C2FB-85F5-4D5F-85B2-965A026BD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Verification belongs inside everyday development.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1AE7410D-8C66-4B03-A150-E5E598890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765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Skills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2B1C6811-DB8F-4789-9E5D-5BA5C84C5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76500"/>
            <a:ext cx="714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Repeat good habits and engineering standards.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EFB76CC2-EF60-4FB0-8C79-1F263A53B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Testing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A526BA95-6364-4AB2-B745-93111EC95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933700"/>
            <a:ext cx="714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Protect behaviour with meaningful regression checks.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FB5410D9-0230-4611-BFAB-E3760D7F0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909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CI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C2B7C7AC-4F04-4043-8A4A-8D863EEC8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90900"/>
            <a:ext cx="714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Check every PR. Block failures until fixed.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C2CB19C6-D0DC-411E-8280-CC48D67D7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Device verification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BDB9F568-F94B-462A-BCC7-C93DB0B97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48100"/>
            <a:ext cx="714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Maestro smoke and nightly checks. Videos and logs.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0DE59E44-EAEA-4EFF-8371-0FEF491CE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053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AI reviewers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FD89793C-A376-4E7E-8F62-712703235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305300"/>
            <a:ext cx="714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Shared mobile guidelines. Feedback evaluated and fixed.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A0108D4C-22FB-4BC6-BAB9-5047023C8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625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Sentry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2E529090-5D97-49B0-ACB6-32668E5D7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62500"/>
            <a:ext cx="714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Turn production issues into regression checks.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925986DB-7259-4366-9F6B-3D515D564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197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Delivery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CABACC58-D843-433E-814E-FAECBFB52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219700"/>
            <a:ext cx="714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Canary per PR. Nightly beta. Feature flags.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9DE62BE7-B25F-49AD-B35C-3514BF98A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Less repetitive QA. More confidence. Faster delivery.</a:t>
            </a:r>
          </a:p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John Adib · MrAdib.com</a:t>
            </a:r>
          </a:p>
        </p:txBody>
      </p:sp>
      <p:sp>
        <p:nvSpPr>
          <p:cNvPr id="18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A344E1AD-82E5-4370-8666-CD842936F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164574028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2026-10-05T00:02:59.6780000Z</dcterms:created>
  <dcterms:modified xsi:type="dcterms:W3CDTF">2026-10-05T00:02:59.6780000Z</dcterms:modified>
</coreProperties>
</file>