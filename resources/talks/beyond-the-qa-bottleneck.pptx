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slides/charts/chart1.xml" ContentType="application/vnd.openxmlformats-officedocument.drawingml.chart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slides/charts/chart2.xml" ContentType="application/vnd.openxmlformats-officedocument.drawingml.chart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slides/charts/chart3.xml" ContentType="application/vnd.openxmlformats-officedocument.drawingml.chart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slides/charts/chart4.xml" ContentType="application/vnd.openxmlformats-officedocument.drawingml.chart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78a536039e54c6c" /><Relationship Type="http://schemas.openxmlformats.org/officeDocument/2006/relationships/extended-properties" Target="/docProps/app.xml" Id="Rc4c7390c20924b1f" /><Relationship Type="http://schemas.openxmlformats.org/officeDocument/2006/relationships/officeDocument" Target="/ppt/presentation.xml" Id="R790af6ed2a97496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24fad4136eb49b9"/>
  </p:sldMasterIdLst>
  <p:notesMasterIdLst>
    <p:notesMasterId xmlns:r="http://schemas.openxmlformats.org/officeDocument/2006/relationships" r:id="Rf6cbdd3258ae450e"/>
  </p:notesMasterIdLst>
  <p:sldIdLst>
    <p:sldId xmlns:r="http://schemas.openxmlformats.org/officeDocument/2006/relationships" id="256" r:id="R258ca32e915e4eb4"/>
    <p:sldId xmlns:r="http://schemas.openxmlformats.org/officeDocument/2006/relationships" id="257" r:id="R397d907a106c4405"/>
    <p:sldId xmlns:r="http://schemas.openxmlformats.org/officeDocument/2006/relationships" id="258" r:id="Ra621ff7fbdfe4ed6"/>
    <p:sldId xmlns:r="http://schemas.openxmlformats.org/officeDocument/2006/relationships" id="259" r:id="Rc096beb805194c4e"/>
    <p:sldId xmlns:r="http://schemas.openxmlformats.org/officeDocument/2006/relationships" id="260" r:id="Ra592c6cf1521470d"/>
    <p:sldId xmlns:r="http://schemas.openxmlformats.org/officeDocument/2006/relationships" id="261" r:id="Ra6efb85d75ff4ac2"/>
    <p:sldId xmlns:r="http://schemas.openxmlformats.org/officeDocument/2006/relationships" id="262" r:id="Rd8d388fc87c1472b"/>
    <p:sldId xmlns:r="http://schemas.openxmlformats.org/officeDocument/2006/relationships" id="263" r:id="R4cb7afad5127477e"/>
    <p:sldId xmlns:r="http://schemas.openxmlformats.org/officeDocument/2006/relationships" id="264" r:id="R983ef58bfd484c56"/>
    <p:sldId xmlns:r="http://schemas.openxmlformats.org/officeDocument/2006/relationships" id="265" r:id="R40f62009a9f0414b"/>
    <p:sldId xmlns:r="http://schemas.openxmlformats.org/officeDocument/2006/relationships" id="266" r:id="R1916cd2aed594e3c"/>
    <p:sldId xmlns:r="http://schemas.openxmlformats.org/officeDocument/2006/relationships" id="267" r:id="Re1e176cf45a748b6"/>
    <p:sldId xmlns:r="http://schemas.openxmlformats.org/officeDocument/2006/relationships" id="268" r:id="Rfe371b7b7a134a93"/>
    <p:sldId xmlns:r="http://schemas.openxmlformats.org/officeDocument/2006/relationships" id="269" r:id="R4d5b43d1b2bb4722"/>
    <p:sldId xmlns:r="http://schemas.openxmlformats.org/officeDocument/2006/relationships" id="270" r:id="Raa9f1cc7b6874f56"/>
    <p:sldId xmlns:r="http://schemas.openxmlformats.org/officeDocument/2006/relationships" id="271" r:id="Ref618978a2ad459f"/>
    <p:sldId xmlns:r="http://schemas.openxmlformats.org/officeDocument/2006/relationships" id="272" r:id="R49e420575356445a"/>
    <p:sldId xmlns:r="http://schemas.openxmlformats.org/officeDocument/2006/relationships" id="273" r:id="R6c39d34a01834aa8"/>
    <p:sldId xmlns:r="http://schemas.openxmlformats.org/officeDocument/2006/relationships" id="274" r:id="Re734c665095a4464"/>
    <p:sldId xmlns:r="http://schemas.openxmlformats.org/officeDocument/2006/relationships" id="275" r:id="R6c9350e64dc34e24"/>
    <p:sldId xmlns:r="http://schemas.openxmlformats.org/officeDocument/2006/relationships" id="276" r:id="R1085c8e73ace4825"/>
    <p:sldId xmlns:r="http://schemas.openxmlformats.org/officeDocument/2006/relationships" id="277" r:id="R66641f7e7a3d4849"/>
    <p:sldId xmlns:r="http://schemas.openxmlformats.org/officeDocument/2006/relationships" id="278" r:id="R35abdc4a6e154efb"/>
    <p:sldId xmlns:r="http://schemas.openxmlformats.org/officeDocument/2006/relationships" id="279" r:id="R1b93426069f04ebb"/>
    <p:sldId xmlns:r="http://schemas.openxmlformats.org/officeDocument/2006/relationships" id="280" r:id="R6c0db11951df4833"/>
    <p:sldId xmlns:r="http://schemas.openxmlformats.org/officeDocument/2006/relationships" id="281" r:id="R86734a5ad46e427a"/>
    <p:sldId xmlns:r="http://schemas.openxmlformats.org/officeDocument/2006/relationships" id="282" r:id="Rdc7104b1429f4df7"/>
    <p:sldId xmlns:r="http://schemas.openxmlformats.org/officeDocument/2006/relationships" id="283" r:id="R73755d312f3b452b"/>
    <p:sldId xmlns:r="http://schemas.openxmlformats.org/officeDocument/2006/relationships" id="284" r:id="R92f0fab575014af5"/>
    <p:sldId xmlns:r="http://schemas.openxmlformats.org/officeDocument/2006/relationships" id="285" r:id="Rb7e24c2bda4b4c54"/>
    <p:sldId xmlns:r="http://schemas.openxmlformats.org/officeDocument/2006/relationships" id="286" r:id="Re20233323cf54d35"/>
    <p:sldId xmlns:r="http://schemas.openxmlformats.org/officeDocument/2006/relationships" id="287" r:id="Rb8a4d23628614597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fed38d5ccb24241" /><Relationship Type="http://schemas.openxmlformats.org/officeDocument/2006/relationships/slideMaster" Target="/ppt/slideMasters/slideMaster1.xml" Id="R724fad4136eb49b9" /><Relationship Type="http://schemas.openxmlformats.org/officeDocument/2006/relationships/notesMaster" Target="/ppt/notesMasters/notesMaster1.xml" Id="Rf6cbdd3258ae450e" /><Relationship Type="http://schemas.openxmlformats.org/officeDocument/2006/relationships/presProps" Target="/ppt/presProps.xml" Id="R7fb56f1f72b24022" /><Relationship Type="http://schemas.openxmlformats.org/officeDocument/2006/relationships/tableStyles" Target="/ppt/tableStyles.xml" Id="Rb5734234e8664cdc" /><Relationship Type="http://schemas.openxmlformats.org/officeDocument/2006/relationships/slide" Target="/ppt/slides/slide1.xml" Id="R258ca32e915e4eb4" /><Relationship Type="http://schemas.openxmlformats.org/officeDocument/2006/relationships/slide" Target="/ppt/slides/slide2.xml" Id="R397d907a106c4405" /><Relationship Type="http://schemas.openxmlformats.org/officeDocument/2006/relationships/slide" Target="/ppt/slides/slide3.xml" Id="Ra621ff7fbdfe4ed6" /><Relationship Type="http://schemas.openxmlformats.org/officeDocument/2006/relationships/slide" Target="/ppt/slides/slide4.xml" Id="Rc096beb805194c4e" /><Relationship Type="http://schemas.openxmlformats.org/officeDocument/2006/relationships/slide" Target="/ppt/slides/slide5.xml" Id="Ra592c6cf1521470d" /><Relationship Type="http://schemas.openxmlformats.org/officeDocument/2006/relationships/slide" Target="/ppt/slides/slide6.xml" Id="Ra6efb85d75ff4ac2" /><Relationship Type="http://schemas.openxmlformats.org/officeDocument/2006/relationships/slide" Target="/ppt/slides/slide7.xml" Id="Rd8d388fc87c1472b" /><Relationship Type="http://schemas.openxmlformats.org/officeDocument/2006/relationships/slide" Target="/ppt/slides/slide8.xml" Id="R4cb7afad5127477e" /><Relationship Type="http://schemas.openxmlformats.org/officeDocument/2006/relationships/slide" Target="/ppt/slides/slide9.xml" Id="R983ef58bfd484c56" /><Relationship Type="http://schemas.openxmlformats.org/officeDocument/2006/relationships/slide" Target="/ppt/slides/slide10.xml" Id="R40f62009a9f0414b" /><Relationship Type="http://schemas.openxmlformats.org/officeDocument/2006/relationships/slide" Target="/ppt/slides/slide11.xml" Id="R1916cd2aed594e3c" /><Relationship Type="http://schemas.openxmlformats.org/officeDocument/2006/relationships/slide" Target="/ppt/slides/slide12.xml" Id="Re1e176cf45a748b6" /><Relationship Type="http://schemas.openxmlformats.org/officeDocument/2006/relationships/slide" Target="/ppt/slides/slide13.xml" Id="Rfe371b7b7a134a93" /><Relationship Type="http://schemas.openxmlformats.org/officeDocument/2006/relationships/slide" Target="/ppt/slides/slide14.xml" Id="R4d5b43d1b2bb4722" /><Relationship Type="http://schemas.openxmlformats.org/officeDocument/2006/relationships/slide" Target="/ppt/slides/slide15.xml" Id="Raa9f1cc7b6874f56" /><Relationship Type="http://schemas.openxmlformats.org/officeDocument/2006/relationships/slide" Target="/ppt/slides/slide16.xml" Id="Ref618978a2ad459f" /><Relationship Type="http://schemas.openxmlformats.org/officeDocument/2006/relationships/slide" Target="/ppt/slides/slide17.xml" Id="R49e420575356445a" /><Relationship Type="http://schemas.openxmlformats.org/officeDocument/2006/relationships/slide" Target="/ppt/slides/slide18.xml" Id="R6c39d34a01834aa8" /><Relationship Type="http://schemas.openxmlformats.org/officeDocument/2006/relationships/slide" Target="/ppt/slides/slide19.xml" Id="Re734c665095a4464" /><Relationship Type="http://schemas.openxmlformats.org/officeDocument/2006/relationships/slide" Target="/ppt/slides/slide20.xml" Id="R6c9350e64dc34e24" /><Relationship Type="http://schemas.openxmlformats.org/officeDocument/2006/relationships/slide" Target="/ppt/slides/slide21.xml" Id="R1085c8e73ace4825" /><Relationship Type="http://schemas.openxmlformats.org/officeDocument/2006/relationships/slide" Target="/ppt/slides/slide22.xml" Id="R66641f7e7a3d4849" /><Relationship Type="http://schemas.openxmlformats.org/officeDocument/2006/relationships/slide" Target="/ppt/slides/slide23.xml" Id="R35abdc4a6e154efb" /><Relationship Type="http://schemas.openxmlformats.org/officeDocument/2006/relationships/slide" Target="/ppt/slides/slide24.xml" Id="R1b93426069f04ebb" /><Relationship Type="http://schemas.openxmlformats.org/officeDocument/2006/relationships/slide" Target="/ppt/slides/slide25.xml" Id="R6c0db11951df4833" /><Relationship Type="http://schemas.openxmlformats.org/officeDocument/2006/relationships/slide" Target="/ppt/slides/slide26.xml" Id="R86734a5ad46e427a" /><Relationship Type="http://schemas.openxmlformats.org/officeDocument/2006/relationships/slide" Target="/ppt/slides/slide27.xml" Id="Rdc7104b1429f4df7" /><Relationship Type="http://schemas.openxmlformats.org/officeDocument/2006/relationships/slide" Target="/ppt/slides/slide28.xml" Id="R73755d312f3b452b" /><Relationship Type="http://schemas.openxmlformats.org/officeDocument/2006/relationships/slide" Target="/ppt/slides/slide29.xml" Id="R92f0fab575014af5" /><Relationship Type="http://schemas.openxmlformats.org/officeDocument/2006/relationships/slide" Target="/ppt/slides/slide30.xml" Id="Rb7e24c2bda4b4c54" /><Relationship Type="http://schemas.openxmlformats.org/officeDocument/2006/relationships/slide" Target="/ppt/slides/slide31.xml" Id="Re20233323cf54d35" /><Relationship Type="http://schemas.openxmlformats.org/officeDocument/2006/relationships/slide" Target="/ppt/slides/slide32.xml" Id="Rb8a4d2362861459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39a2dea997e4e9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0baa52900944a1e" /><Relationship Type="http://schemas.openxmlformats.org/officeDocument/2006/relationships/notesMaster" Target="/ppt/notesMasters/notesMaster1.xml" Id="Rc376db75148048a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6a2fcaba1e84e0b" /><Relationship Type="http://schemas.openxmlformats.org/officeDocument/2006/relationships/notesMaster" Target="/ppt/notesMasters/notesMaster1.xml" Id="R8d57fd5e53854e5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a84b092764c415e" /><Relationship Type="http://schemas.openxmlformats.org/officeDocument/2006/relationships/notesMaster" Target="/ppt/notesMasters/notesMaster1.xml" Id="R35ab9556a5884cc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e8b80069c1344bb" /><Relationship Type="http://schemas.openxmlformats.org/officeDocument/2006/relationships/notesMaster" Target="/ppt/notesMasters/notesMaster1.xml" Id="Rd168ce217a5749d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d1eadff69704a44" /><Relationship Type="http://schemas.openxmlformats.org/officeDocument/2006/relationships/notesMaster" Target="/ppt/notesMasters/notesMaster1.xml" Id="R2a5480614caa41d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1578f84c6a34e91" /><Relationship Type="http://schemas.openxmlformats.org/officeDocument/2006/relationships/notesMaster" Target="/ppt/notesMasters/notesMaster1.xml" Id="Rb22af88ff52f48a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170562da90c6432f" /><Relationship Type="http://schemas.openxmlformats.org/officeDocument/2006/relationships/notesMaster" Target="/ppt/notesMasters/notesMaster1.xml" Id="R88a40ef20c734754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9091190d73344683" /><Relationship Type="http://schemas.openxmlformats.org/officeDocument/2006/relationships/notesMaster" Target="/ppt/notesMasters/notesMaster1.xml" Id="R279a9fb4e0914b72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0c9a4416e4284583" /><Relationship Type="http://schemas.openxmlformats.org/officeDocument/2006/relationships/notesMaster" Target="/ppt/notesMasters/notesMaster1.xml" Id="Redf900573f174f97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3c7ddd2c22e547dc" /><Relationship Type="http://schemas.openxmlformats.org/officeDocument/2006/relationships/notesMaster" Target="/ppt/notesMasters/notesMaster1.xml" Id="Rf052e7d44d8e4d56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063160ee70b24514" /><Relationship Type="http://schemas.openxmlformats.org/officeDocument/2006/relationships/notesMaster" Target="/ppt/notesMasters/notesMaster1.xml" Id="R22fa39b4b76342a5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a29eaa8f69ca41b9" /><Relationship Type="http://schemas.openxmlformats.org/officeDocument/2006/relationships/notesMaster" Target="/ppt/notesMasters/notesMaster1.xml" Id="R518f099b45e44d0d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b6294d5889054bcd" /><Relationship Type="http://schemas.openxmlformats.org/officeDocument/2006/relationships/notesMaster" Target="/ppt/notesMasters/notesMaster1.xml" Id="Rb9ccd37ad9ec4e19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7262e0a0d9964058" /><Relationship Type="http://schemas.openxmlformats.org/officeDocument/2006/relationships/notesMaster" Target="/ppt/notesMasters/notesMaster1.xml" Id="R74faabf49fb94b43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a6743476623d4ae2" /><Relationship Type="http://schemas.openxmlformats.org/officeDocument/2006/relationships/notesMaster" Target="/ppt/notesMasters/notesMaster1.xml" Id="Rfcc0057619c64337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4fc32926aead4612" /><Relationship Type="http://schemas.openxmlformats.org/officeDocument/2006/relationships/notesMaster" Target="/ppt/notesMasters/notesMaster1.xml" Id="Rbbb556d7f63f4c0c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3a51bc189ccd4fd1" /><Relationship Type="http://schemas.openxmlformats.org/officeDocument/2006/relationships/notesMaster" Target="/ppt/notesMasters/notesMaster1.xml" Id="Rd7c7474b206c4a86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803984209f154a3f" /><Relationship Type="http://schemas.openxmlformats.org/officeDocument/2006/relationships/notesMaster" Target="/ppt/notesMasters/notesMaster1.xml" Id="R37028d2f978341be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a6d19e03b99b4f88" /><Relationship Type="http://schemas.openxmlformats.org/officeDocument/2006/relationships/notesMaster" Target="/ppt/notesMasters/notesMaster1.xml" Id="R424d469fe5f344eb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b6d3cec71f1243f0" /><Relationship Type="http://schemas.openxmlformats.org/officeDocument/2006/relationships/notesMaster" Target="/ppt/notesMasters/notesMaster1.xml" Id="R88b9cd849a8d4256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6cfabb5cd3674c17" /><Relationship Type="http://schemas.openxmlformats.org/officeDocument/2006/relationships/notesMaster" Target="/ppt/notesMasters/notesMaster1.xml" Id="R57ceddf6a6354565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91f289736b7b4a20" /><Relationship Type="http://schemas.openxmlformats.org/officeDocument/2006/relationships/notesMaster" Target="/ppt/notesMasters/notesMaster1.xml" Id="R768cc02741e149e6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a4175dd23a6b4ea6" /><Relationship Type="http://schemas.openxmlformats.org/officeDocument/2006/relationships/notesMaster" Target="/ppt/notesMasters/notesMaster1.xml" Id="Rf1dc66132ace4f45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914898f1499f46ec" /><Relationship Type="http://schemas.openxmlformats.org/officeDocument/2006/relationships/notesMaster" Target="/ppt/notesMasters/notesMaster1.xml" Id="R9dcffabb0ad4447a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c25d5f3b8646473e" /><Relationship Type="http://schemas.openxmlformats.org/officeDocument/2006/relationships/notesMaster" Target="/ppt/notesMasters/notesMaster1.xml" Id="R5bd53de98d71419e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8c2bdd03d34f4b02" /><Relationship Type="http://schemas.openxmlformats.org/officeDocument/2006/relationships/notesMaster" Target="/ppt/notesMasters/notesMaster1.xml" Id="R26a0f75c347f476a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5b29df4895cb45aa" /><Relationship Type="http://schemas.openxmlformats.org/officeDocument/2006/relationships/notesMaster" Target="/ppt/notesMasters/notesMaster1.xml" Id="Rf66d7eda8afa4b29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8cfb2288b1854d00" /><Relationship Type="http://schemas.openxmlformats.org/officeDocument/2006/relationships/notesMaster" Target="/ppt/notesMasters/notesMaster1.xml" Id="R8061431084d04a46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1d39d36859c24e4d" /><Relationship Type="http://schemas.openxmlformats.org/officeDocument/2006/relationships/notesMaster" Target="/ppt/notesMasters/notesMaster1.xml" Id="R9d0505f541dd4a5d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644f1ead06ed4744" /><Relationship Type="http://schemas.openxmlformats.org/officeDocument/2006/relationships/notesMaster" Target="/ppt/notesMasters/notesMaster1.xml" Id="R34b9375aa28d49f6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3465ce31b3d440b0" /><Relationship Type="http://schemas.openxmlformats.org/officeDocument/2006/relationships/notesMaster" Target="/ppt/notesMasters/notesMaster1.xml" Id="Rf8c81c64df0947d5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5e07ca5a766e4144" /><Relationship Type="http://schemas.openxmlformats.org/officeDocument/2006/relationships/notesMaster" Target="/ppt/notesMasters/notesMaster1.xml" Id="R109131c0caa04c1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Code finished. Confidence missing.</a:t>
            </a:r>
          </a:p>
          <a:p xmlns:a="http://schemas.openxmlformats.org/drawingml/2006/main">
            <a:r>
              <a:t>• React Native + AI adoption</a:t>
            </a:r>
          </a:p>
          <a:p xmlns:a="http://schemas.openxmlformats.org/drawingml/2006/main">
            <a:r>
              <a:t>• Verification inside everyday development</a:t>
            </a:r>
          </a:p>
          <a:p xmlns:a="http://schemas.openxmlformats.org/drawingml/2006/main">
            <a:r>
              <a:t>• John Adib · MrAdib.com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Regressions every release</a:t>
            </a:r>
          </a:p>
          <a:p xmlns:a="http://schemas.openxmlformats.org/drawingml/2006/main">
            <a:r>
              <a:t>• Previously checked behaviour breaks again</a:t>
            </a:r>
          </a:p>
          <a:p xmlns:a="http://schemas.openxmlformats.org/drawingml/2006/main">
            <a:r>
              <a:t>• Repeated work. Falling confidence.</a:t>
            </a:r>
          </a:p>
          <a:p xmlns:a="http://schemas.openxmlformats.org/drawingml/2006/main">
            <a:r>
              <a:t>• First-hand experience, not an incident-rate metric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Small unit-test suite</a:t>
            </a:r>
          </a:p>
          <a:p xmlns:a="http://schemas.openxmlformats.org/drawingml/2006/main">
            <a:r>
              <a:t>• End-to-end checks outside CI</a:t>
            </a:r>
          </a:p>
          <a:p xmlns:a="http://schemas.openxmlformats.org/drawingml/2006/main">
            <a:r>
              <a:t>• Nobody ran them</a:t>
            </a:r>
          </a:p>
          <a:p xmlns:a="http://schemas.openxmlformats.org/drawingml/2006/main">
            <a:r>
              <a:t>• Files existed. Reliable feedback did not.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More than three days of app QA</a:t>
            </a:r>
          </a:p>
          <a:p xmlns:a="http://schemas.openxmlformats.org/drawingml/2006/main">
            <a:r>
              <a:t>• Engineering, product, UX/design</a:t>
            </a:r>
          </a:p>
          <a:p xmlns:a="http://schemas.openxmlformats.org/drawingml/2006/main">
            <a:r>
              <a:t>• Many people pause their own work</a:t>
            </a:r>
          </a:p>
          <a:p xmlns:a="http://schemas.openxmlformats.org/drawingml/2006/main">
            <a:r>
              <a:t>• The cost: interrupted progress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Days waiting for approval</a:t>
            </a:r>
          </a:p>
          <a:p xmlns:a="http://schemas.openxmlformats.org/drawingml/2006/main">
            <a:r>
              <a:t>• Sign-off chain holds the whole release</a:t>
            </a:r>
          </a:p>
          <a:p xmlns:a="http://schemas.openxmlformats.org/drawingml/2006/main">
            <a:r>
              <a:t>• One feature delays other work</a:t>
            </a:r>
          </a:p>
          <a:p xmlns:a="http://schemas.openxmlformats.org/drawingml/2006/main">
            <a:r>
              <a:t>• Later: approve the feature flag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Existing projects delayed over a quarter</a:t>
            </a:r>
          </a:p>
          <a:p xmlns:a="http://schemas.openxmlformats.org/drawingml/2006/main">
            <a:r>
              <a:t>• Regression work + slow QA + release queues</a:t>
            </a:r>
          </a:p>
          <a:p xmlns:a="http://schemas.openxmlformats.org/drawingml/2006/main">
            <a:r>
              <a:t>• Backlog uncertainty</a:t>
            </a:r>
          </a:p>
          <a:p xmlns:a="http://schemas.openxmlformats.org/drawingml/2006/main">
            <a:r>
              <a:t>• Process problem, not individual blame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John Adib · London</a:t>
            </a:r>
          </a:p>
          <a:p xmlns:a="http://schemas.openxmlformats.org/drawingml/2006/main">
            <a:r>
              <a:t>• 2× co-founder. Former CTO. 18 years.</a:t>
            </a:r>
          </a:p>
          <a:p xmlns:a="http://schemas.openxmlformats.org/drawingml/2006/main">
            <a:r>
              <a:t>• Engineering leader + mentor</a:t>
            </a:r>
          </a:p>
          <a:p xmlns:a="http://schemas.openxmlformats.org/drawingml/2006/main">
            <a:r>
              <a:t>• Product engineering. Broader ownership.</a:t>
            </a:r>
          </a:p>
          <a:p xmlns:a="http://schemas.openxmlformats.org/drawingml/2006/main">
            <a:r>
              <a:t>• I love moving mountains.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Repeat the good engineering habits</a:t>
            </a:r>
          </a:p>
          <a:p xmlns:a="http://schemas.openxmlformats.org/drawingml/2006/main">
            <a:r>
              <a:t>• AI adoption includes verification</a:t>
            </a:r>
          </a:p>
          <a:p xmlns:a="http://schemas.openxmlformats.org/drawingml/2006/main">
            <a:r>
              <a:t>• Seven changes, one development loop</a:t>
            </a:r>
          </a:p>
          <a:p xmlns:a="http://schemas.openxmlformats.org/drawingml/2006/main">
            <a:r>
              <a:t>• First: reusable skills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cook: coordinate; sherlock: discover</a:t>
            </a:r>
          </a:p>
          <a:p xmlns:a="http://schemas.openxmlformats.org/drawingml/2006/main">
            <a:r>
              <a:t>• dig: research; mastermind: plan</a:t>
            </a:r>
          </a:p>
          <a:p xmlns:a="http://schemas.openxmlformats.org/drawingml/2006/main">
            <a:r>
              <a:t>• michelin: implement; mugshot: capture</a:t>
            </a:r>
          </a:p>
          <a:p xmlns:a="http://schemas.openxmlformats.org/drawingml/2006/main">
            <a:r>
              <a:t>• parole: evaluate feedback; saul: communicate</a:t>
            </a:r>
          </a:p>
          <a:p xmlns:a="http://schemas.openxmlformats.org/drawingml/2006/main">
            <a:r>
              <a:t>• One workflow. Focus next on Michelin.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18 years of engineering judgement, written down</a:t>
            </a:r>
          </a:p>
          <a:p xmlns:a="http://schemas.openxmlformats.org/drawingml/2006/main">
            <a:r>
              <a:t>• Reuse: code, components, patterns, tools</a:t>
            </a:r>
          </a:p>
          <a:p xmlns:a="http://schemas.openxmlformats.org/drawingml/2006/main">
            <a:r>
              <a:t>• Separation: UI, state, business decisions</a:t>
            </a:r>
          </a:p>
          <a:p xmlns:a="http://schemas.openxmlformats.org/drawingml/2006/main">
            <a:r>
              <a:t>• Quality: tests, readability, actual check results</a:t>
            </a:r>
          </a:p>
          <a:p xmlns:a="http://schemas.openxmlformats.org/drawingml/2006/main">
            <a:r>
              <a:t>• Shared standards for implementation and review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Next: meaningful tests</a:t>
            </a:r>
          </a:p>
          <a:p xmlns:a="http://schemas.openxmlformats.org/drawingml/2006/main">
            <a:r>
              <a:t>• Expected behaviour + failure case</a:t>
            </a:r>
          </a:p>
          <a:p xmlns:a="http://schemas.openxmlformats.org/drawingml/2006/main">
            <a:r>
              <a:t>• Every correction leaves protection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Before editing: read the testing guidelines</a:t>
            </a:r>
          </a:p>
          <a:p xmlns:a="http://schemas.openxmlformats.org/drawingml/2006/main">
            <a:r>
              <a:t>• New code must include meaningful tests</a:t>
            </a:r>
          </a:p>
          <a:p xmlns:a="http://schemas.openxmlformats.org/drawingml/2006/main">
            <a:r>
              <a:t>• Bug fix: reproduce failure, prove the fix, preserve working behaviour</a:t>
            </a:r>
          </a:p>
          <a:p xmlns:a="http://schemas.openxmlformats.org/drawingml/2006/main">
            <a:r>
              <a:t>• Human-readable test titles help people and AI understand intent</a:t>
            </a:r>
          </a:p>
          <a:p xmlns:a="http://schemas.openxmlformats.org/drawingml/2006/main">
            <a:r>
              <a:t>• Never lower the bar. Raise it gradually.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April: 113 files. September: 1,669 files.</a:t>
            </a:r>
          </a:p>
          <a:p xmlns:a="http://schemas.openxmlformats.org/drawingml/2006/main">
            <a:r>
              <a:t>• Dashed line: joined in April</a:t>
            </a:r>
          </a:p>
          <a:p xmlns:a="http://schemas.openxmlformats.org/drawingml/2006/main">
            <a:r>
              <a:t>• More protection added as the product evolves</a:t>
            </a:r>
          </a:p>
          <a:p xmlns:a="http://schemas.openxmlformats.org/drawingml/2006/main">
            <a:r>
              <a:t>• Same application across a repository move</a:t>
            </a:r>
          </a:p>
          <a:p xmlns:a="http://schemas.openxmlformats.org/drawingml/2006/main">
            <a:r>
              <a:t>• Files can contain many tests. Coverage is a separate measure.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CI on every PR</a:t>
            </a:r>
          </a:p>
          <a:p xmlns:a="http://schemas.openxmlformats.org/drawingml/2006/main">
            <a:r>
              <a:t>• Lint, types, tests and build</a:t>
            </a:r>
          </a:p>
          <a:p xmlns:a="http://schemas.openxmlformats.org/drawingml/2006/main">
            <a:r>
              <a:t>• Failed checks block the pipeline</a:t>
            </a:r>
          </a:p>
          <a:p xmlns:a="http://schemas.openxmlformats.org/drawingml/2006/main">
            <a:r>
              <a:t>• Parole watches results. Michelin makes valid fixes.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Automated CI on every PR</a:t>
            </a:r>
          </a:p>
          <a:p xmlns:a="http://schemas.openxmlformats.org/drawingml/2006/main">
            <a:r>
              <a:t>• Parole continuously checks the results</a:t>
            </a:r>
          </a:p>
          <a:p xmlns:a="http://schemas.openxmlformats.org/drawingml/2006/main">
            <a:r>
              <a:t>• Evaluate the failure and pass valid work to Michelin</a:t>
            </a:r>
          </a:p>
          <a:p xmlns:a="http://schemas.openxmlformats.org/drawingml/2006/main">
            <a:r>
              <a:t>• Michelin fixes, commits and pushes</a:t>
            </a:r>
          </a:p>
          <a:p xmlns:a="http://schemas.openxmlformats.org/drawingml/2006/main">
            <a:r>
              <a:t>• New commit triggers CI and another review. Repeat until clear.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September snapshot: 72% line coverage</a:t>
            </a:r>
          </a:p>
          <a:p xmlns:a="http://schemas.openxmlformats.org/drawingml/2006/main">
            <a:r>
              <a:t>• Coverage means lines executed during tests</a:t>
            </a:r>
          </a:p>
          <a:p xmlns:a="http://schemas.openxmlformats.org/drawingml/2006/main">
            <a:r>
              <a:t>• 1,669 files: month-end repository inventory</a:t>
            </a:r>
          </a:p>
          <a:p xmlns:a="http://schemas.openxmlformats.org/drawingml/2006/main">
            <a:r>
              <a:t>• 1,351 suites and 7,693 individual tests: one CI run</a:t>
            </a:r>
          </a:p>
          <a:p xmlns:a="http://schemas.openxmlformats.org/drawingml/2006/main">
            <a:r>
              <a:t>• Different units and snapshots. No measured zero-coverage baseline.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Maestro, the end-to-end testing tool</a:t>
            </a:r>
          </a:p>
          <a:p xmlns:a="http://schemas.openxmlformats.org/drawingml/2006/main">
            <a:r>
              <a:t>• Android and iOS</a:t>
            </a:r>
          </a:p>
          <a:p xmlns:a="http://schemas.openxmlformats.org/drawingml/2006/main">
            <a:r>
              <a:t>• Smoke checks on every PR</a:t>
            </a:r>
          </a:p>
          <a:p xmlns:a="http://schemas.openxmlformats.org/drawingml/2006/main">
            <a:r>
              <a:t>• Full suite overnight</a:t>
            </a:r>
          </a:p>
          <a:p xmlns:a="http://schemas.openxmlformats.org/drawingml/2006/main">
            <a:r>
              <a:t>• Failed nightly checks block delivery until fixed.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Smoke tests on every PR</a:t>
            </a:r>
          </a:p>
          <a:p xmlns:a="http://schemas.openxmlformats.org/drawingml/2006/main">
            <a:r>
              <a:t>• Full suite nightly on Android and iOS</a:t>
            </a:r>
          </a:p>
          <a:p xmlns:a="http://schemas.openxmlformats.org/drawingml/2006/main">
            <a:r>
              <a:t>• Morning starts with the nightly result</a:t>
            </a:r>
          </a:p>
          <a:p xmlns:a="http://schemas.openxmlformats.org/drawingml/2006/main">
            <a:r>
              <a:t>• A failed run blocks the release pipeline until fixed</a:t>
            </a:r>
          </a:p>
          <a:p xmlns:a="http://schemas.openxmlformats.org/drawingml/2006/main">
            <a:r>
              <a:t>• Maestro video + logs give the AI agent evidence to investigate.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14 YAML files through April; 225 by September</a:t>
            </a:r>
          </a:p>
          <a:p xmlns:a="http://schemas.openxmlformats.org/drawingml/2006/main">
            <a:r>
              <a:t>• Leaf flows + shared setup + suite entrypoints</a:t>
            </a:r>
          </a:p>
          <a:p xmlns:a="http://schemas.openxmlformats.org/drawingml/2006/main">
            <a:r>
              <a:t>• Runnable checks connected to development</a:t>
            </a:r>
          </a:p>
          <a:p xmlns:a="http://schemas.openxmlformats.org/drawingml/2006/main">
            <a:r>
              <a:t>• File counts do not prove journeys or platform coverage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Human review queues took days</a:t>
            </a:r>
          </a:p>
          <a:p xmlns:a="http://schemas.openxmlformats.org/drawingml/2006/main">
            <a:r>
              <a:t>• Three AI reviewers on every PR</a:t>
            </a:r>
          </a:p>
          <a:p xmlns:a="http://schemas.openxmlformats.org/drawingml/2006/main">
            <a:r>
              <a:t>• Custom mobile reviewer runs hourly</a:t>
            </a:r>
          </a:p>
          <a:p xmlns:a="http://schemas.openxmlformats.org/drawingml/2006/main">
            <a:r>
              <a:t>• Repository guidelines provide React Native context</a:t>
            </a:r>
          </a:p>
          <a:p xmlns:a="http://schemas.openxmlformats.org/drawingml/2006/main">
            <a:r>
              <a:t>• Parole’s feedback loop connects this to CI.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CodeRabbit + Qodo Merge + cubic</a:t>
            </a:r>
          </a:p>
          <a:p xmlns:a="http://schemas.openxmlformats.org/drawingml/2006/main">
            <a:r>
              <a:t>• Every PR receives automated feedback</a:t>
            </a:r>
          </a:p>
          <a:p xmlns:a="http://schemas.openxmlformats.org/drawingml/2006/main">
            <a:r>
              <a:t>• Custom Cursor reviewer runs hourly</a:t>
            </a:r>
          </a:p>
          <a:p xmlns:a="http://schemas.openxmlformats.org/drawingml/2006/main">
            <a:r>
              <a:t>• React Native context in the review prompt</a:t>
            </a:r>
          </a:p>
          <a:p xmlns:a="http://schemas.openxmlformats.org/drawingml/2006/main">
            <a:r>
              <a:t>• Different perspectives. Parole evaluates the feedback.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Guidelines committed to the repository</a:t>
            </a:r>
          </a:p>
          <a:p xmlns:a="http://schemas.openxmlformats.org/drawingml/2006/main">
            <a:r>
              <a:t>• React Native + iOS/Android expectations</a:t>
            </a:r>
          </a:p>
          <a:p xmlns:a="http://schemas.openxmlformats.org/drawingml/2006/main">
            <a:r>
              <a:t>• Component reuse, separation of concerns, meaningful tests</a:t>
            </a:r>
          </a:p>
          <a:p xmlns:a="http://schemas.openxmlformats.org/drawingml/2006/main">
            <a:r>
              <a:t>• Reviewers read the same rules used for implementation</a:t>
            </a:r>
          </a:p>
          <a:p xmlns:a="http://schemas.openxmlformats.org/drawingml/2006/main">
            <a:r>
              <a:t>• Explain incorrect feedback. Refine the guidance. No guarantee of catching everything.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Next: Sentry</a:t>
            </a:r>
          </a:p>
          <a:p xmlns:a="http://schemas.openxmlformats.org/drawingml/2006/main">
            <a:r>
              <a:t>• Production feedback returns to development</a:t>
            </a:r>
          </a:p>
          <a:p xmlns:a="http://schemas.openxmlformats.org/drawingml/2006/main">
            <a:r>
              <a:t>• July: systematic error cleanup</a:t>
            </a:r>
          </a:p>
          <a:p xmlns:a="http://schemas.openxmlformats.org/drawingml/2006/main">
            <a:r>
              <a:t>• Prioritise reproducible problems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Investigate context + revision + flags</a:t>
            </a:r>
          </a:p>
          <a:p xmlns:a="http://schemas.openxmlformats.org/drawingml/2006/main">
            <a:r>
              <a:t>• Reproduce before correcting</a:t>
            </a:r>
          </a:p>
          <a:p xmlns:a="http://schemas.openxmlformats.org/drawingml/2006/main">
            <a:r>
              <a:t>• Bounded fix + regression check</a:t>
            </a:r>
          </a:p>
          <a:p xmlns:a="http://schemas.openxmlformats.org/drawingml/2006/main">
            <a:r>
              <a:t>• Return fresh evidence to review</a:t>
            </a:r>
          </a:p>
          <a:p xmlns:a="http://schemas.openxmlformats.org/drawingml/2006/main">
            <a:r>
              <a:t>• Recorded event does not always mean a user crash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86 complete days: 7 July to 30 September</a:t>
            </a:r>
          </a:p>
          <a:p xmlns:a="http://schemas.openxmlformats.org/drawingml/2006/main">
            <a:r>
              <a:t>• Raw daily variation, including September rise</a:t>
            </a:r>
          </a:p>
          <a:p xmlns:a="http://schemas.openxmlformats.org/drawingml/2006/main">
            <a:r>
              <a:t>• All environments; no usage denominator</a:t>
            </a:r>
          </a:p>
          <a:p xmlns:a="http://schemas.openxmlformats.org/drawingml/2006/main">
            <a:r>
              <a:t>• Fixes, filters and sampling affect volume</a:t>
            </a:r>
          </a:p>
          <a:p xmlns:a="http://schemas.openxmlformats.org/drawingml/2006/main">
            <a:r>
              <a:t>• No crash-rate or AI-causality claim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Finally: delivery</a:t>
            </a:r>
          </a:p>
          <a:p xmlns:a="http://schemas.openxmlformats.org/drawingml/2006/main">
            <a:r>
              <a:t>• Small verified changes</a:t>
            </a:r>
          </a:p>
          <a:p xmlns:a="http://schemas.openxmlformats.org/drawingml/2006/main">
            <a:r>
              <a:t>• Feature activation separated from code release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Canary build after every PR</a:t>
            </a:r>
          </a:p>
          <a:p xmlns:a="http://schemas.openxmlformats.org/drawingml/2006/main">
            <a:r>
              <a:t>• Automated nightly beta. iOS TestFlight + Android</a:t>
            </a:r>
          </a:p>
          <a:p xmlns:a="http://schemas.openxmlformats.org/drawingml/2006/main">
            <a:r>
              <a:t>• Separate installs allow before/after comparison</a:t>
            </a:r>
          </a:p>
          <a:p xmlns:a="http://schemas.openxmlformats.org/drawingml/2006/main">
            <a:r>
              <a:t>• Deep links and payment flows need that comparison</a:t>
            </a:r>
          </a:p>
          <a:p xmlns:a="http://schemas.openxmlformats.org/drawingml/2006/main">
            <a:r>
              <a:t>• Skills generate specific TestFlight change notes and testing instructions.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Return to the days-long approval queue</a:t>
            </a:r>
          </a:p>
          <a:p xmlns:a="http://schemas.openxmlformats.org/drawingml/2006/main">
            <a:r>
              <a:t>• Small increments behind feature flags</a:t>
            </a:r>
          </a:p>
          <a:p xmlns:a="http://schemas.openxmlformats.org/drawingml/2006/main">
            <a:r>
              <a:t>• Ship verified code; decide activation separately</a:t>
            </a:r>
          </a:p>
          <a:p xmlns:a="http://schemas.openxmlformats.org/drawingml/2006/main">
            <a:r>
              <a:t>• Check enabled and disabled behaviour</a:t>
            </a:r>
          </a:p>
          <a:p xmlns:a="http://schemas.openxmlformats.org/drawingml/2006/main">
            <a:r>
              <a:t>• Mobile flag needs code in the installed app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September: 188 app/design-system PRs across two repos</a:t>
            </a:r>
          </a:p>
          <a:p xmlns:a="http://schemas.openxmlformats.org/drawingml/2006/main">
            <a:r>
              <a:t>• 77 original repository + 111 monorepo</a:t>
            </a:r>
          </a:p>
          <a:p xmlns:a="http://schemas.openxmlformats.org/drawingml/2006/main">
            <a:r>
              <a:t>• May onward also includes scoped design-system work</a:t>
            </a:r>
          </a:p>
          <a:p xmlns:a="http://schemas.openxmlformats.org/drawingml/2006/main">
            <a:r>
              <a:t>• April joining marker; process changed in May</a:t>
            </a:r>
          </a:p>
          <a:p xmlns:a="http://schemas.openxmlformats.org/drawingml/2006/main">
            <a:r>
              <a:t>• PR activity is not productivity, feature value or lead time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Onboarding myself to the team, codebase and business</a:t>
            </a:r>
          </a:p>
          <a:p xmlns:a="http://schemas.openxmlformats.org/drawingml/2006/main">
            <a:r>
              <a:t>• Design system and monorepo, each could be its own talk</a:t>
            </a:r>
          </a:p>
          <a:p xmlns:a="http://schemas.openxmlformats.org/drawingml/2006/main">
            <a:r>
              <a:t>• Transition from engineering delivery to product ownership</a:t>
            </a:r>
          </a:p>
          <a:p xmlns:a="http://schemas.openxmlformats.org/drawingml/2006/main">
            <a:r>
              <a:t>• AI adoption across the development loop</a:t>
            </a:r>
          </a:p>
          <a:p xmlns:a="http://schemas.openxmlformats.org/drawingml/2006/main">
            <a:r>
              <a:t>• Harness: the environment around AI, not just the model</a:t>
            </a:r>
          </a:p>
          <a:p xmlns:a="http://schemas.openxmlformats.org/drawingml/2006/main">
            <a:r>
              <a:t>• A few months of change, many challenges beyond today’s scope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Lessons to adapt, not a universal five-step recipe</a:t>
            </a:r>
          </a:p>
          <a:p xmlns:a="http://schemas.openxmlformats.org/drawingml/2006/main">
            <a:r>
              <a:t>• Start with your team’s actual bottleneck</a:t>
            </a:r>
          </a:p>
          <a:p xmlns:a="http://schemas.openxmlformats.org/drawingml/2006/main">
            <a:r>
              <a:t>• Clear expectations and meaningful checks matter everywhere</a:t>
            </a:r>
          </a:p>
          <a:p xmlns:a="http://schemas.openxmlformats.org/drawingml/2006/main">
            <a:r>
              <a:t>• Tools, approval boundaries and rollout depend on context</a:t>
            </a:r>
          </a:p>
          <a:p xmlns:a="http://schemas.openxmlformats.org/drawingml/2006/main">
            <a:r>
              <a:t>• Start small. Inspect the outcome. Expand what works.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Regressions every release. Days of QA and approvals.</a:t>
            </a:r>
          </a:p>
          <a:p xmlns:a="http://schemas.openxmlformats.org/drawingml/2006/main">
            <a:r>
              <a:t>• Skills → tests → CI → device evidence</a:t>
            </a:r>
          </a:p>
          <a:p xmlns:a="http://schemas.openxmlformats.org/drawingml/2006/main">
            <a:r>
              <a:t>• Review → production feedback → delivery</a:t>
            </a:r>
          </a:p>
          <a:p xmlns:a="http://schemas.openxmlformats.org/drawingml/2006/main">
            <a:r>
              <a:t>• Less repetitive QA. More confidence. Faster delivery.</a:t>
            </a:r>
          </a:p>
          <a:p xmlns:a="http://schemas.openxmlformats.org/drawingml/2006/main">
            <a:r>
              <a:t>• Evidence has limits. Human judgement still matters.</a:t>
            </a:r>
          </a:p>
          <a:p xmlns:a="http://schemas.openxmlformats.org/drawingml/2006/main">
            <a:r>
              <a:t>• QR: social profiles, talks and contact details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5cd5db8c9504347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0d132f8fb1243dc" /><Relationship Type="http://schemas.openxmlformats.org/officeDocument/2006/relationships/slideLayout" Target="/ppt/slideLayouts/slideLayout1.xml" Id="R834091f62b414ad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34091f62b414ad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1dd39cc57444331" /><Relationship Type="http://schemas.openxmlformats.org/officeDocument/2006/relationships/image" Target="/ppt/media/image.png" Id="Reb8bcd32546f4831" /><Relationship Type="http://schemas.openxmlformats.org/officeDocument/2006/relationships/image" Target="/ppt/media/image.jpeg" Id="R2a6ebbf0f606427c" /><Relationship Type="http://schemas.openxmlformats.org/officeDocument/2006/relationships/notesSlide" Target="/ppt/notesSlides/notesSlide1.xml" Id="Rc7c1eb2c77a64f7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06fa5f4ac2b4ccd" /><Relationship Type="http://schemas.openxmlformats.org/officeDocument/2006/relationships/notesSlide" Target="/ppt/notesSlides/notesSlide2.xml" Id="R5c9469f6c1154bc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3679ded751e4b19" /><Relationship Type="http://schemas.openxmlformats.org/officeDocument/2006/relationships/notesSlide" Target="/ppt/notesSlides/notesSlide3.xml" Id="R0fbb82b03a0f432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100c6f8e8854e2c" /><Relationship Type="http://schemas.openxmlformats.org/officeDocument/2006/relationships/notesSlide" Target="/ppt/notesSlides/notesSlide4.xml" Id="R8aa90334e5cc4cf8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f05f125c6414b82" /><Relationship Type="http://schemas.openxmlformats.org/officeDocument/2006/relationships/notesSlide" Target="/ppt/notesSlides/notesSlide5.xml" Id="Re4660fd702f3446f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fcfaf69fe8c452f" /><Relationship Type="http://schemas.openxmlformats.org/officeDocument/2006/relationships/notesSlide" Target="/ppt/notesSlides/notesSlide6.xml" Id="R5cc5128aab924e45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cf3f2ab232a4dc5" /><Relationship Type="http://schemas.openxmlformats.org/officeDocument/2006/relationships/image" Target="/ppt/media/image2.jpeg" Id="R2ae33bec15eb48c1" /><Relationship Type="http://schemas.openxmlformats.org/officeDocument/2006/relationships/notesSlide" Target="/ppt/notesSlides/notesSlide7.xml" Id="R22121552309b447a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1c6751154be4fc4" /><Relationship Type="http://schemas.openxmlformats.org/officeDocument/2006/relationships/image" Target="/ppt/media/image2.png" Id="R855bafc60bae4fd9" /><Relationship Type="http://schemas.openxmlformats.org/officeDocument/2006/relationships/image" Target="/ppt/media/image3.png" Id="Re3ed74c0a5624935" /><Relationship Type="http://schemas.openxmlformats.org/officeDocument/2006/relationships/image" Target="/ppt/media/image4.png" Id="R937d62573b0843a3" /><Relationship Type="http://schemas.openxmlformats.org/officeDocument/2006/relationships/image" Target="/ppt/media/image5.png" Id="R058095599fc84fe9" /><Relationship Type="http://schemas.openxmlformats.org/officeDocument/2006/relationships/image" Target="/ppt/media/image6.png" Id="R5bb584804b894f15" /><Relationship Type="http://schemas.openxmlformats.org/officeDocument/2006/relationships/image" Target="/ppt/media/image7.png" Id="R29be8132589a4001" /><Relationship Type="http://schemas.openxmlformats.org/officeDocument/2006/relationships/notesSlide" Target="/ppt/notesSlides/notesSlide8.xml" Id="R45485395f4124bd6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ecd36b2519249a7" /><Relationship Type="http://schemas.openxmlformats.org/officeDocument/2006/relationships/notesSlide" Target="/ppt/notesSlides/notesSlide9.xml" Id="R2a54f80c5c564a2a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7ff22668eed42af" /><Relationship Type="http://schemas.openxmlformats.org/officeDocument/2006/relationships/notesSlide" Target="/ppt/notesSlides/notesSlide10.xml" Id="R7c5233f013774611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5566cd4947446e8" /><Relationship Type="http://schemas.openxmlformats.org/officeDocument/2006/relationships/image" Target="/ppt/media/image8.png" Id="Ra203104bb57442b0" /><Relationship Type="http://schemas.openxmlformats.org/officeDocument/2006/relationships/image" Target="/ppt/media/image9.png" Id="R36e3c397d1ff4453" /><Relationship Type="http://schemas.openxmlformats.org/officeDocument/2006/relationships/image" Target="/ppt/media/image10.png" Id="R650ab03a67144073" /><Relationship Type="http://schemas.openxmlformats.org/officeDocument/2006/relationships/image" Target="/ppt/media/image11.png" Id="R4130afa5b2d5428f" /><Relationship Type="http://schemas.openxmlformats.org/officeDocument/2006/relationships/image" Target="/ppt/media/image12.png" Id="R1f1dc894a036432e" /><Relationship Type="http://schemas.openxmlformats.org/officeDocument/2006/relationships/notesSlide" Target="/ppt/notesSlides/notesSlide11.xml" Id="R1b63a2000c6944d8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5e3db6d8229431f" /><Relationship Type="http://schemas.openxmlformats.org/officeDocument/2006/relationships/notesSlide" Target="/ppt/notesSlides/notesSlide12.xml" Id="R315d0d540a344a0e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0b27aba8baa4124" /><Relationship Type="http://schemas.openxmlformats.org/officeDocument/2006/relationships/chart" Target="/ppt/slides/charts/chart1.xml" Id="R40f12f99bf2b4184" /><Relationship Type="http://schemas.openxmlformats.org/officeDocument/2006/relationships/notesSlide" Target="/ppt/notesSlides/notesSlide13.xml" Id="R9d7754fda2244eeb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d9ae57b7513412c" /><Relationship Type="http://schemas.openxmlformats.org/officeDocument/2006/relationships/image" Target="/ppt/media/image13.png" Id="Racdd9329fde04bea" /><Relationship Type="http://schemas.openxmlformats.org/officeDocument/2006/relationships/image" Target="/ppt/media/image14.png" Id="R5b0e457787fb4307" /><Relationship Type="http://schemas.openxmlformats.org/officeDocument/2006/relationships/image" Target="/ppt/media/image15.png" Id="R55c907c80f244279" /><Relationship Type="http://schemas.openxmlformats.org/officeDocument/2006/relationships/image" Target="/ppt/media/image16.png" Id="R915b7829ce654bfb" /><Relationship Type="http://schemas.openxmlformats.org/officeDocument/2006/relationships/notesSlide" Target="/ppt/notesSlides/notesSlide14.xml" Id="R0e780d2ac2b943fa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e645dd94adb4ef6" /><Relationship Type="http://schemas.openxmlformats.org/officeDocument/2006/relationships/notesSlide" Target="/ppt/notesSlides/notesSlide15.xml" Id="Rbf859cc32fb44028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34327825ad34923" /><Relationship Type="http://schemas.openxmlformats.org/officeDocument/2006/relationships/notesSlide" Target="/ppt/notesSlides/notesSlide16.xml" Id="R8155625bc3054fe4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320dab4251344a3" /><Relationship Type="http://schemas.openxmlformats.org/officeDocument/2006/relationships/image" Target="/ppt/media/image17.png" Id="R6410cfc258e44b4c" /><Relationship Type="http://schemas.openxmlformats.org/officeDocument/2006/relationships/image" Target="/ppt/media/image18.png" Id="Ra31a95853da4424b" /><Relationship Type="http://schemas.openxmlformats.org/officeDocument/2006/relationships/image" Target="/ppt/media/image19.png" Id="R86181dcf4617446a" /><Relationship Type="http://schemas.openxmlformats.org/officeDocument/2006/relationships/notesSlide" Target="/ppt/notesSlides/notesSlide17.xml" Id="R12ae7f77a2614be4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758c5f1908b4ef4" /><Relationship Type="http://schemas.openxmlformats.org/officeDocument/2006/relationships/notesSlide" Target="/ppt/notesSlides/notesSlide18.xml" Id="R5d8d6507bdf34a4d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432a977fd034dd9" /><Relationship Type="http://schemas.openxmlformats.org/officeDocument/2006/relationships/chart" Target="/ppt/slides/charts/chart2.xml" Id="Rbb53618df6af4a4e" /><Relationship Type="http://schemas.openxmlformats.org/officeDocument/2006/relationships/notesSlide" Target="/ppt/notesSlides/notesSlide19.xml" Id="R323e81c22cd04ead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070dea7e82e4fd9" /><Relationship Type="http://schemas.openxmlformats.org/officeDocument/2006/relationships/image" Target="/ppt/media/image20.png" Id="R50001818c26b4014" /><Relationship Type="http://schemas.openxmlformats.org/officeDocument/2006/relationships/image" Target="/ppt/media/image21.png" Id="R8de1240965e84a6b" /><Relationship Type="http://schemas.openxmlformats.org/officeDocument/2006/relationships/notesSlide" Target="/ppt/notesSlides/notesSlide20.xml" Id="R3709bc2f1a944a01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fd9fb07470e4a8f" /><Relationship Type="http://schemas.openxmlformats.org/officeDocument/2006/relationships/notesSlide" Target="/ppt/notesSlides/notesSlide21.xml" Id="Rdd11ddfc203a4d3e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41933711bce401f" /><Relationship Type="http://schemas.openxmlformats.org/officeDocument/2006/relationships/notesSlide" Target="/ppt/notesSlides/notesSlide22.xml" Id="R05ed79c9269a488e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0a3fc7adb9f4e7e" /><Relationship Type="http://schemas.openxmlformats.org/officeDocument/2006/relationships/image" Target="/ppt/media/image22.png" Id="Rfa0bdecf16ae49e8" /><Relationship Type="http://schemas.openxmlformats.org/officeDocument/2006/relationships/notesSlide" Target="/ppt/notesSlides/notesSlide23.xml" Id="Rcbc2e43b18224ab0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eef95b721a24b93" /><Relationship Type="http://schemas.openxmlformats.org/officeDocument/2006/relationships/notesSlide" Target="/ppt/notesSlides/notesSlide24.xml" Id="R987faa7f73bf4d77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ec0558c8e404cfd" /><Relationship Type="http://schemas.openxmlformats.org/officeDocument/2006/relationships/chart" Target="/ppt/slides/charts/chart3.xml" Id="Rfb0cb4ca1ebf4843" /><Relationship Type="http://schemas.openxmlformats.org/officeDocument/2006/relationships/notesSlide" Target="/ppt/notesSlides/notesSlide25.xml" Id="R36415c56479d4837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bb5e79b2cc64773" /><Relationship Type="http://schemas.openxmlformats.org/officeDocument/2006/relationships/notesSlide" Target="/ppt/notesSlides/notesSlide26.xml" Id="R608ffab03f674b24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d2a92e21c0e4853" /><Relationship Type="http://schemas.openxmlformats.org/officeDocument/2006/relationships/notesSlide" Target="/ppt/notesSlides/notesSlide27.xml" Id="R82685aafe9f843b3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c7f9373d2a644fc" /><Relationship Type="http://schemas.openxmlformats.org/officeDocument/2006/relationships/notesSlide" Target="/ppt/notesSlides/notesSlide28.xml" Id="R8ee02b084d6b4239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40c3b0e462d4b49" /><Relationship Type="http://schemas.openxmlformats.org/officeDocument/2006/relationships/chart" Target="/ppt/slides/charts/chart4.xml" Id="R2050fb85d3c5441b" /><Relationship Type="http://schemas.openxmlformats.org/officeDocument/2006/relationships/notesSlide" Target="/ppt/notesSlides/notesSlide29.xml" Id="Rc11159a2de284159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5f2d68a79a949e7" /><Relationship Type="http://schemas.openxmlformats.org/officeDocument/2006/relationships/notesSlide" Target="/ppt/notesSlides/notesSlide30.xml" Id="R21d7d7065c6b4297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3cfc5f3f8764f1f" /><Relationship Type="http://schemas.openxmlformats.org/officeDocument/2006/relationships/notesSlide" Target="/ppt/notesSlides/notesSlide31.xml" Id="R58e1ebc8d0f74168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ae3084cdf994d7d" /><Relationship Type="http://schemas.openxmlformats.org/officeDocument/2006/relationships/image" Target="/ppt/media/image23.png" Id="R9b7b5b1bad224adb" /><Relationship Type="http://schemas.openxmlformats.org/officeDocument/2006/relationships/notesSlide" Target="/ppt/notesSlides/notesSlide32.xml" Id="Rc33440d7b98842f4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_rels/chart2.xml.rels><Relationships xmlns="http://schemas.openxmlformats.org/package/2006/relationships"><Relationship Id="rIdChartSnapshot1" Type="http://schemas.openxmlformats.org/officeDocument/2006/relationships/package" Target="../../embeddings/chart-data-snapshot-002.xlsx"/></Relationships>
</file>

<file path=ppt/slides/charts/_rels/chart3.xml.rels><Relationships xmlns="http://schemas.openxmlformats.org/package/2006/relationships"><Relationship Id="rIdChartSnapshot1" Type="http://schemas.openxmlformats.org/officeDocument/2006/relationships/package" Target="../../embeddings/chart-data-snapshot-003.xlsx"/></Relationships>
</file>

<file path=ppt/slides/charts/_rels/chart4.xml.rels><Relationships xmlns="http://schemas.openxmlformats.org/package/2006/relationships"><Relationship Id="rIdChartSnapshot1" Type="http://schemas.openxmlformats.org/officeDocument/2006/relationships/package" Target="../../embeddings/chart-data-snapshot-004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Unit-test files</c:v>
          </c:tx>
          <c:spPr>
            <a:solidFill xmlns:a="http://schemas.openxmlformats.org/drawingml/2006/main">
              <a:srgbClr val="00786F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858D93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858D93"/>
              </a:solidFill>
            </c:spPr>
          </c:dPt>
          <c:dPt>
            <c:idx val="2"/>
            <c:invertIfNegative val="0"/>
            <c:spPr>
              <a:solidFill xmlns:a="http://schemas.openxmlformats.org/drawingml/2006/main">
                <a:srgbClr val="858D93"/>
              </a:solidFill>
            </c:spPr>
          </c:dPt>
          <c:dPt>
            <c:idx val="3"/>
            <c:invertIfNegative val="0"/>
            <c:spPr>
              <a:solidFill xmlns:a="http://schemas.openxmlformats.org/drawingml/2006/main">
                <a:srgbClr val="858D93"/>
              </a:solidFill>
            </c:spPr>
          </c:dPt>
          <c:dPt>
            <c:idx val="4"/>
            <c:invertIfNegative val="0"/>
            <c:spPr>
              <a:solidFill xmlns:a="http://schemas.openxmlformats.org/drawingml/2006/main">
                <a:srgbClr val="00786F"/>
              </a:solidFill>
            </c:spPr>
          </c:dPt>
          <c:dPt>
            <c:idx val="5"/>
            <c:invertIfNegative val="0"/>
            <c:spPr>
              <a:solidFill xmlns:a="http://schemas.openxmlformats.org/drawingml/2006/main">
                <a:srgbClr val="00786F"/>
              </a:solidFill>
            </c:spPr>
          </c:dPt>
          <c:dPt>
            <c:idx val="6"/>
            <c:invertIfNegative val="0"/>
            <c:spPr>
              <a:solidFill xmlns:a="http://schemas.openxmlformats.org/drawingml/2006/main">
                <a:srgbClr val="00786F"/>
              </a:solidFill>
            </c:spPr>
          </c:dPt>
          <c:dPt>
            <c:idx val="7"/>
            <c:invertIfNegative val="0"/>
            <c:spPr>
              <a:solidFill xmlns:a="http://schemas.openxmlformats.org/drawingml/2006/main">
                <a:srgbClr val="00786F"/>
              </a:solidFill>
            </c:spPr>
          </c:dPt>
          <c:dPt>
            <c:idx val="8"/>
            <c:invertIfNegative val="0"/>
            <c:spPr>
              <a:solidFill xmlns:a="http://schemas.openxmlformats.org/drawingml/2006/main">
                <a:srgbClr val="00786F"/>
              </a:solidFill>
            </c:spPr>
          </c:dPt>
          <c:cat>
            <c:strRef>
              <c:f>'Chart Data'!$A$2:$A$10</c:f>
              <c:strCache>
                <c:ptCount val="9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</c:strCache>
            </c:strRef>
          </c:cat>
          <c:val>
            <c:numRef>
              <c:f>'Chart Data'!$B$2:$B$10</c:f>
              <c:numCache>
                <c:formatCode>#,##0</c:formatCode>
                <c:ptCount val="9"/>
                <c:pt idx="0">
                  <c:v>93</c:v>
                </c:pt>
                <c:pt idx="1">
                  <c:v>95</c:v>
                </c:pt>
                <c:pt idx="2">
                  <c:v>98</c:v>
                </c:pt>
                <c:pt idx="3">
                  <c:v>113</c:v>
                </c:pt>
                <c:pt idx="4">
                  <c:v>164</c:v>
                </c:pt>
                <c:pt idx="5">
                  <c:v>250</c:v>
                </c:pt>
                <c:pt idx="6">
                  <c:v>395</c:v>
                </c:pt>
                <c:pt idx="7">
                  <c:v>1040</c:v>
                </c:pt>
                <c:pt idx="8">
                  <c:v>1669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725" b="1">
                  <a:solidFill>
                    <a:srgbClr val="15181B"/>
                  </a:solidFill>
                  <a:latin typeface="Satoshi Variable"/>
                  <a:ea typeface="Satoshi Variable"/>
                  <a:cs typeface="Satoshi Variable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6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CCD0CB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</a:p>
        </c:txPr>
        <c:crossAx val="48672768"/>
      </c:catAx>
      <c:valAx>
        <c:axId val="48672768"/>
        <c:scaling>
          <c:orientation val="minMax"/>
          <c:max val="180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CCD0CB"/>
              </a:solidFill>
              <a:prstDash val="solid"/>
            </a:ln>
          </c:spPr>
        </c:majorGridlines>
        <c:numFmt formatCode="#,##0"/>
        <c:majorTickMark val="none"/>
        <c:minorTickMark val="none"/>
        <c:spPr>
          <a:ln xmlns:a="http://schemas.openxmlformats.org/drawingml/2006/main" w="0">
            <a:noFill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</a:p>
        </c:txPr>
        <c:crossAx val="48650112"/>
        <c:crossBetween val="between"/>
        <c:majorUnit val="600"/>
      </c:valAx>
      <c:spPr>
        <a:noFill xmlns:a="http://schemas.openxmlformats.org/drawingml/2006/main"/>
        <a:ln xmlns:a="http://schemas.openxmlformats.org/drawingml/2006/main" w="0">
          <a:noFill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</a:ln>
  </c:spPr>
  <c:externalData r:id="rIdChartSnapshot1">
    <c:autoUpdate val="0"/>
  </c:externalData>
</c:chartSpace>
</file>

<file path=ppt/slides/charts/chart2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Maestro YAML files</c:v>
          </c:tx>
          <c:spPr>
            <a:solidFill xmlns:a="http://schemas.openxmlformats.org/drawingml/2006/main">
              <a:srgbClr val="00786F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858D93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858D93"/>
              </a:solidFill>
            </c:spPr>
          </c:dPt>
          <c:dPt>
            <c:idx val="2"/>
            <c:invertIfNegative val="0"/>
            <c:spPr>
              <a:solidFill xmlns:a="http://schemas.openxmlformats.org/drawingml/2006/main">
                <a:srgbClr val="858D93"/>
              </a:solidFill>
            </c:spPr>
          </c:dPt>
          <c:dPt>
            <c:idx val="3"/>
            <c:invertIfNegative val="0"/>
            <c:spPr>
              <a:solidFill xmlns:a="http://schemas.openxmlformats.org/drawingml/2006/main">
                <a:srgbClr val="858D93"/>
              </a:solidFill>
            </c:spPr>
          </c:dPt>
          <c:dPt>
            <c:idx val="4"/>
            <c:invertIfNegative val="0"/>
            <c:spPr>
              <a:solidFill xmlns:a="http://schemas.openxmlformats.org/drawingml/2006/main">
                <a:srgbClr val="00786F"/>
              </a:solidFill>
            </c:spPr>
          </c:dPt>
          <c:dPt>
            <c:idx val="5"/>
            <c:invertIfNegative val="0"/>
            <c:spPr>
              <a:solidFill xmlns:a="http://schemas.openxmlformats.org/drawingml/2006/main">
                <a:srgbClr val="00786F"/>
              </a:solidFill>
            </c:spPr>
          </c:dPt>
          <c:dPt>
            <c:idx val="6"/>
            <c:invertIfNegative val="0"/>
            <c:spPr>
              <a:solidFill xmlns:a="http://schemas.openxmlformats.org/drawingml/2006/main">
                <a:srgbClr val="00786F"/>
              </a:solidFill>
            </c:spPr>
          </c:dPt>
          <c:dPt>
            <c:idx val="7"/>
            <c:invertIfNegative val="0"/>
            <c:spPr>
              <a:solidFill xmlns:a="http://schemas.openxmlformats.org/drawingml/2006/main">
                <a:srgbClr val="00786F"/>
              </a:solidFill>
            </c:spPr>
          </c:dPt>
          <c:dPt>
            <c:idx val="8"/>
            <c:invertIfNegative val="0"/>
            <c:spPr>
              <a:solidFill xmlns:a="http://schemas.openxmlformats.org/drawingml/2006/main">
                <a:srgbClr val="00786F"/>
              </a:solidFill>
            </c:spPr>
          </c:dPt>
          <c:cat>
            <c:strRef>
              <c:f>'Chart Data'!$A$2:$A$10</c:f>
              <c:strCache>
                <c:ptCount val="9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</c:strCache>
            </c:strRef>
          </c:cat>
          <c:val>
            <c:numRef>
              <c:f>'Chart Data'!$B$2:$B$10</c:f>
              <c:numCache>
                <c:formatCode>#,##0</c:formatCode>
                <c:ptCount val="9"/>
                <c:pt idx="0">
                  <c:v>14</c:v>
                </c:pt>
                <c:pt idx="1">
                  <c:v>14</c:v>
                </c:pt>
                <c:pt idx="2">
                  <c:v>14</c:v>
                </c:pt>
                <c:pt idx="3">
                  <c:v>14</c:v>
                </c:pt>
                <c:pt idx="4">
                  <c:v>129</c:v>
                </c:pt>
                <c:pt idx="5">
                  <c:v>135</c:v>
                </c:pt>
                <c:pt idx="6">
                  <c:v>136</c:v>
                </c:pt>
                <c:pt idx="7">
                  <c:v>147</c:v>
                </c:pt>
                <c:pt idx="8">
                  <c:v>225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725" b="1">
                  <a:solidFill>
                    <a:srgbClr val="15181B"/>
                  </a:solidFill>
                  <a:latin typeface="Satoshi Variable"/>
                  <a:ea typeface="Satoshi Variable"/>
                  <a:cs typeface="Satoshi Variable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6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CCD0CB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</a:p>
        </c:txPr>
        <c:crossAx val="48672768"/>
      </c:catAx>
      <c:valAx>
        <c:axId val="48672768"/>
        <c:scaling>
          <c:orientation val="minMax"/>
          <c:max val="25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CCD0CB"/>
              </a:solidFill>
              <a:prstDash val="solid"/>
            </a:ln>
          </c:spPr>
        </c:majorGridlines>
        <c:numFmt formatCode="#,##0"/>
        <c:majorTickMark val="none"/>
        <c:minorTickMark val="none"/>
        <c:spPr>
          <a:ln xmlns:a="http://schemas.openxmlformats.org/drawingml/2006/main" w="0">
            <a:noFill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</a:p>
        </c:txPr>
        <c:crossAx val="48650112"/>
        <c:crossBetween val="between"/>
        <c:majorUnit val="50"/>
      </c:valAx>
      <c:spPr>
        <a:noFill xmlns:a="http://schemas.openxmlformats.org/drawingml/2006/main"/>
        <a:ln xmlns:a="http://schemas.openxmlformats.org/drawingml/2006/main" w="0">
          <a:noFill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</a:ln>
  </c:spPr>
  <c:externalData r:id="rIdChartSnapshot1">
    <c:autoUpdate val="0"/>
  </c:externalData>
</c:chartSpace>
</file>

<file path=ppt/slides/charts/chart3.xml><?xml version="1.0" encoding="utf-8"?>
<c:chartSpace xmlns:c="http://schemas.openxmlformats.org/drawingml/2006/chart" xmlns:r="http://schemas.openxmlformats.org/officeDocument/2006/relationships">
  <c:lang val="en-US"/>
  <c:chart>
    <c:plotArea>
      <c:scatterChart>
        <c:scatterStyle val="line"/>
        <c:ser>
          <c:idx val="0"/>
          <c:order val="0"/>
          <c:tx>
            <c:v>Recorded events per day</c:v>
          </c:tx>
          <c:spPr>
            <a:solidFill xmlns:a="http://schemas.openxmlformats.org/drawingml/2006/main">
              <a:srgbClr val="00786F"/>
            </a:solidFill>
            <a:ln xmlns:a="http://schemas.openxmlformats.org/drawingml/2006/main" w="28575">
              <a:solidFill>
                <a:srgbClr val="00786F"/>
              </a:solidFill>
              <a:prstDash val="solid"/>
            </a:ln>
          </c:spPr>
          <c:marker>
            <c:symbol val="none"/>
          </c:marker>
          <c:xVal>
            <c:numRef>
              <c:f>'Chart Data'!$A$2:$A$87</c:f>
              <c:numCache>
                <c:formatCode>d mmm</c:formatCode>
                <c:ptCount val="86"/>
                <c:pt idx="0">
                  <c:v>46210</c:v>
                </c:pt>
                <c:pt idx="1">
                  <c:v>46211</c:v>
                </c:pt>
                <c:pt idx="2">
                  <c:v>46212</c:v>
                </c:pt>
                <c:pt idx="3">
                  <c:v>46213</c:v>
                </c:pt>
                <c:pt idx="4">
                  <c:v>46214</c:v>
                </c:pt>
                <c:pt idx="5">
                  <c:v>46215</c:v>
                </c:pt>
                <c:pt idx="6">
                  <c:v>46216</c:v>
                </c:pt>
                <c:pt idx="7">
                  <c:v>46217</c:v>
                </c:pt>
                <c:pt idx="8">
                  <c:v>46218</c:v>
                </c:pt>
                <c:pt idx="9">
                  <c:v>46219</c:v>
                </c:pt>
                <c:pt idx="10">
                  <c:v>46220</c:v>
                </c:pt>
                <c:pt idx="11">
                  <c:v>46221</c:v>
                </c:pt>
                <c:pt idx="12">
                  <c:v>46222</c:v>
                </c:pt>
                <c:pt idx="13">
                  <c:v>46223</c:v>
                </c:pt>
                <c:pt idx="14">
                  <c:v>46224</c:v>
                </c:pt>
                <c:pt idx="15">
                  <c:v>46225</c:v>
                </c:pt>
                <c:pt idx="16">
                  <c:v>46226</c:v>
                </c:pt>
                <c:pt idx="17">
                  <c:v>46227</c:v>
                </c:pt>
                <c:pt idx="18">
                  <c:v>46228</c:v>
                </c:pt>
                <c:pt idx="19">
                  <c:v>46229</c:v>
                </c:pt>
                <c:pt idx="20">
                  <c:v>46230</c:v>
                </c:pt>
                <c:pt idx="21">
                  <c:v>46231</c:v>
                </c:pt>
                <c:pt idx="22">
                  <c:v>46232</c:v>
                </c:pt>
                <c:pt idx="23">
                  <c:v>46233</c:v>
                </c:pt>
                <c:pt idx="24">
                  <c:v>46234</c:v>
                </c:pt>
                <c:pt idx="25">
                  <c:v>46235</c:v>
                </c:pt>
                <c:pt idx="26">
                  <c:v>46236</c:v>
                </c:pt>
                <c:pt idx="27">
                  <c:v>46237</c:v>
                </c:pt>
                <c:pt idx="28">
                  <c:v>46238</c:v>
                </c:pt>
                <c:pt idx="29">
                  <c:v>46239</c:v>
                </c:pt>
                <c:pt idx="30">
                  <c:v>46240</c:v>
                </c:pt>
                <c:pt idx="31">
                  <c:v>46241</c:v>
                </c:pt>
                <c:pt idx="32">
                  <c:v>46242</c:v>
                </c:pt>
                <c:pt idx="33">
                  <c:v>46243</c:v>
                </c:pt>
                <c:pt idx="34">
                  <c:v>46244</c:v>
                </c:pt>
                <c:pt idx="35">
                  <c:v>46245</c:v>
                </c:pt>
                <c:pt idx="36">
                  <c:v>46246</c:v>
                </c:pt>
                <c:pt idx="37">
                  <c:v>46247</c:v>
                </c:pt>
                <c:pt idx="38">
                  <c:v>46248</c:v>
                </c:pt>
                <c:pt idx="39">
                  <c:v>46249</c:v>
                </c:pt>
                <c:pt idx="40">
                  <c:v>46250</c:v>
                </c:pt>
                <c:pt idx="41">
                  <c:v>46251</c:v>
                </c:pt>
                <c:pt idx="42">
                  <c:v>46252</c:v>
                </c:pt>
                <c:pt idx="43">
                  <c:v>46253</c:v>
                </c:pt>
                <c:pt idx="44">
                  <c:v>46254</c:v>
                </c:pt>
                <c:pt idx="45">
                  <c:v>46255</c:v>
                </c:pt>
                <c:pt idx="46">
                  <c:v>46256</c:v>
                </c:pt>
                <c:pt idx="47">
                  <c:v>46257</c:v>
                </c:pt>
                <c:pt idx="48">
                  <c:v>46258</c:v>
                </c:pt>
                <c:pt idx="49">
                  <c:v>46259</c:v>
                </c:pt>
                <c:pt idx="50">
                  <c:v>46260</c:v>
                </c:pt>
                <c:pt idx="51">
                  <c:v>46261</c:v>
                </c:pt>
                <c:pt idx="52">
                  <c:v>46262</c:v>
                </c:pt>
                <c:pt idx="53">
                  <c:v>46263</c:v>
                </c:pt>
                <c:pt idx="54">
                  <c:v>46264</c:v>
                </c:pt>
                <c:pt idx="55">
                  <c:v>46265</c:v>
                </c:pt>
                <c:pt idx="56">
                  <c:v>46266</c:v>
                </c:pt>
                <c:pt idx="57">
                  <c:v>46267</c:v>
                </c:pt>
                <c:pt idx="58">
                  <c:v>46268</c:v>
                </c:pt>
                <c:pt idx="59">
                  <c:v>46269</c:v>
                </c:pt>
                <c:pt idx="60">
                  <c:v>46270</c:v>
                </c:pt>
                <c:pt idx="61">
                  <c:v>46271</c:v>
                </c:pt>
                <c:pt idx="62">
                  <c:v>46272</c:v>
                </c:pt>
                <c:pt idx="63">
                  <c:v>46273</c:v>
                </c:pt>
                <c:pt idx="64">
                  <c:v>46274</c:v>
                </c:pt>
                <c:pt idx="65">
                  <c:v>46275</c:v>
                </c:pt>
                <c:pt idx="66">
                  <c:v>46276</c:v>
                </c:pt>
                <c:pt idx="67">
                  <c:v>46277</c:v>
                </c:pt>
                <c:pt idx="68">
                  <c:v>46278</c:v>
                </c:pt>
                <c:pt idx="69">
                  <c:v>46279</c:v>
                </c:pt>
                <c:pt idx="70">
                  <c:v>46280</c:v>
                </c:pt>
                <c:pt idx="71">
                  <c:v>46281</c:v>
                </c:pt>
                <c:pt idx="72">
                  <c:v>46282</c:v>
                </c:pt>
                <c:pt idx="73">
                  <c:v>46283</c:v>
                </c:pt>
                <c:pt idx="74">
                  <c:v>46284</c:v>
                </c:pt>
                <c:pt idx="75">
                  <c:v>46285</c:v>
                </c:pt>
                <c:pt idx="76">
                  <c:v>46286</c:v>
                </c:pt>
                <c:pt idx="77">
                  <c:v>46287</c:v>
                </c:pt>
                <c:pt idx="78">
                  <c:v>46288</c:v>
                </c:pt>
                <c:pt idx="79">
                  <c:v>46289</c:v>
                </c:pt>
                <c:pt idx="80">
                  <c:v>46290</c:v>
                </c:pt>
                <c:pt idx="81">
                  <c:v>46291</c:v>
                </c:pt>
                <c:pt idx="82">
                  <c:v>46292</c:v>
                </c:pt>
                <c:pt idx="83">
                  <c:v>46293</c:v>
                </c:pt>
                <c:pt idx="84">
                  <c:v>46294</c:v>
                </c:pt>
                <c:pt idx="85">
                  <c:v>46295</c:v>
                </c:pt>
              </c:numCache>
            </c:numRef>
          </c:xVal>
          <c:yVal>
            <c:numRef>
              <c:f>'Chart Data'!$B$2:$B$87</c:f>
              <c:numCache>
                <c:formatCode>#,##0</c:formatCode>
                <c:ptCount val="86"/>
                <c:pt idx="0">
                  <c:v>24012</c:v>
                </c:pt>
                <c:pt idx="1">
                  <c:v>20186</c:v>
                </c:pt>
                <c:pt idx="2">
                  <c:v>18996</c:v>
                </c:pt>
                <c:pt idx="3">
                  <c:v>19756</c:v>
                </c:pt>
                <c:pt idx="4">
                  <c:v>23024</c:v>
                </c:pt>
                <c:pt idx="5">
                  <c:v>23245</c:v>
                </c:pt>
                <c:pt idx="6">
                  <c:v>16295</c:v>
                </c:pt>
                <c:pt idx="7">
                  <c:v>15949</c:v>
                </c:pt>
                <c:pt idx="8">
                  <c:v>16897</c:v>
                </c:pt>
                <c:pt idx="9">
                  <c:v>15846</c:v>
                </c:pt>
                <c:pt idx="10">
                  <c:v>17738</c:v>
                </c:pt>
                <c:pt idx="11">
                  <c:v>16197</c:v>
                </c:pt>
                <c:pt idx="12">
                  <c:v>17393</c:v>
                </c:pt>
                <c:pt idx="13">
                  <c:v>10078</c:v>
                </c:pt>
                <c:pt idx="14">
                  <c:v>7617</c:v>
                </c:pt>
                <c:pt idx="15">
                  <c:v>9141</c:v>
                </c:pt>
                <c:pt idx="16">
                  <c:v>6265</c:v>
                </c:pt>
                <c:pt idx="17">
                  <c:v>9794</c:v>
                </c:pt>
                <c:pt idx="18">
                  <c:v>8768</c:v>
                </c:pt>
                <c:pt idx="19">
                  <c:v>10718</c:v>
                </c:pt>
                <c:pt idx="20">
                  <c:v>8498</c:v>
                </c:pt>
                <c:pt idx="21">
                  <c:v>8371</c:v>
                </c:pt>
                <c:pt idx="22">
                  <c:v>5913</c:v>
                </c:pt>
                <c:pt idx="23">
                  <c:v>5496</c:v>
                </c:pt>
                <c:pt idx="24">
                  <c:v>5007</c:v>
                </c:pt>
                <c:pt idx="25">
                  <c:v>4590</c:v>
                </c:pt>
                <c:pt idx="26">
                  <c:v>5165</c:v>
                </c:pt>
                <c:pt idx="27">
                  <c:v>4218</c:v>
                </c:pt>
                <c:pt idx="28">
                  <c:v>4651</c:v>
                </c:pt>
                <c:pt idx="29">
                  <c:v>4593</c:v>
                </c:pt>
                <c:pt idx="30">
                  <c:v>4182</c:v>
                </c:pt>
                <c:pt idx="31">
                  <c:v>3842</c:v>
                </c:pt>
                <c:pt idx="32">
                  <c:v>4780</c:v>
                </c:pt>
                <c:pt idx="33">
                  <c:v>4634</c:v>
                </c:pt>
                <c:pt idx="34">
                  <c:v>4177</c:v>
                </c:pt>
                <c:pt idx="35">
                  <c:v>3653</c:v>
                </c:pt>
                <c:pt idx="36">
                  <c:v>4288</c:v>
                </c:pt>
                <c:pt idx="37">
                  <c:v>4385</c:v>
                </c:pt>
                <c:pt idx="38">
                  <c:v>5033</c:v>
                </c:pt>
                <c:pt idx="39">
                  <c:v>5656</c:v>
                </c:pt>
                <c:pt idx="40">
                  <c:v>4126</c:v>
                </c:pt>
                <c:pt idx="41">
                  <c:v>3445</c:v>
                </c:pt>
                <c:pt idx="42">
                  <c:v>4120</c:v>
                </c:pt>
                <c:pt idx="43">
                  <c:v>4262</c:v>
                </c:pt>
                <c:pt idx="44">
                  <c:v>4618</c:v>
                </c:pt>
                <c:pt idx="45">
                  <c:v>5010</c:v>
                </c:pt>
                <c:pt idx="46">
                  <c:v>4141</c:v>
                </c:pt>
                <c:pt idx="47">
                  <c:v>5675</c:v>
                </c:pt>
                <c:pt idx="48">
                  <c:v>3831</c:v>
                </c:pt>
                <c:pt idx="49">
                  <c:v>4252</c:v>
                </c:pt>
                <c:pt idx="50">
                  <c:v>4041</c:v>
                </c:pt>
                <c:pt idx="51">
                  <c:v>5122</c:v>
                </c:pt>
                <c:pt idx="52">
                  <c:v>4364</c:v>
                </c:pt>
                <c:pt idx="53">
                  <c:v>5519</c:v>
                </c:pt>
                <c:pt idx="54">
                  <c:v>4933</c:v>
                </c:pt>
                <c:pt idx="55">
                  <c:v>4120</c:v>
                </c:pt>
                <c:pt idx="56">
                  <c:v>5575</c:v>
                </c:pt>
                <c:pt idx="57">
                  <c:v>2856</c:v>
                </c:pt>
                <c:pt idx="58">
                  <c:v>3542</c:v>
                </c:pt>
                <c:pt idx="59">
                  <c:v>4435</c:v>
                </c:pt>
                <c:pt idx="60">
                  <c:v>3839</c:v>
                </c:pt>
                <c:pt idx="61">
                  <c:v>4728</c:v>
                </c:pt>
                <c:pt idx="62">
                  <c:v>3747</c:v>
                </c:pt>
                <c:pt idx="63">
                  <c:v>4707</c:v>
                </c:pt>
                <c:pt idx="64">
                  <c:v>4024</c:v>
                </c:pt>
                <c:pt idx="65">
                  <c:v>3937</c:v>
                </c:pt>
                <c:pt idx="66">
                  <c:v>5324</c:v>
                </c:pt>
                <c:pt idx="67">
                  <c:v>5981</c:v>
                </c:pt>
                <c:pt idx="68">
                  <c:v>6254</c:v>
                </c:pt>
                <c:pt idx="69">
                  <c:v>6468</c:v>
                </c:pt>
                <c:pt idx="70">
                  <c:v>6111</c:v>
                </c:pt>
                <c:pt idx="71">
                  <c:v>5340</c:v>
                </c:pt>
                <c:pt idx="72">
                  <c:v>4087</c:v>
                </c:pt>
                <c:pt idx="73">
                  <c:v>7077</c:v>
                </c:pt>
                <c:pt idx="74">
                  <c:v>5791</c:v>
                </c:pt>
                <c:pt idx="75">
                  <c:v>8333</c:v>
                </c:pt>
                <c:pt idx="76">
                  <c:v>4433</c:v>
                </c:pt>
                <c:pt idx="77">
                  <c:v>8013</c:v>
                </c:pt>
                <c:pt idx="78">
                  <c:v>4019</c:v>
                </c:pt>
                <c:pt idx="79">
                  <c:v>4336</c:v>
                </c:pt>
                <c:pt idx="80">
                  <c:v>5115</c:v>
                </c:pt>
                <c:pt idx="81">
                  <c:v>5466</c:v>
                </c:pt>
                <c:pt idx="82">
                  <c:v>5764</c:v>
                </c:pt>
                <c:pt idx="83">
                  <c:v>5162</c:v>
                </c:pt>
                <c:pt idx="84">
                  <c:v>4156</c:v>
                </c:pt>
                <c:pt idx="85">
                  <c:v>4189</c:v>
                </c:pt>
              </c:numCache>
            </c:numRef>
          </c:y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725" b="1">
                  <a:solidFill>
                    <a:srgbClr val="15181B"/>
                  </a:solidFill>
                  <a:latin typeface="Satoshi Variable"/>
                  <a:ea typeface="Satoshi Variable"/>
                  <a:cs typeface="Satoshi Variable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2500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CCD0CB"/>
              </a:solidFill>
              <a:prstDash val="solid"/>
            </a:ln>
          </c:spPr>
        </c:majorGridlines>
        <c:numFmt formatCode="#,##0"/>
        <c:majorTickMark val="none"/>
        <c:minorTickMark val="none"/>
        <c:spPr>
          <a:ln xmlns:a="http://schemas.openxmlformats.org/drawingml/2006/main" w="0">
            <a:noFill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</a:p>
        </c:txPr>
        <c:crossAx val="48650112"/>
        <c:majorUnit val="5000"/>
      </c:valAx>
      <c:valAx>
        <c:axId val="48650112"/>
        <c:scaling>
          <c:orientation val="minMax"/>
          <c:max val="46295"/>
          <c:min val="46210"/>
        </c:scaling>
        <c:delete val="0"/>
        <c:axPos val="b"/>
        <c:numFmt formatCode="d mmm"/>
        <c:majorTickMark val="none"/>
        <c:minorTickMark val="none"/>
        <c:tickLblPos val="none"/>
        <c:spPr>
          <a:ln xmlns:a="http://schemas.openxmlformats.org/drawingml/2006/main" w="9525">
            <a:solidFill>
              <a:srgbClr val="CCD0CB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</a:p>
        </c:txPr>
        <c:crossAx val="48672768"/>
        <c:majorUnit val="28"/>
      </c:valAx>
      <c:spPr>
        <a:noFill xmlns:a="http://schemas.openxmlformats.org/drawingml/2006/main"/>
        <a:ln xmlns:a="http://schemas.openxmlformats.org/drawingml/2006/main" w="0">
          <a:noFill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</a:ln>
  </c:spPr>
  <c:externalData r:id="rIdChartSnapshot1">
    <c:autoUpdate val="0"/>
  </c:externalData>
</c:chartSpace>
</file>

<file path=ppt/slides/charts/chart4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Merged mobile PRs</c:v>
          </c:tx>
          <c:spPr>
            <a:solidFill xmlns:a="http://schemas.openxmlformats.org/drawingml/2006/main">
              <a:srgbClr val="00786F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858D93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858D93"/>
              </a:solidFill>
            </c:spPr>
          </c:dPt>
          <c:dPt>
            <c:idx val="2"/>
            <c:invertIfNegative val="0"/>
            <c:spPr>
              <a:solidFill xmlns:a="http://schemas.openxmlformats.org/drawingml/2006/main">
                <a:srgbClr val="858D93"/>
              </a:solidFill>
            </c:spPr>
          </c:dPt>
          <c:dPt>
            <c:idx val="3"/>
            <c:invertIfNegative val="0"/>
            <c:spPr>
              <a:solidFill xmlns:a="http://schemas.openxmlformats.org/drawingml/2006/main">
                <a:srgbClr val="858D93"/>
              </a:solidFill>
            </c:spPr>
          </c:dPt>
          <c:dPt>
            <c:idx val="4"/>
            <c:invertIfNegative val="0"/>
            <c:spPr>
              <a:solidFill xmlns:a="http://schemas.openxmlformats.org/drawingml/2006/main">
                <a:srgbClr val="00786F"/>
              </a:solidFill>
            </c:spPr>
          </c:dPt>
          <c:dPt>
            <c:idx val="5"/>
            <c:invertIfNegative val="0"/>
            <c:spPr>
              <a:solidFill xmlns:a="http://schemas.openxmlformats.org/drawingml/2006/main">
                <a:srgbClr val="00786F"/>
              </a:solidFill>
            </c:spPr>
          </c:dPt>
          <c:dPt>
            <c:idx val="6"/>
            <c:invertIfNegative val="0"/>
            <c:spPr>
              <a:solidFill xmlns:a="http://schemas.openxmlformats.org/drawingml/2006/main">
                <a:srgbClr val="00786F"/>
              </a:solidFill>
            </c:spPr>
          </c:dPt>
          <c:dPt>
            <c:idx val="7"/>
            <c:invertIfNegative val="0"/>
            <c:spPr>
              <a:solidFill xmlns:a="http://schemas.openxmlformats.org/drawingml/2006/main">
                <a:srgbClr val="00786F"/>
              </a:solidFill>
            </c:spPr>
          </c:dPt>
          <c:dPt>
            <c:idx val="8"/>
            <c:invertIfNegative val="0"/>
            <c:spPr>
              <a:solidFill xmlns:a="http://schemas.openxmlformats.org/drawingml/2006/main">
                <a:srgbClr val="00786F"/>
              </a:solidFill>
            </c:spPr>
          </c:dPt>
          <c:cat>
            <c:strRef>
              <c:f>'Chart Data'!$A$2:$A$10</c:f>
              <c:strCache>
                <c:ptCount val="9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</c:strCache>
            </c:strRef>
          </c:cat>
          <c:val>
            <c:numRef>
              <c:f>'Chart Data'!$B$2:$B$10</c:f>
              <c:numCache>
                <c:formatCode>#,##0</c:formatCode>
                <c:ptCount val="9"/>
                <c:pt idx="0">
                  <c:v>25</c:v>
                </c:pt>
                <c:pt idx="1">
                  <c:v>32</c:v>
                </c:pt>
                <c:pt idx="2">
                  <c:v>46</c:v>
                </c:pt>
                <c:pt idx="3">
                  <c:v>58</c:v>
                </c:pt>
                <c:pt idx="4">
                  <c:v>159</c:v>
                </c:pt>
                <c:pt idx="5">
                  <c:v>222</c:v>
                </c:pt>
                <c:pt idx="6">
                  <c:v>158</c:v>
                </c:pt>
                <c:pt idx="7">
                  <c:v>194</c:v>
                </c:pt>
                <c:pt idx="8">
                  <c:v>188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725" b="1">
                  <a:solidFill>
                    <a:srgbClr val="15181B"/>
                  </a:solidFill>
                  <a:latin typeface="Satoshi Variable"/>
                  <a:ea typeface="Satoshi Variable"/>
                  <a:cs typeface="Satoshi Variable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6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CCD0CB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</a:p>
        </c:txPr>
        <c:crossAx val="48672768"/>
      </c:catAx>
      <c:valAx>
        <c:axId val="48672768"/>
        <c:scaling>
          <c:orientation val="minMax"/>
          <c:max val="25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CCD0CB"/>
              </a:solidFill>
              <a:prstDash val="solid"/>
            </a:ln>
          </c:spPr>
        </c:majorGridlines>
        <c:numFmt formatCode="#,##0"/>
        <c:majorTickMark val="none"/>
        <c:minorTickMark val="none"/>
        <c:spPr>
          <a:ln xmlns:a="http://schemas.openxmlformats.org/drawingml/2006/main" w="0">
            <a:noFill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</a:p>
        </c:txPr>
        <c:crossAx val="48650112"/>
        <c:crossBetween val="between"/>
        <c:majorUnit val="50"/>
      </c:valAx>
      <c:spPr>
        <a:noFill xmlns:a="http://schemas.openxmlformats.org/drawingml/2006/main"/>
        <a:ln xmlns:a="http://schemas.openxmlformats.org/drawingml/2006/main" w="0">
          <a:noFill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</a:ln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1131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b8bcd32546f4831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Deck title">
            <a:extLst xmlns:a="http://schemas.openxmlformats.org/drawingml/2006/main">
              <a:ext uri="{FF2B5EF4-FFF2-40B4-BE49-F238E27FC236}">
                <a16:creationId xmlns:a16="http://schemas.microsoft.com/office/drawing/2014/main" id="{8BF84378-BFAE-4A52-BACF-782A78058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857250"/>
            <a:ext cx="10668000" cy="2476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8100" b="0">
                <a:solidFill>
                  <a:srgbClr val="F6F4EE"/>
                </a:solidFill>
                <a:latin typeface="Newsreader"/>
                <a:ea typeface="Newsreader"/>
                <a:cs typeface="Newsreader"/>
              </a:defRPr>
            </a:pPr>
            <a:r>
              <a:rPr sz="8100" b="0">
                <a:solidFill>
                  <a:srgbClr val="F6F4EE"/>
                </a:solidFill>
                <a:latin typeface="Newsreader"/>
                <a:ea typeface="Newsreader"/>
                <a:cs typeface="Newsreader"/>
              </a:rPr>
              <a:t>Beyond the QA</a:t>
            </a:r>
          </a:p>
          <a:p xmlns:a="http://schemas.openxmlformats.org/drawingml/2006/main">
            <a:pPr algn="l">
              <a:defRPr sz="8100" b="0">
                <a:solidFill>
                  <a:srgbClr val="F6F4EE"/>
                </a:solidFill>
                <a:latin typeface="Newsreader"/>
                <a:ea typeface="Newsreader"/>
                <a:cs typeface="Newsreader"/>
              </a:defRPr>
            </a:pPr>
            <a:r>
              <a:rPr sz="8100" b="0">
                <a:solidFill>
                  <a:srgbClr val="F6F4EE"/>
                </a:solidFill>
                <a:latin typeface="Newsreader"/>
                <a:ea typeface="Newsreader"/>
                <a:cs typeface="Newsreader"/>
              </a:rPr>
              <a:t>Bottleneck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028F46F9-2339-44D8-A620-A654A01CF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429000"/>
            <a:ext cx="1047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550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rPr>
              <a:t>Building confidence in React Native with AI</a:t>
            </a:r>
          </a:p>
        </p:txBody>
      </p:sp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a6ebbf0f606427c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09625" y="5143500"/>
            <a:ext cx="685800" cy="685800"/>
          </a:xfrm>
          <a:prstGeom xmlns:a="http://schemas.openxmlformats.org/drawingml/2006/main" prst="ellipse">
            <a:avLst/>
          </a:prstGeom>
        </p:spPr>
      </p:pic>
      <p:sp>
        <p:nvSpPr>
          <p:cNvPr id="5" name="Speaker">
            <a:extLst xmlns:a="http://schemas.openxmlformats.org/drawingml/2006/main">
              <a:ext uri="{FF2B5EF4-FFF2-40B4-BE49-F238E27FC236}">
                <a16:creationId xmlns:a16="http://schemas.microsoft.com/office/drawing/2014/main" id="{D2396FD6-FACB-47D6-B7DC-3B71B9620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5143500"/>
            <a:ext cx="9525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F6F4EE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00" b="1">
                <a:solidFill>
                  <a:srgbClr val="F6F4EE"/>
                </a:solidFill>
                <a:latin typeface="Satoshi Variable"/>
                <a:ea typeface="Satoshi Variable"/>
                <a:cs typeface="Satoshi Variable"/>
              </a:rPr>
              <a:t>John Adib · MrAdib.com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7924DC62-DF76-494B-89D4-68CE3C64F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5562600"/>
            <a:ext cx="9525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950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rPr>
              <a:t>Engineering Manager at Zapp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DB2FFA60-2949-425F-A1CC-2092B66DC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6181725"/>
            <a:ext cx="9810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rPr>
              <a:t>React Native London</a:t>
            </a:r>
          </a:p>
        </p:txBody>
      </p:sp>
    </p:spTree>
    <p:extLst>
      <p:ext uri="{BB962C8B-B14F-4D97-AF65-F5344CB8AC3E}">
        <p14:creationId xmlns:p14="http://schemas.microsoft.com/office/powerpoint/2010/main" val="188241305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11131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B54F3460-1AD0-4965-A0AC-874959E9E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24000"/>
            <a:ext cx="10572750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6900" b="0">
                <a:solidFill>
                  <a:srgbClr val="F6F4EE"/>
                </a:solidFill>
                <a:latin typeface="Newsreader"/>
                <a:ea typeface="Newsreader"/>
                <a:cs typeface="Newsreader"/>
              </a:defRPr>
            </a:pPr>
            <a:r>
              <a:rPr sz="6900" b="0">
                <a:solidFill>
                  <a:srgbClr val="F6F4EE"/>
                </a:solidFill>
                <a:latin typeface="Newsreader"/>
                <a:ea typeface="Newsreader"/>
                <a:cs typeface="Newsreader"/>
              </a:rPr>
              <a:t>Regressions.</a:t>
            </a:r>
          </a:p>
          <a:p xmlns:a="http://schemas.openxmlformats.org/drawingml/2006/main">
            <a:pPr algn="l">
              <a:defRPr sz="6900" b="0">
                <a:solidFill>
                  <a:srgbClr val="F6F4EE"/>
                </a:solidFill>
                <a:latin typeface="Newsreader"/>
                <a:ea typeface="Newsreader"/>
                <a:cs typeface="Newsreader"/>
              </a:defRPr>
            </a:pPr>
            <a:r>
              <a:rPr sz="6900" b="0">
                <a:solidFill>
                  <a:srgbClr val="F6F4EE"/>
                </a:solidFill>
                <a:latin typeface="Newsreader"/>
                <a:ea typeface="Newsreader"/>
                <a:cs typeface="Newsreader"/>
              </a:rPr>
              <a:t>Every release.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8FD32802-B54A-45AF-8A03-BEA29BF01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4667250"/>
            <a:ext cx="1019175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7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7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rPr>
              <a:t>We kept returning to behaviour we had already checked.</a:t>
            </a:r>
          </a:p>
        </p:txBody>
      </p:sp>
      <p:sp>
        <p:nvSpPr>
          <p:cNvPr id="3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B4D91593-A065-4659-9373-549E4E4E4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48425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42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50757890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11131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896AF29D-23F0-4805-B872-A42EC67BF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24000"/>
            <a:ext cx="10572750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6900" b="0">
                <a:solidFill>
                  <a:srgbClr val="F6F4EE"/>
                </a:solidFill>
                <a:latin typeface="Newsreader"/>
                <a:ea typeface="Newsreader"/>
                <a:cs typeface="Newsreader"/>
              </a:defRPr>
            </a:pPr>
            <a:r>
              <a:rPr sz="6900" b="0">
                <a:solidFill>
                  <a:srgbClr val="F6F4EE"/>
                </a:solidFill>
                <a:latin typeface="Newsreader"/>
                <a:ea typeface="Newsreader"/>
                <a:cs typeface="Newsreader"/>
              </a:rPr>
              <a:t>Tests existed.</a:t>
            </a:r>
          </a:p>
          <a:p xmlns:a="http://schemas.openxmlformats.org/drawingml/2006/main">
            <a:pPr algn="l">
              <a:defRPr sz="6900" b="0">
                <a:solidFill>
                  <a:srgbClr val="F6F4EE"/>
                </a:solidFill>
                <a:latin typeface="Newsreader"/>
                <a:ea typeface="Newsreader"/>
                <a:cs typeface="Newsreader"/>
              </a:defRPr>
            </a:pPr>
            <a:r>
              <a:rPr sz="6900" b="0">
                <a:solidFill>
                  <a:srgbClr val="F6F4EE"/>
                </a:solidFill>
                <a:latin typeface="Newsreader"/>
                <a:ea typeface="Newsreader"/>
                <a:cs typeface="Newsreader"/>
              </a:rPr>
              <a:t>Nobody ran them.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D210EB56-5548-4896-8417-EF2F63319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4667250"/>
            <a:ext cx="1019175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7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7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rPr>
              <a:t>A small test suite. End-to-end checks outside CI.</a:t>
            </a:r>
          </a:p>
        </p:txBody>
      </p:sp>
      <p:sp>
        <p:nvSpPr>
          <p:cNvPr id="3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0595DC53-257E-4FC1-900B-E7128E9F3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48425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42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52928957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11131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2E00852A-E984-490B-8992-8B108FA1F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24000"/>
            <a:ext cx="10572750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6900" b="0">
                <a:solidFill>
                  <a:srgbClr val="F6F4EE"/>
                </a:solidFill>
                <a:latin typeface="Newsreader"/>
                <a:ea typeface="Newsreader"/>
                <a:cs typeface="Newsreader"/>
              </a:defRPr>
            </a:pPr>
            <a:r>
              <a:rPr sz="6900" b="0">
                <a:solidFill>
                  <a:srgbClr val="F6F4EE"/>
                </a:solidFill>
                <a:latin typeface="Newsreader"/>
                <a:ea typeface="Newsreader"/>
                <a:cs typeface="Newsreader"/>
              </a:rPr>
              <a:t>More than</a:t>
            </a:r>
          </a:p>
          <a:p xmlns:a="http://schemas.openxmlformats.org/drawingml/2006/main">
            <a:pPr algn="l">
              <a:defRPr sz="6900" b="0">
                <a:solidFill>
                  <a:srgbClr val="F6F4EE"/>
                </a:solidFill>
                <a:latin typeface="Newsreader"/>
                <a:ea typeface="Newsreader"/>
                <a:cs typeface="Newsreader"/>
              </a:defRPr>
            </a:pPr>
            <a:r>
              <a:rPr sz="6900" b="0">
                <a:solidFill>
                  <a:srgbClr val="F6F4EE"/>
                </a:solidFill>
                <a:latin typeface="Newsreader"/>
                <a:ea typeface="Newsreader"/>
                <a:cs typeface="Newsreader"/>
              </a:rPr>
              <a:t>three days of QA.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92A81B22-5F38-44B2-BB2F-246832DA4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4667250"/>
            <a:ext cx="1019175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7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7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rPr>
              <a:t>Engineering, product and UX/design.</a:t>
            </a:r>
          </a:p>
          <a:p xmlns:a="http://schemas.openxmlformats.org/drawingml/2006/main">
            <a:pPr algn="l">
              <a:defRPr sz="247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7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rPr>
              <a:t>Many people paused their own work.</a:t>
            </a:r>
          </a:p>
        </p:txBody>
      </p:sp>
      <p:sp>
        <p:nvSpPr>
          <p:cNvPr id="3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5CE2C04C-BE14-459E-9707-D6596CD03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48425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42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77739400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11131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FDC07A54-3E1F-40AB-9007-69EB5B6B2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24000"/>
            <a:ext cx="10572750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6900" b="0">
                <a:solidFill>
                  <a:srgbClr val="F6F4EE"/>
                </a:solidFill>
                <a:latin typeface="Newsreader"/>
                <a:ea typeface="Newsreader"/>
                <a:cs typeface="Newsreader"/>
              </a:defRPr>
            </a:pPr>
            <a:r>
              <a:rPr sz="6900" b="0">
                <a:solidFill>
                  <a:srgbClr val="F6F4EE"/>
                </a:solidFill>
                <a:latin typeface="Newsreader"/>
                <a:ea typeface="Newsreader"/>
                <a:cs typeface="Newsreader"/>
              </a:rPr>
              <a:t>Every release waited</a:t>
            </a:r>
          </a:p>
          <a:p xmlns:a="http://schemas.openxmlformats.org/drawingml/2006/main">
            <a:pPr algn="l">
              <a:defRPr sz="6900" b="0">
                <a:solidFill>
                  <a:srgbClr val="F6F4EE"/>
                </a:solidFill>
                <a:latin typeface="Newsreader"/>
                <a:ea typeface="Newsreader"/>
                <a:cs typeface="Newsreader"/>
              </a:defRPr>
            </a:pPr>
            <a:r>
              <a:rPr sz="6900" b="0">
                <a:solidFill>
                  <a:srgbClr val="F6F4EE"/>
                </a:solidFill>
                <a:latin typeface="Newsreader"/>
                <a:ea typeface="Newsreader"/>
                <a:cs typeface="Newsreader"/>
              </a:rPr>
              <a:t>days for approval.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599539F0-61EF-40A0-9F1F-3078CFC38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4667250"/>
            <a:ext cx="1019175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7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7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rPr>
              <a:t>A chain of sign-offs held up the whole release.</a:t>
            </a:r>
          </a:p>
        </p:txBody>
      </p:sp>
      <p:sp>
        <p:nvSpPr>
          <p:cNvPr id="3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E19A6955-FC80-4CA7-BFAA-D9E0F3113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48425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42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49172552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11131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50487B2D-2C7F-4BE8-8BE9-04665B0A9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24000"/>
            <a:ext cx="10572750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6900" b="0">
                <a:solidFill>
                  <a:srgbClr val="F6F4EE"/>
                </a:solidFill>
                <a:latin typeface="Newsreader"/>
                <a:ea typeface="Newsreader"/>
                <a:cs typeface="Newsreader"/>
              </a:defRPr>
            </a:pPr>
            <a:r>
              <a:rPr sz="6900" b="0">
                <a:solidFill>
                  <a:srgbClr val="F6F4EE"/>
                </a:solidFill>
                <a:latin typeface="Newsreader"/>
                <a:ea typeface="Newsreader"/>
                <a:cs typeface="Newsreader"/>
              </a:rPr>
              <a:t>Projects postponed</a:t>
            </a:r>
          </a:p>
          <a:p xmlns:a="http://schemas.openxmlformats.org/drawingml/2006/main">
            <a:pPr algn="l">
              <a:defRPr sz="6900" b="0">
                <a:solidFill>
                  <a:srgbClr val="F6F4EE"/>
                </a:solidFill>
                <a:latin typeface="Newsreader"/>
                <a:ea typeface="Newsreader"/>
                <a:cs typeface="Newsreader"/>
              </a:defRPr>
            </a:pPr>
            <a:r>
              <a:rPr sz="6900" b="0">
                <a:solidFill>
                  <a:srgbClr val="F6F4EE"/>
                </a:solidFill>
                <a:latin typeface="Newsreader"/>
                <a:ea typeface="Newsreader"/>
                <a:cs typeface="Newsreader"/>
              </a:rPr>
              <a:t>by over a quarter.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A9FA32C0-9A4D-451E-9FA7-D22CC978A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4667250"/>
            <a:ext cx="1019175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7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7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rPr>
              <a:t>All the existing projects had slipped by more than a quarter.</a:t>
            </a:r>
          </a:p>
        </p:txBody>
      </p:sp>
      <p:sp>
        <p:nvSpPr>
          <p:cNvPr id="3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A80C96B0-A105-4398-8E87-B10C22CBB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48425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42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8627415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5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ae33bec15eb48c1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276850" y="847725"/>
            <a:ext cx="1638300" cy="1638300"/>
          </a:xfrm>
          <a:prstGeom xmlns:a="http://schemas.openxmlformats.org/drawingml/2006/main" prst="ellipse">
            <a:avLst/>
          </a:prstGeom>
        </p:spPr>
      </p:pic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3250F189-1E2E-4FEA-B2DD-682B307E8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57475"/>
            <a:ext cx="10668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ctr">
              <a:defRPr sz="645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pPr>
            <a:r>
              <a:rPr sz="6450" b="0">
                <a:solidFill>
                  <a:srgbClr val="15181B"/>
                </a:solidFill>
                <a:latin typeface="Newsreader"/>
                <a:ea typeface="Newsreader"/>
                <a:cs typeface="Newsreader"/>
              </a:rPr>
              <a:t>John Adib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AA1C88BB-7AA0-4146-A28E-D8F548C08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67125"/>
            <a:ext cx="10668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3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pPr>
            <a:r>
              <a:rPr sz="3300" b="0">
                <a:solidFill>
                  <a:srgbClr val="15181B"/>
                </a:solidFill>
                <a:latin typeface="Newsreader"/>
                <a:ea typeface="Newsreader"/>
                <a:cs typeface="Newsreader"/>
              </a:rPr>
              <a:t>The story of an EM in the era of AI</a:t>
            </a:r>
          </a:p>
        </p:txBody>
      </p:sp>
      <p:sp>
        <p:nvSpPr>
          <p:cNvPr id="4" name="Credentials">
            <a:extLst xmlns:a="http://schemas.openxmlformats.org/drawingml/2006/main">
              <a:ext uri="{FF2B5EF4-FFF2-40B4-BE49-F238E27FC236}">
                <a16:creationId xmlns:a16="http://schemas.microsoft.com/office/drawing/2014/main" id="{41B753CE-F93D-408A-93EF-070BA1247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05325"/>
            <a:ext cx="10668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0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2× co-founder. Former CTO. Engineering leader and mentor.</a:t>
            </a:r>
          </a:p>
        </p:txBody>
      </p:sp>
      <p:sp>
        <p:nvSpPr>
          <p:cNvPr id="5" name="Experience">
            <a:extLst xmlns:a="http://schemas.openxmlformats.org/drawingml/2006/main">
              <a:ext uri="{FF2B5EF4-FFF2-40B4-BE49-F238E27FC236}">
                <a16:creationId xmlns:a16="http://schemas.microsoft.com/office/drawing/2014/main" id="{33BDDF89-0CCF-405F-90CD-52A58F118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14900"/>
            <a:ext cx="10668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7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87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18 years building and improving systems. I love moving mountains.</a:t>
            </a:r>
          </a:p>
        </p:txBody>
      </p:sp>
      <p:sp>
        <p:nvSpPr>
          <p:cNvPr id="6" name="Website">
            <a:extLst xmlns:a="http://schemas.openxmlformats.org/drawingml/2006/main">
              <a:ext uri="{FF2B5EF4-FFF2-40B4-BE49-F238E27FC236}">
                <a16:creationId xmlns:a16="http://schemas.microsoft.com/office/drawing/2014/main" id="{B7F5DE0F-A0B5-43D4-9D11-7C6C025E9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619750"/>
            <a:ext cx="10668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7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87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MrAdib.com</a:t>
            </a:r>
          </a:p>
        </p:txBody>
      </p:sp>
      <p:sp>
        <p:nvSpPr>
          <p:cNvPr id="7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44948736-23AD-4DA8-9302-45C0996AF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48425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89027132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E7EC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Active section">
            <a:extLst xmlns:a="http://schemas.openxmlformats.org/drawingml/2006/main">
              <a:ext uri="{FF2B5EF4-FFF2-40B4-BE49-F238E27FC236}">
                <a16:creationId xmlns:a16="http://schemas.microsoft.com/office/drawing/2014/main" id="{F9810F8A-8EE4-44E0-8DBD-0348E8AE0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790575"/>
            <a:ext cx="914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43B"/>
                </a:solidFill>
                <a:latin typeface="Newsreader"/>
                <a:ea typeface="Newsreader"/>
                <a:cs typeface="Newsreader"/>
              </a:defRPr>
            </a:pPr>
            <a:r>
              <a:rPr sz="2550" b="1">
                <a:solidFill>
                  <a:srgbClr val="17243B"/>
                </a:solidFill>
                <a:latin typeface="Newsreader"/>
                <a:ea typeface="Newsreader"/>
                <a:cs typeface="Newsreader"/>
              </a:rPr>
              <a:t>01  Skills</a:t>
            </a:r>
          </a:p>
        </p:txBody>
      </p:sp>
      <p:sp>
        <p:nvSpPr>
          <p:cNvPr id="2" name="Section description 0">
            <a:extLst xmlns:a="http://schemas.openxmlformats.org/drawingml/2006/main">
              <a:ext uri="{FF2B5EF4-FFF2-40B4-BE49-F238E27FC236}">
                <a16:creationId xmlns:a16="http://schemas.microsoft.com/office/drawing/2014/main" id="{77364B72-484D-4EEE-B7AF-F94FEFA2C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1190625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Make good engineering habits repeatable.</a:t>
            </a:r>
          </a:p>
        </p:txBody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55bafc60bae4fd9"/>
          <a:stretch xmlns:a="http://schemas.openxmlformats.org/drawingml/2006/main"/>
        </p:blipFill>
        <p:spPr>
          <a:xfrm xmlns:a="http://schemas.openxmlformats.org/drawingml/2006/main">
            <a:off x="1333500" y="1362075"/>
            <a:ext cx="9334500" cy="1143000"/>
          </a:xfrm>
          <a:prstGeom xmlns:a="http://schemas.openxmlformats.org/drawingml/2006/main" prst="rect">
            <a:avLst/>
          </a:prstGeom>
        </p:spPr>
      </p:pic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3ed74c0a5624935"/>
          <a:stretch xmlns:a="http://schemas.openxmlformats.org/drawingml/2006/main"/>
        </p:blipFill>
        <p:spPr>
          <a:xfrm xmlns:a="http://schemas.openxmlformats.org/drawingml/2006/main">
            <a:off x="1333500" y="2124075"/>
            <a:ext cx="9334500" cy="1143000"/>
          </a:xfrm>
          <a:prstGeom xmlns:a="http://schemas.openxmlformats.org/drawingml/2006/main" prst="rect">
            <a:avLst/>
          </a:prstGeom>
        </p:spPr>
      </p:pic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37d62573b0843a3"/>
          <a:stretch xmlns:a="http://schemas.openxmlformats.org/drawingml/2006/main"/>
        </p:blipFill>
        <p:spPr>
          <a:xfrm xmlns:a="http://schemas.openxmlformats.org/drawingml/2006/main">
            <a:off x="1333500" y="2886075"/>
            <a:ext cx="9334500" cy="1143000"/>
          </a:xfrm>
          <a:prstGeom xmlns:a="http://schemas.openxmlformats.org/drawingml/2006/main" prst="rect">
            <a:avLst/>
          </a:prstGeom>
        </p:spPr>
      </p:pic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58095599fc84fe9"/>
          <a:stretch xmlns:a="http://schemas.openxmlformats.org/drawingml/2006/main"/>
        </p:blipFill>
        <p:spPr>
          <a:xfrm xmlns:a="http://schemas.openxmlformats.org/drawingml/2006/main">
            <a:off x="1333500" y="3648075"/>
            <a:ext cx="9334500" cy="1143000"/>
          </a:xfrm>
          <a:prstGeom xmlns:a="http://schemas.openxmlformats.org/drawingml/2006/main" prst="rect">
            <a:avLst/>
          </a:prstGeom>
        </p:spPr>
      </p:pic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bb584804b894f15"/>
          <a:stretch xmlns:a="http://schemas.openxmlformats.org/drawingml/2006/main"/>
        </p:blipFill>
        <p:spPr>
          <a:xfrm xmlns:a="http://schemas.openxmlformats.org/drawingml/2006/main">
            <a:off x="1333500" y="4410075"/>
            <a:ext cx="9334500" cy="1143000"/>
          </a:xfrm>
          <a:prstGeom xmlns:a="http://schemas.openxmlformats.org/drawingml/2006/main" prst="rect">
            <a:avLst/>
          </a:prstGeom>
        </p:spPr>
      </p:pic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9be8132589a4001"/>
          <a:stretch xmlns:a="http://schemas.openxmlformats.org/drawingml/2006/main"/>
        </p:blipFill>
        <p:spPr>
          <a:xfrm xmlns:a="http://schemas.openxmlformats.org/drawingml/2006/main">
            <a:off x="1333500" y="5172075"/>
            <a:ext cx="9334500" cy="1143000"/>
          </a:xfrm>
          <a:prstGeom xmlns:a="http://schemas.openxmlformats.org/drawingml/2006/main" prst="rect">
            <a:avLst/>
          </a:prstGeom>
        </p:spPr>
      </p:pic>
      <p:sp>
        <p:nvSpPr>
          <p:cNvPr id="9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C911B0A7-B1DD-4A4D-98FD-0E6BB1704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48425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417239002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5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Title">
            <a:extLst xmlns:a="http://schemas.openxmlformats.org/drawingml/2006/main">
              <a:ext uri="{FF2B5EF4-FFF2-40B4-BE49-F238E27FC236}">
                <a16:creationId xmlns:a16="http://schemas.microsoft.com/office/drawing/2014/main" id="{7FEB187A-11D5-417D-A976-90853A8C0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19125"/>
            <a:ext cx="10668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pPr>
            <a:r>
              <a: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rPr>
              <a:t>Eight skills. One development loop.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E94798F0-6227-4459-BF9E-716974A57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581150"/>
            <a:ext cx="104775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Each skill has a responsibility and an output.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D31049BD-1433-4DC6-8065-DD94B9B27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495550"/>
            <a:ext cx="5095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cook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8323FB13-EE71-48B0-A42B-4E9C59DE9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914650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Coordinates the task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CACB3F03-341A-40DF-93A9-FFF6CCF3B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495550"/>
            <a:ext cx="5095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sherlock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67AADB3E-F273-424B-B829-002A0EADA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914650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Discovers the repository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B7B61609-AE76-49C3-A77B-6AF4C36D5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409950"/>
            <a:ext cx="5095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dig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87655647-ECBC-458A-AB08-AFCCB73AF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29050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Researches the behaviour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20CAA20E-27C8-4F0A-8940-1262EB1EE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409950"/>
            <a:ext cx="5095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mastermind</a:t>
            </a:r>
          </a:p>
        </p:txBody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4D83F05C-E49F-4CB2-8B68-05BA8E842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829050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Plans for approval</a:t>
            </a:r>
          </a:p>
        </p:txBody>
      </p:sp>
      <p:sp>
        <p:nvSpPr>
          <p:cNvPr id="11" name="text">
            <a:extLst xmlns:a="http://schemas.openxmlformats.org/drawingml/2006/main">
              <a:ext uri="{FF2B5EF4-FFF2-40B4-BE49-F238E27FC236}">
                <a16:creationId xmlns:a16="http://schemas.microsoft.com/office/drawing/2014/main" id="{55205D37-BC6B-4A1D-8693-8F44B3C94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324350"/>
            <a:ext cx="5095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michelin</a:t>
            </a:r>
          </a:p>
        </p:txBody>
      </p:sp>
      <p:sp>
        <p:nvSpPr>
          <p:cNvPr id="12" name="text">
            <a:extLst xmlns:a="http://schemas.openxmlformats.org/drawingml/2006/main">
              <a:ext uri="{FF2B5EF4-FFF2-40B4-BE49-F238E27FC236}">
                <a16:creationId xmlns:a16="http://schemas.microsoft.com/office/drawing/2014/main" id="{231192E1-6E08-4696-BEF6-055E57AEF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743450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Implements and verifies</a:t>
            </a:r>
          </a:p>
        </p:txBody>
      </p:sp>
      <p:sp>
        <p:nvSpPr>
          <p:cNvPr id="13" name="text">
            <a:extLst xmlns:a="http://schemas.openxmlformats.org/drawingml/2006/main">
              <a:ext uri="{FF2B5EF4-FFF2-40B4-BE49-F238E27FC236}">
                <a16:creationId xmlns:a16="http://schemas.microsoft.com/office/drawing/2014/main" id="{54209DAE-1652-41A1-ACFD-D758F38AC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324350"/>
            <a:ext cx="5095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mugshot</a:t>
            </a:r>
          </a:p>
        </p:txBody>
      </p:sp>
      <p:sp>
        <p:nvSpPr>
          <p:cNvPr id="14" name="text">
            <a:extLst xmlns:a="http://schemas.openxmlformats.org/drawingml/2006/main">
              <a:ext uri="{FF2B5EF4-FFF2-40B4-BE49-F238E27FC236}">
                <a16:creationId xmlns:a16="http://schemas.microsoft.com/office/drawing/2014/main" id="{F2ED57E9-E822-46DC-AC56-9E421ADFB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743450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Captures device evidence</a:t>
            </a:r>
          </a:p>
        </p:txBody>
      </p:sp>
      <p:sp>
        <p:nvSpPr>
          <p:cNvPr id="15" name="text">
            <a:extLst xmlns:a="http://schemas.openxmlformats.org/drawingml/2006/main">
              <a:ext uri="{FF2B5EF4-FFF2-40B4-BE49-F238E27FC236}">
                <a16:creationId xmlns:a16="http://schemas.microsoft.com/office/drawing/2014/main" id="{9700C2F6-D237-4D0A-BDF7-9CD1092B0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238750"/>
            <a:ext cx="5095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parole</a:t>
            </a:r>
          </a:p>
        </p:txBody>
      </p:sp>
      <p:sp>
        <p:nvSpPr>
          <p:cNvPr id="16" name="text">
            <a:extLst xmlns:a="http://schemas.openxmlformats.org/drawingml/2006/main">
              <a:ext uri="{FF2B5EF4-FFF2-40B4-BE49-F238E27FC236}">
                <a16:creationId xmlns:a16="http://schemas.microsoft.com/office/drawing/2014/main" id="{4A4E38EE-4060-4D32-9B10-489EE7C1A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657850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Evaluates review feedback</a:t>
            </a:r>
          </a:p>
        </p:txBody>
      </p:sp>
      <p:sp>
        <p:nvSpPr>
          <p:cNvPr id="17" name="text">
            <a:extLst xmlns:a="http://schemas.openxmlformats.org/drawingml/2006/main">
              <a:ext uri="{FF2B5EF4-FFF2-40B4-BE49-F238E27FC236}">
                <a16:creationId xmlns:a16="http://schemas.microsoft.com/office/drawing/2014/main" id="{1BE58C5B-4901-4A6C-AB8E-A5D4B9751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238750"/>
            <a:ext cx="5095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saul</a:t>
            </a:r>
          </a:p>
        </p:txBody>
      </p:sp>
      <p:sp>
        <p:nvSpPr>
          <p:cNvPr id="18" name="text">
            <a:extLst xmlns:a="http://schemas.openxmlformats.org/drawingml/2006/main">
              <a:ext uri="{FF2B5EF4-FFF2-40B4-BE49-F238E27FC236}">
                <a16:creationId xmlns:a16="http://schemas.microsoft.com/office/drawing/2014/main" id="{2EE52165-94BD-4EEC-A97E-0B22CFF2B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657850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Communicates the result</a:t>
            </a:r>
          </a:p>
        </p:txBody>
      </p:sp>
      <p:sp>
        <p:nvSpPr>
          <p:cNvPr id="19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4AC19AA1-2407-4B27-8FB5-754E4CF97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48425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181725275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5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Title">
            <a:extLst xmlns:a="http://schemas.openxmlformats.org/drawingml/2006/main">
              <a:ext uri="{FF2B5EF4-FFF2-40B4-BE49-F238E27FC236}">
                <a16:creationId xmlns:a16="http://schemas.microsoft.com/office/drawing/2014/main" id="{2EC7A33B-B62E-4DE2-9BF3-1E9418A74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19125"/>
            <a:ext cx="10668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405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pPr>
            <a:r>
              <a:rPr sz="4050" b="0">
                <a:solidFill>
                  <a:srgbClr val="15181B"/>
                </a:solidFill>
                <a:latin typeface="Newsreader"/>
                <a:ea typeface="Newsreader"/>
                <a:cs typeface="Newsreader"/>
              </a:rPr>
              <a:t>My engineering standards, written down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240DA354-D08D-4EF2-AFFE-A63B92723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581150"/>
            <a:ext cx="104775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Michelin makes those standards part of every change.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E8415725-98C3-4184-A6C2-A256C6716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76538"/>
            <a:ext cx="3200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Reuse and consistency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AB8A174F-FC57-429C-BA40-8F6314B26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776538"/>
            <a:ext cx="704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Build on existing code, patterns and tools.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5295A0C6-A055-4006-84C4-02A10E90B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81438"/>
            <a:ext cx="3200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Separation of concerns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5A636143-3673-44F6-8D6E-B37950734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881438"/>
            <a:ext cx="704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Keep UI, state and business logic focused.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7B5A87E6-2454-4F12-8969-3DF2E82F3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986338"/>
            <a:ext cx="3200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Quality bar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C4F94EA5-232E-4C77-B18F-F956D4EB5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986338"/>
            <a:ext cx="704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Meaningful tests. Readable code. Verified results.</a:t>
            </a:r>
          </a:p>
        </p:txBody>
      </p:sp>
      <p:sp>
        <p:nvSpPr>
          <p:cNvPr id="9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B83A0B54-B163-4095-A2C4-96371CB4B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48425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92756918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E7EC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Completed section 0">
            <a:extLst xmlns:a="http://schemas.openxmlformats.org/drawingml/2006/main">
              <a:ext uri="{FF2B5EF4-FFF2-40B4-BE49-F238E27FC236}">
                <a16:creationId xmlns:a16="http://schemas.microsoft.com/office/drawing/2014/main" id="{1C16225C-E27A-44BB-AD09-80B950A94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790575"/>
            <a:ext cx="914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pPr>
            <a:r>
              <a: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rPr>
              <a:t>01  Skills</a:t>
            </a:r>
          </a:p>
        </p:txBody>
      </p:sp>
      <p:sp>
        <p:nvSpPr>
          <p:cNvPr id="2" name="Section description 0">
            <a:extLst xmlns:a="http://schemas.openxmlformats.org/drawingml/2006/main">
              <a:ext uri="{FF2B5EF4-FFF2-40B4-BE49-F238E27FC236}">
                <a16:creationId xmlns:a16="http://schemas.microsoft.com/office/drawing/2014/main" id="{1C5DCCF8-7850-4684-91F2-E5EA37BEC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1190625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Make good engineering habits repeatable.</a:t>
            </a:r>
          </a:p>
        </p:txBody>
      </p:sp>
      <p:sp>
        <p:nvSpPr>
          <p:cNvPr id="3" name="Active section">
            <a:extLst xmlns:a="http://schemas.openxmlformats.org/drawingml/2006/main">
              <a:ext uri="{FF2B5EF4-FFF2-40B4-BE49-F238E27FC236}">
                <a16:creationId xmlns:a16="http://schemas.microsoft.com/office/drawing/2014/main" id="{78E51BF0-3E4D-4D3B-B9BC-A98108F7C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1552575"/>
            <a:ext cx="914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43B"/>
                </a:solidFill>
                <a:latin typeface="Newsreader"/>
                <a:ea typeface="Newsreader"/>
                <a:cs typeface="Newsreader"/>
              </a:defRPr>
            </a:pPr>
            <a:r>
              <a:rPr sz="2550" b="1">
                <a:solidFill>
                  <a:srgbClr val="17243B"/>
                </a:solidFill>
                <a:latin typeface="Newsreader"/>
                <a:ea typeface="Newsreader"/>
                <a:cs typeface="Newsreader"/>
              </a:rPr>
              <a:t>02  Testing</a:t>
            </a:r>
          </a:p>
        </p:txBody>
      </p:sp>
      <p:sp>
        <p:nvSpPr>
          <p:cNvPr id="4" name="Section description 1">
            <a:extLst xmlns:a="http://schemas.openxmlformats.org/drawingml/2006/main">
              <a:ext uri="{FF2B5EF4-FFF2-40B4-BE49-F238E27FC236}">
                <a16:creationId xmlns:a16="http://schemas.microsoft.com/office/drawing/2014/main" id="{B0359905-C049-4B8F-9D20-43EB745C0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1952625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Make each check protect real behaviour.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203104bb57442b0"/>
          <a:stretch xmlns:a="http://schemas.openxmlformats.org/drawingml/2006/main"/>
        </p:blipFill>
        <p:spPr>
          <a:xfrm xmlns:a="http://schemas.openxmlformats.org/drawingml/2006/main">
            <a:off x="1333500" y="2124075"/>
            <a:ext cx="9334500" cy="1143000"/>
          </a:xfrm>
          <a:prstGeom xmlns:a="http://schemas.openxmlformats.org/drawingml/2006/main" prst="rect">
            <a:avLst/>
          </a:prstGeom>
        </p:spPr>
      </p:pic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6e3c397d1ff4453"/>
          <a:stretch xmlns:a="http://schemas.openxmlformats.org/drawingml/2006/main"/>
        </p:blipFill>
        <p:spPr>
          <a:xfrm xmlns:a="http://schemas.openxmlformats.org/drawingml/2006/main">
            <a:off x="1333500" y="2886075"/>
            <a:ext cx="9334500" cy="1143000"/>
          </a:xfrm>
          <a:prstGeom xmlns:a="http://schemas.openxmlformats.org/drawingml/2006/main" prst="rect">
            <a:avLst/>
          </a:prstGeom>
        </p:spPr>
      </p:pic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50ab03a67144073"/>
          <a:stretch xmlns:a="http://schemas.openxmlformats.org/drawingml/2006/main"/>
        </p:blipFill>
        <p:spPr>
          <a:xfrm xmlns:a="http://schemas.openxmlformats.org/drawingml/2006/main">
            <a:off x="1333500" y="3648075"/>
            <a:ext cx="9334500" cy="1143000"/>
          </a:xfrm>
          <a:prstGeom xmlns:a="http://schemas.openxmlformats.org/drawingml/2006/main" prst="rect">
            <a:avLst/>
          </a:prstGeom>
        </p:spPr>
      </p:pic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130afa5b2d5428f"/>
          <a:stretch xmlns:a="http://schemas.openxmlformats.org/drawingml/2006/main"/>
        </p:blipFill>
        <p:spPr>
          <a:xfrm xmlns:a="http://schemas.openxmlformats.org/drawingml/2006/main">
            <a:off x="1333500" y="4410075"/>
            <a:ext cx="9334500" cy="1143000"/>
          </a:xfrm>
          <a:prstGeom xmlns:a="http://schemas.openxmlformats.org/drawingml/2006/main" prst="rect">
            <a:avLst/>
          </a:prstGeom>
        </p:spPr>
      </p:pic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f1dc894a036432e"/>
          <a:stretch xmlns:a="http://schemas.openxmlformats.org/drawingml/2006/main"/>
        </p:blipFill>
        <p:spPr>
          <a:xfrm xmlns:a="http://schemas.openxmlformats.org/drawingml/2006/main">
            <a:off x="1333500" y="5172075"/>
            <a:ext cx="9334500" cy="1143000"/>
          </a:xfrm>
          <a:prstGeom xmlns:a="http://schemas.openxmlformats.org/drawingml/2006/main" prst="rect">
            <a:avLst/>
          </a:prstGeom>
        </p:spPr>
      </p:pic>
      <p:sp>
        <p:nvSpPr>
          <p:cNvPr id="10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F2EFB321-EFB2-47AC-BD7D-E7DA94DAA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48425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344742438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5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Title">
            <a:extLst xmlns:a="http://schemas.openxmlformats.org/drawingml/2006/main">
              <a:ext uri="{FF2B5EF4-FFF2-40B4-BE49-F238E27FC236}">
                <a16:creationId xmlns:a16="http://schemas.microsoft.com/office/drawing/2014/main" id="{A1761A1B-5574-4831-80C3-4601DCF9C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19125"/>
            <a:ext cx="10668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405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pPr>
            <a:r>
              <a:rPr sz="4050" b="0">
                <a:solidFill>
                  <a:srgbClr val="15181B"/>
                </a:solidFill>
                <a:latin typeface="Newsreader"/>
                <a:ea typeface="Newsreader"/>
                <a:cs typeface="Newsreader"/>
              </a:rPr>
              <a:t>The testing bar, written into the codebase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025D1FFD-7EAD-455B-BE3F-5E0922428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581150"/>
            <a:ext cx="104775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Protect what works. Raise the bar with every change.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08FED0EC-B59B-4BDE-90BD-5E8870026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566988"/>
            <a:ext cx="3200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New code needs tests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C46D4565-692F-45F6-AA41-901E7A3B3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566988"/>
            <a:ext cx="7048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No test, no acceptance.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AD9F0479-12A7-4528-BEE3-62315E9BA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481388"/>
            <a:ext cx="3200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Bug fixes prove both cases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328EB135-57CD-4919-922E-67981DEAA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481388"/>
            <a:ext cx="7048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The test fails before the fix and passes after it.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9C4EAEA0-67B6-47ED-A5A4-4EE6A85BC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395788"/>
            <a:ext cx="3200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Titles explain behaviour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A7F07C09-56B6-44D9-AF00-DF74F5165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395788"/>
            <a:ext cx="7048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Name the expected result in plain language.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DF98B727-3E2D-4AD0-87B2-02A257FE3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310188"/>
            <a:ext cx="3200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The bar keeps rising</a:t>
            </a:r>
          </a:p>
        </p:txBody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DE8B1B16-433F-48B5-8301-C0F6D6AC2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5310188"/>
            <a:ext cx="7048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Keep existing checks passing. Add protection as we go.</a:t>
            </a:r>
          </a:p>
        </p:txBody>
      </p:sp>
      <p:sp>
        <p:nvSpPr>
          <p:cNvPr id="11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72221EA2-B898-490C-A503-8AD3CFB70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48425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664879587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5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Title">
            <a:extLst xmlns:a="http://schemas.openxmlformats.org/drawingml/2006/main">
              <a:ext uri="{FF2B5EF4-FFF2-40B4-BE49-F238E27FC236}">
                <a16:creationId xmlns:a16="http://schemas.microsoft.com/office/drawing/2014/main" id="{78D0C284-6007-458B-8EAF-8021A975C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19125"/>
            <a:ext cx="10668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pPr>
            <a:r>
              <a: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rPr>
              <a:t>113 to 1,669 unit-test files</a:t>
            </a:r>
          </a:p>
        </p:txBody>
      </p:sp>
      <p:graphicFrame>
        <p:nvGraphicFramePr>
          <p:cNvPr id="8" name="Chart"/>
          <p:cNvGraphicFramePr/>
          <p:nvPr/>
        </p:nvGraphicFramePr>
        <p:xfrm>
          <a:off xmlns:a="http://schemas.openxmlformats.org/drawingml/2006/main" x="723900" y="2381250"/>
          <a:ext xmlns:a="http://schemas.openxmlformats.org/drawingml/2006/main" cx="10744200" cy="31813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40f12f99bf2b4184"/>
          </a:graphicData>
        </a:graphic>
      </p:graphicFrame>
      <p:sp>
        <p:nvSpPr>
          <p:cNvPr id="3" name="April month marker">
            <a:extLst xmlns:a="http://schemas.openxmlformats.org/drawingml/2006/main">
              <a:ext uri="{FF2B5EF4-FFF2-40B4-BE49-F238E27FC236}">
                <a16:creationId xmlns:a16="http://schemas.microsoft.com/office/drawing/2014/main" id="{66FE8300-2ECF-4EA5-8C4C-B56D3B9F6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24475" y="2381250"/>
            <a:ext cx="0" cy="28003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565F65"/>
            </a:solidFill>
            <a:prstDash val="dash"/>
          </a:ln>
        </p:spPr>
      </p:sp>
      <p:sp>
        <p:nvSpPr>
          <p:cNvPr id="4" name="April joining context">
            <a:extLst xmlns:a="http://schemas.openxmlformats.org/drawingml/2006/main">
              <a:ext uri="{FF2B5EF4-FFF2-40B4-BE49-F238E27FC236}">
                <a16:creationId xmlns:a16="http://schemas.microsoft.com/office/drawing/2014/main" id="{55390C04-1D39-4AD4-8066-D823A985D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19300"/>
            <a:ext cx="4476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8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Joined in April 2026</a:t>
            </a:r>
          </a:p>
        </p:txBody>
      </p:sp>
      <p:sp>
        <p:nvSpPr>
          <p:cNvPr id="5" name="Methodology">
            <a:extLst xmlns:a="http://schemas.openxmlformats.org/drawingml/2006/main">
              <a:ext uri="{FF2B5EF4-FFF2-40B4-BE49-F238E27FC236}">
                <a16:creationId xmlns:a16="http://schemas.microsoft.com/office/drawing/2014/main" id="{1F2B6659-8B9E-43E2-A86B-CBDCE363D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762625"/>
            <a:ext cx="1057275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8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Month-end test-file inventory, January to September 2026. File count does not measure coverage.</a:t>
            </a:r>
          </a:p>
        </p:txBody>
      </p:sp>
      <p:sp>
        <p:nvSpPr>
          <p:cNvPr id="6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BD4251FE-779D-4665-8F0D-457C382AB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48425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45583594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E7EC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Completed section 0">
            <a:extLst xmlns:a="http://schemas.openxmlformats.org/drawingml/2006/main">
              <a:ext uri="{FF2B5EF4-FFF2-40B4-BE49-F238E27FC236}">
                <a16:creationId xmlns:a16="http://schemas.microsoft.com/office/drawing/2014/main" id="{28D1C248-EF55-4380-A468-5A39E1CB5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790575"/>
            <a:ext cx="914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pPr>
            <a:r>
              <a: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rPr>
              <a:t>01  Skills</a:t>
            </a:r>
          </a:p>
        </p:txBody>
      </p:sp>
      <p:sp>
        <p:nvSpPr>
          <p:cNvPr id="2" name="Section description 0">
            <a:extLst xmlns:a="http://schemas.openxmlformats.org/drawingml/2006/main">
              <a:ext uri="{FF2B5EF4-FFF2-40B4-BE49-F238E27FC236}">
                <a16:creationId xmlns:a16="http://schemas.microsoft.com/office/drawing/2014/main" id="{F97F3961-560F-4969-A27F-AE32DFAE3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1190625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Make good engineering habits repeatable.</a:t>
            </a:r>
          </a:p>
        </p:txBody>
      </p:sp>
      <p:sp>
        <p:nvSpPr>
          <p:cNvPr id="3" name="Completed section 1">
            <a:extLst xmlns:a="http://schemas.openxmlformats.org/drawingml/2006/main">
              <a:ext uri="{FF2B5EF4-FFF2-40B4-BE49-F238E27FC236}">
                <a16:creationId xmlns:a16="http://schemas.microsoft.com/office/drawing/2014/main" id="{B1E110D4-6B70-4F5D-9E0E-A5349EC53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1552575"/>
            <a:ext cx="914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pPr>
            <a:r>
              <a: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rPr>
              <a:t>02  Testing</a:t>
            </a:r>
          </a:p>
        </p:txBody>
      </p:sp>
      <p:sp>
        <p:nvSpPr>
          <p:cNvPr id="4" name="Section description 1">
            <a:extLst xmlns:a="http://schemas.openxmlformats.org/drawingml/2006/main">
              <a:ext uri="{FF2B5EF4-FFF2-40B4-BE49-F238E27FC236}">
                <a16:creationId xmlns:a16="http://schemas.microsoft.com/office/drawing/2014/main" id="{7A5B873E-7E0A-45BB-997E-41C437298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1952625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Make each check protect real behaviour.</a:t>
            </a:r>
          </a:p>
        </p:txBody>
      </p:sp>
      <p:sp>
        <p:nvSpPr>
          <p:cNvPr id="5" name="Active section">
            <a:extLst xmlns:a="http://schemas.openxmlformats.org/drawingml/2006/main">
              <a:ext uri="{FF2B5EF4-FFF2-40B4-BE49-F238E27FC236}">
                <a16:creationId xmlns:a16="http://schemas.microsoft.com/office/drawing/2014/main" id="{1180AF2C-6F59-48EA-B9BE-EC256751B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314575"/>
            <a:ext cx="914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43B"/>
                </a:solidFill>
                <a:latin typeface="Newsreader"/>
                <a:ea typeface="Newsreader"/>
                <a:cs typeface="Newsreader"/>
              </a:defRPr>
            </a:pPr>
            <a:r>
              <a:rPr sz="2550" b="1">
                <a:solidFill>
                  <a:srgbClr val="17243B"/>
                </a:solidFill>
                <a:latin typeface="Newsreader"/>
                <a:ea typeface="Newsreader"/>
                <a:cs typeface="Newsreader"/>
              </a:rPr>
              <a:t>03  CI</a:t>
            </a:r>
          </a:p>
        </p:txBody>
      </p:sp>
      <p:sp>
        <p:nvSpPr>
          <p:cNvPr id="6" name="Section description 2">
            <a:extLst xmlns:a="http://schemas.openxmlformats.org/drawingml/2006/main">
              <a:ext uri="{FF2B5EF4-FFF2-40B4-BE49-F238E27FC236}">
                <a16:creationId xmlns:a16="http://schemas.microsoft.com/office/drawing/2014/main" id="{23A5C84D-574F-4802-87CD-1922BF21D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2714625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Check every PR. Block the pipeline on failure.</a:t>
            </a:r>
          </a:p>
        </p:txBody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cdd9329fde04bea"/>
          <a:stretch xmlns:a="http://schemas.openxmlformats.org/drawingml/2006/main"/>
        </p:blipFill>
        <p:spPr>
          <a:xfrm xmlns:a="http://schemas.openxmlformats.org/drawingml/2006/main">
            <a:off x="1333500" y="2886075"/>
            <a:ext cx="9334500" cy="1143000"/>
          </a:xfrm>
          <a:prstGeom xmlns:a="http://schemas.openxmlformats.org/drawingml/2006/main" prst="rect">
            <a:avLst/>
          </a:prstGeom>
        </p:spPr>
      </p:pic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b0e457787fb4307"/>
          <a:stretch xmlns:a="http://schemas.openxmlformats.org/drawingml/2006/main"/>
        </p:blipFill>
        <p:spPr>
          <a:xfrm xmlns:a="http://schemas.openxmlformats.org/drawingml/2006/main">
            <a:off x="1333500" y="3648075"/>
            <a:ext cx="9334500" cy="1143000"/>
          </a:xfrm>
          <a:prstGeom xmlns:a="http://schemas.openxmlformats.org/drawingml/2006/main" prst="rect">
            <a:avLst/>
          </a:prstGeom>
        </p:spPr>
      </p:pic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5c907c80f244279"/>
          <a:stretch xmlns:a="http://schemas.openxmlformats.org/drawingml/2006/main"/>
        </p:blipFill>
        <p:spPr>
          <a:xfrm xmlns:a="http://schemas.openxmlformats.org/drawingml/2006/main">
            <a:off x="1333500" y="4410075"/>
            <a:ext cx="9334500" cy="1143000"/>
          </a:xfrm>
          <a:prstGeom xmlns:a="http://schemas.openxmlformats.org/drawingml/2006/main" prst="rect">
            <a:avLst/>
          </a:prstGeom>
        </p:spPr>
      </p:pic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15b7829ce654bfb"/>
          <a:stretch xmlns:a="http://schemas.openxmlformats.org/drawingml/2006/main"/>
        </p:blipFill>
        <p:spPr>
          <a:xfrm xmlns:a="http://schemas.openxmlformats.org/drawingml/2006/main">
            <a:off x="1333500" y="5172075"/>
            <a:ext cx="9334500" cy="1143000"/>
          </a:xfrm>
          <a:prstGeom xmlns:a="http://schemas.openxmlformats.org/drawingml/2006/main" prst="rect">
            <a:avLst/>
          </a:prstGeom>
        </p:spPr>
      </p:pic>
      <p:sp>
        <p:nvSpPr>
          <p:cNvPr id="11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7722DEFB-ADCD-437A-BAF3-9D14804FB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48425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878774562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5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Title">
            <a:extLst xmlns:a="http://schemas.openxmlformats.org/drawingml/2006/main">
              <a:ext uri="{FF2B5EF4-FFF2-40B4-BE49-F238E27FC236}">
                <a16:creationId xmlns:a16="http://schemas.microsoft.com/office/drawing/2014/main" id="{CB23D8C6-C61E-4AF4-8B84-EAF89B587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19125"/>
            <a:ext cx="10668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pPr>
            <a:r>
              <a: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rPr>
              <a:t>Every PR goes through CI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A4988C07-34D3-45F4-B633-7CED00436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581150"/>
            <a:ext cx="104775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Failed checks block the pipeline until they pass.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65DAEF8A-DADF-443A-8E93-1028EECF0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562225"/>
            <a:ext cx="3200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Run the checks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2B06F654-C823-4977-84C0-8ED88E5A4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562225"/>
            <a:ext cx="704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Lint, types, tests and build on every PR.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5378DF3B-B6E8-429C-A414-3D9DC8209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667125"/>
            <a:ext cx="3200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Parole evaluates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945221A1-99A1-4A20-940F-CB5EFF070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667125"/>
            <a:ext cx="704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Watch CI results. Investigate each failure.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A8EE8EC3-D4E9-4A82-9350-37029093F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772025"/>
            <a:ext cx="3200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Michelin fixes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83E44EC7-74CD-44CC-82A9-01082265D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772025"/>
            <a:ext cx="704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Make the correction. Commit, push and run again.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F66A290C-7995-4FD7-B6A0-438F2C7A7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6067425"/>
            <a:ext cx="10572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The loop repeats until the required checks pass.</a:t>
            </a:r>
          </a:p>
        </p:txBody>
      </p:sp>
      <p:sp>
        <p:nvSpPr>
          <p:cNvPr id="10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35D17DC2-AC2E-4D99-AAD6-547DF13E2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48425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181194872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5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Title">
            <a:extLst xmlns:a="http://schemas.openxmlformats.org/drawingml/2006/main">
              <a:ext uri="{FF2B5EF4-FFF2-40B4-BE49-F238E27FC236}">
                <a16:creationId xmlns:a16="http://schemas.microsoft.com/office/drawing/2014/main" id="{D54E44C1-EB51-4555-95DE-FEDE23615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19125"/>
            <a:ext cx="10668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pPr>
            <a:r>
              <a: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rPr>
              <a:t>The quality bar keeps rising</a:t>
            </a:r>
          </a:p>
        </p:txBody>
      </p:sp>
      <p:sp>
        <p:nvSpPr>
          <p:cNvPr id="2" name="Metric value">
            <a:extLst xmlns:a="http://schemas.openxmlformats.org/drawingml/2006/main">
              <a:ext uri="{FF2B5EF4-FFF2-40B4-BE49-F238E27FC236}">
                <a16:creationId xmlns:a16="http://schemas.microsoft.com/office/drawing/2014/main" id="{28E9960B-B681-4BC8-92C7-02927321B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676525"/>
            <a:ext cx="1028700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3200" b="0">
                <a:solidFill>
                  <a:srgbClr val="00786F"/>
                </a:solidFill>
                <a:latin typeface="Newsreader"/>
                <a:ea typeface="Newsreader"/>
                <a:cs typeface="Newsreader"/>
              </a:defRPr>
            </a:pPr>
            <a:r>
              <a:rPr sz="13200" b="0">
                <a:solidFill>
                  <a:srgbClr val="00786F"/>
                </a:solidFill>
                <a:latin typeface="Newsreader"/>
                <a:ea typeface="Newsreader"/>
                <a:cs typeface="Newsreader"/>
              </a:rPr>
              <a:t>72%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61FD9CF3-47A9-412D-B374-2CC968774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857750"/>
            <a:ext cx="10287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Line coverage, September 2026</a:t>
            </a:r>
          </a:p>
        </p:txBody>
      </p:sp>
      <p:sp>
        <p:nvSpPr>
          <p:cNvPr id="4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2BDB626C-60C9-4A78-A1CD-3229945A4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48425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1814794178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E7EC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Completed section 0">
            <a:extLst xmlns:a="http://schemas.openxmlformats.org/drawingml/2006/main">
              <a:ext uri="{FF2B5EF4-FFF2-40B4-BE49-F238E27FC236}">
                <a16:creationId xmlns:a16="http://schemas.microsoft.com/office/drawing/2014/main" id="{9BAEE95B-C4EE-4692-BEE9-C90223EB5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790575"/>
            <a:ext cx="914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pPr>
            <a:r>
              <a: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rPr>
              <a:t>01  Skills</a:t>
            </a:r>
          </a:p>
        </p:txBody>
      </p:sp>
      <p:sp>
        <p:nvSpPr>
          <p:cNvPr id="2" name="Section description 0">
            <a:extLst xmlns:a="http://schemas.openxmlformats.org/drawingml/2006/main">
              <a:ext uri="{FF2B5EF4-FFF2-40B4-BE49-F238E27FC236}">
                <a16:creationId xmlns:a16="http://schemas.microsoft.com/office/drawing/2014/main" id="{DCD2D9C4-9410-48F8-846A-28530636E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1190625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Make good engineering habits repeatable.</a:t>
            </a:r>
          </a:p>
        </p:txBody>
      </p:sp>
      <p:sp>
        <p:nvSpPr>
          <p:cNvPr id="3" name="Completed section 1">
            <a:extLst xmlns:a="http://schemas.openxmlformats.org/drawingml/2006/main">
              <a:ext uri="{FF2B5EF4-FFF2-40B4-BE49-F238E27FC236}">
                <a16:creationId xmlns:a16="http://schemas.microsoft.com/office/drawing/2014/main" id="{AACB47CB-FF0A-4E5B-8DB0-E7053F3FD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1552575"/>
            <a:ext cx="914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pPr>
            <a:r>
              <a: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rPr>
              <a:t>02  Testing</a:t>
            </a:r>
          </a:p>
        </p:txBody>
      </p:sp>
      <p:sp>
        <p:nvSpPr>
          <p:cNvPr id="4" name="Section description 1">
            <a:extLst xmlns:a="http://schemas.openxmlformats.org/drawingml/2006/main">
              <a:ext uri="{FF2B5EF4-FFF2-40B4-BE49-F238E27FC236}">
                <a16:creationId xmlns:a16="http://schemas.microsoft.com/office/drawing/2014/main" id="{EF4FBBAA-E628-406C-963C-13A317704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1952625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Make each check protect real behaviour.</a:t>
            </a:r>
          </a:p>
        </p:txBody>
      </p:sp>
      <p:sp>
        <p:nvSpPr>
          <p:cNvPr id="5" name="Completed section 2">
            <a:extLst xmlns:a="http://schemas.openxmlformats.org/drawingml/2006/main">
              <a:ext uri="{FF2B5EF4-FFF2-40B4-BE49-F238E27FC236}">
                <a16:creationId xmlns:a16="http://schemas.microsoft.com/office/drawing/2014/main" id="{16F95636-598D-45E5-A824-B70FCBCFA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314575"/>
            <a:ext cx="914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pPr>
            <a:r>
              <a: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rPr>
              <a:t>03  CI</a:t>
            </a:r>
          </a:p>
        </p:txBody>
      </p:sp>
      <p:sp>
        <p:nvSpPr>
          <p:cNvPr id="6" name="Section description 2">
            <a:extLst xmlns:a="http://schemas.openxmlformats.org/drawingml/2006/main">
              <a:ext uri="{FF2B5EF4-FFF2-40B4-BE49-F238E27FC236}">
                <a16:creationId xmlns:a16="http://schemas.microsoft.com/office/drawing/2014/main" id="{A8A11852-24EC-4F73-886C-58DE3752E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2714625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Check every PR. Block the pipeline on failure.</a:t>
            </a:r>
          </a:p>
        </p:txBody>
      </p:sp>
      <p:sp>
        <p:nvSpPr>
          <p:cNvPr id="7" name="Active section">
            <a:extLst xmlns:a="http://schemas.openxmlformats.org/drawingml/2006/main">
              <a:ext uri="{FF2B5EF4-FFF2-40B4-BE49-F238E27FC236}">
                <a16:creationId xmlns:a16="http://schemas.microsoft.com/office/drawing/2014/main" id="{173F8003-42F6-4E6F-BB34-AC644947B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076575"/>
            <a:ext cx="914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43B"/>
                </a:solidFill>
                <a:latin typeface="Newsreader"/>
                <a:ea typeface="Newsreader"/>
                <a:cs typeface="Newsreader"/>
              </a:defRPr>
            </a:pPr>
            <a:r>
              <a:rPr sz="2550" b="1">
                <a:solidFill>
                  <a:srgbClr val="17243B"/>
                </a:solidFill>
                <a:latin typeface="Newsreader"/>
                <a:ea typeface="Newsreader"/>
                <a:cs typeface="Newsreader"/>
              </a:rPr>
              <a:t>04  Device verification</a:t>
            </a:r>
          </a:p>
        </p:txBody>
      </p:sp>
      <p:sp>
        <p:nvSpPr>
          <p:cNvPr id="8" name="Section description 3">
            <a:extLst xmlns:a="http://schemas.openxmlformats.org/drawingml/2006/main">
              <a:ext uri="{FF2B5EF4-FFF2-40B4-BE49-F238E27FC236}">
                <a16:creationId xmlns:a16="http://schemas.microsoft.com/office/drawing/2014/main" id="{02D56BCD-E0F7-49CB-B3B2-34C31A8D5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3476625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Maestro checks on iOS and Android. Failures block delivery.</a:t>
            </a:r>
          </a:p>
        </p:txBody>
      </p:sp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410cfc258e44b4c"/>
          <a:stretch xmlns:a="http://schemas.openxmlformats.org/drawingml/2006/main"/>
        </p:blipFill>
        <p:spPr>
          <a:xfrm xmlns:a="http://schemas.openxmlformats.org/drawingml/2006/main">
            <a:off x="1333500" y="3648075"/>
            <a:ext cx="9334500" cy="1143000"/>
          </a:xfrm>
          <a:prstGeom xmlns:a="http://schemas.openxmlformats.org/drawingml/2006/main" prst="rect">
            <a:avLst/>
          </a:prstGeom>
        </p:spPr>
      </p:pic>
      <p:pic>
        <p:nvPicPr>
          <p:cNvPr id="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31a95853da4424b"/>
          <a:stretch xmlns:a="http://schemas.openxmlformats.org/drawingml/2006/main"/>
        </p:blipFill>
        <p:spPr>
          <a:xfrm xmlns:a="http://schemas.openxmlformats.org/drawingml/2006/main">
            <a:off x="1333500" y="4410075"/>
            <a:ext cx="9334500" cy="1143000"/>
          </a:xfrm>
          <a:prstGeom xmlns:a="http://schemas.openxmlformats.org/drawingml/2006/main" prst="rect">
            <a:avLst/>
          </a:prstGeom>
        </p:spPr>
      </p:pic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6181dcf4617446a"/>
          <a:stretch xmlns:a="http://schemas.openxmlformats.org/drawingml/2006/main"/>
        </p:blipFill>
        <p:spPr>
          <a:xfrm xmlns:a="http://schemas.openxmlformats.org/drawingml/2006/main">
            <a:off x="1333500" y="5172075"/>
            <a:ext cx="9334500" cy="1143000"/>
          </a:xfrm>
          <a:prstGeom xmlns:a="http://schemas.openxmlformats.org/drawingml/2006/main" prst="rect">
            <a:avLst/>
          </a:prstGeom>
        </p:spPr>
      </p:pic>
      <p:sp>
        <p:nvSpPr>
          <p:cNvPr id="12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279665A2-DCD5-44B4-B56F-27B88C7C4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48425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1106189989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5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Title">
            <a:extLst xmlns:a="http://schemas.openxmlformats.org/drawingml/2006/main">
              <a:ext uri="{FF2B5EF4-FFF2-40B4-BE49-F238E27FC236}">
                <a16:creationId xmlns:a16="http://schemas.microsoft.com/office/drawing/2014/main" id="{EF54057B-4424-4E3E-A60E-767540344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19125"/>
            <a:ext cx="10668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405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pPr>
            <a:r>
              <a:rPr sz="4050" b="0">
                <a:solidFill>
                  <a:srgbClr val="15181B"/>
                </a:solidFill>
                <a:latin typeface="Newsreader"/>
                <a:ea typeface="Newsreader"/>
                <a:cs typeface="Newsreader"/>
              </a:rPr>
              <a:t>Maestro checks the app while we sleep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E72B6F37-D8BD-4DB8-8439-EAFC61756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581150"/>
            <a:ext cx="104775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Android and iOS, with evidence of every failure.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0C498E09-6CFC-4B43-9C83-06C25836C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562225"/>
            <a:ext cx="3200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Every PR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5A50192D-FA1F-42B1-B06E-3BDD6306B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562225"/>
            <a:ext cx="704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Run the smoke tests.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938DB2F4-9476-4A96-8CCA-B7FCA2A62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667125"/>
            <a:ext cx="3200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Every night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E5DE212D-C503-4F87-B738-44276D6F9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667125"/>
            <a:ext cx="704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Run the full end-to-end suite.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5AACE2E8-90B1-4F21-B3B0-FDA15505A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772025"/>
            <a:ext cx="3200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A failure blocks delivery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EC776F72-B310-4760-8870-D58BA54B2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772025"/>
            <a:ext cx="704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Fix it first. Watch the video and inspect the logs.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93C959D6-B1CA-4829-BA63-F9BCFAECD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6067425"/>
            <a:ext cx="10572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Attach recordings and logs so people and AI can investigate.</a:t>
            </a:r>
          </a:p>
        </p:txBody>
      </p:sp>
      <p:sp>
        <p:nvSpPr>
          <p:cNvPr id="10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BED41FD9-09F3-4E2E-B7B1-AC50F76BF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48425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774204167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5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Title">
            <a:extLst xmlns:a="http://schemas.openxmlformats.org/drawingml/2006/main">
              <a:ext uri="{FF2B5EF4-FFF2-40B4-BE49-F238E27FC236}">
                <a16:creationId xmlns:a16="http://schemas.microsoft.com/office/drawing/2014/main" id="{3322D41B-A043-41C3-8B50-F6BEDDBB3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19125"/>
            <a:ext cx="10668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pPr>
            <a:r>
              <a: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rPr>
              <a:t>14 to 225 Maestro YAML files</a:t>
            </a:r>
          </a:p>
        </p:txBody>
      </p:sp>
      <p:graphicFrame>
        <p:nvGraphicFramePr>
          <p:cNvPr id="8" name="Chart"/>
          <p:cNvGraphicFramePr/>
          <p:nvPr/>
        </p:nvGraphicFramePr>
        <p:xfrm>
          <a:off xmlns:a="http://schemas.openxmlformats.org/drawingml/2006/main" x="723900" y="2381250"/>
          <a:ext xmlns:a="http://schemas.openxmlformats.org/drawingml/2006/main" cx="10744200" cy="31813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b53618df6af4a4e"/>
          </a:graphicData>
        </a:graphic>
      </p:graphicFrame>
      <p:sp>
        <p:nvSpPr>
          <p:cNvPr id="3" name="April month marker">
            <a:extLst xmlns:a="http://schemas.openxmlformats.org/drawingml/2006/main">
              <a:ext uri="{FF2B5EF4-FFF2-40B4-BE49-F238E27FC236}">
                <a16:creationId xmlns:a16="http://schemas.microsoft.com/office/drawing/2014/main" id="{1EBED6CE-F90F-4992-BBE9-955AF2868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2381250"/>
            <a:ext cx="0" cy="28003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565F65"/>
            </a:solidFill>
            <a:prstDash val="dash"/>
          </a:ln>
        </p:spPr>
      </p:sp>
      <p:sp>
        <p:nvSpPr>
          <p:cNvPr id="4" name="April joining context">
            <a:extLst xmlns:a="http://schemas.openxmlformats.org/drawingml/2006/main">
              <a:ext uri="{FF2B5EF4-FFF2-40B4-BE49-F238E27FC236}">
                <a16:creationId xmlns:a16="http://schemas.microsoft.com/office/drawing/2014/main" id="{9D25A462-7015-4E9F-8E38-DD6C2E006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19300"/>
            <a:ext cx="4476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8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Joined in April 2026</a:t>
            </a:r>
          </a:p>
        </p:txBody>
      </p:sp>
      <p:sp>
        <p:nvSpPr>
          <p:cNvPr id="5" name="Methodology">
            <a:extLst xmlns:a="http://schemas.openxmlformats.org/drawingml/2006/main">
              <a:ext uri="{FF2B5EF4-FFF2-40B4-BE49-F238E27FC236}">
                <a16:creationId xmlns:a16="http://schemas.microsoft.com/office/drawing/2014/main" id="{B4F2C1C9-0E7F-468C-8C55-4237BCA9D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762625"/>
            <a:ext cx="1057275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8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Month-end Maestro YAML files, January to September 2026. Includes shared flows and suites.</a:t>
            </a:r>
          </a:p>
        </p:txBody>
      </p:sp>
      <p:sp>
        <p:nvSpPr>
          <p:cNvPr id="6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FD537F8B-7F7F-4B92-A4FC-9BF700AE4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48425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1355284349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E7EC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Completed section 0">
            <a:extLst xmlns:a="http://schemas.openxmlformats.org/drawingml/2006/main">
              <a:ext uri="{FF2B5EF4-FFF2-40B4-BE49-F238E27FC236}">
                <a16:creationId xmlns:a16="http://schemas.microsoft.com/office/drawing/2014/main" id="{94B786FE-4280-43B8-95CE-5FBF32CE2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790575"/>
            <a:ext cx="914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pPr>
            <a:r>
              <a: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rPr>
              <a:t>01  Skills</a:t>
            </a:r>
          </a:p>
        </p:txBody>
      </p:sp>
      <p:sp>
        <p:nvSpPr>
          <p:cNvPr id="2" name="Section description 0">
            <a:extLst xmlns:a="http://schemas.openxmlformats.org/drawingml/2006/main">
              <a:ext uri="{FF2B5EF4-FFF2-40B4-BE49-F238E27FC236}">
                <a16:creationId xmlns:a16="http://schemas.microsoft.com/office/drawing/2014/main" id="{BC202744-067C-4122-A706-3C6D9238A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1190625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Make good engineering habits repeatable.</a:t>
            </a:r>
          </a:p>
        </p:txBody>
      </p:sp>
      <p:sp>
        <p:nvSpPr>
          <p:cNvPr id="3" name="Completed section 1">
            <a:extLst xmlns:a="http://schemas.openxmlformats.org/drawingml/2006/main">
              <a:ext uri="{FF2B5EF4-FFF2-40B4-BE49-F238E27FC236}">
                <a16:creationId xmlns:a16="http://schemas.microsoft.com/office/drawing/2014/main" id="{E45D3290-9712-435F-8A89-90DE13715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1552575"/>
            <a:ext cx="914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pPr>
            <a:r>
              <a: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rPr>
              <a:t>02  Testing</a:t>
            </a:r>
          </a:p>
        </p:txBody>
      </p:sp>
      <p:sp>
        <p:nvSpPr>
          <p:cNvPr id="4" name="Section description 1">
            <a:extLst xmlns:a="http://schemas.openxmlformats.org/drawingml/2006/main">
              <a:ext uri="{FF2B5EF4-FFF2-40B4-BE49-F238E27FC236}">
                <a16:creationId xmlns:a16="http://schemas.microsoft.com/office/drawing/2014/main" id="{7387A07E-6B74-4A89-A956-BDAC083B8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1952625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Make each check protect real behaviour.</a:t>
            </a:r>
          </a:p>
        </p:txBody>
      </p:sp>
      <p:sp>
        <p:nvSpPr>
          <p:cNvPr id="5" name="Completed section 2">
            <a:extLst xmlns:a="http://schemas.openxmlformats.org/drawingml/2006/main">
              <a:ext uri="{FF2B5EF4-FFF2-40B4-BE49-F238E27FC236}">
                <a16:creationId xmlns:a16="http://schemas.microsoft.com/office/drawing/2014/main" id="{9FD68C36-BC01-443E-B0E3-5AE781BEE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314575"/>
            <a:ext cx="914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pPr>
            <a:r>
              <a: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rPr>
              <a:t>03  CI</a:t>
            </a:r>
          </a:p>
        </p:txBody>
      </p:sp>
      <p:sp>
        <p:nvSpPr>
          <p:cNvPr id="6" name="Section description 2">
            <a:extLst xmlns:a="http://schemas.openxmlformats.org/drawingml/2006/main">
              <a:ext uri="{FF2B5EF4-FFF2-40B4-BE49-F238E27FC236}">
                <a16:creationId xmlns:a16="http://schemas.microsoft.com/office/drawing/2014/main" id="{CA5F5C2E-E789-47FE-AB31-E14672A85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2714625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Check every PR. Block the pipeline on failure.</a:t>
            </a:r>
          </a:p>
        </p:txBody>
      </p:sp>
      <p:sp>
        <p:nvSpPr>
          <p:cNvPr id="7" name="Completed section 3">
            <a:extLst xmlns:a="http://schemas.openxmlformats.org/drawingml/2006/main">
              <a:ext uri="{FF2B5EF4-FFF2-40B4-BE49-F238E27FC236}">
                <a16:creationId xmlns:a16="http://schemas.microsoft.com/office/drawing/2014/main" id="{1322148B-22B8-4BC5-93F0-2221E237E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076575"/>
            <a:ext cx="914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pPr>
            <a:r>
              <a: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rPr>
              <a:t>04  Device verification</a:t>
            </a:r>
          </a:p>
        </p:txBody>
      </p:sp>
      <p:sp>
        <p:nvSpPr>
          <p:cNvPr id="8" name="Section description 3">
            <a:extLst xmlns:a="http://schemas.openxmlformats.org/drawingml/2006/main">
              <a:ext uri="{FF2B5EF4-FFF2-40B4-BE49-F238E27FC236}">
                <a16:creationId xmlns:a16="http://schemas.microsoft.com/office/drawing/2014/main" id="{9106252A-99DC-4E28-9AEB-927359F47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3476625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Maestro checks on iOS and Android. Failures block delivery.</a:t>
            </a:r>
          </a:p>
        </p:txBody>
      </p:sp>
      <p:sp>
        <p:nvSpPr>
          <p:cNvPr id="9" name="Active section">
            <a:extLst xmlns:a="http://schemas.openxmlformats.org/drawingml/2006/main">
              <a:ext uri="{FF2B5EF4-FFF2-40B4-BE49-F238E27FC236}">
                <a16:creationId xmlns:a16="http://schemas.microsoft.com/office/drawing/2014/main" id="{E9B2A970-8F71-41FF-B292-787FA8193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838575"/>
            <a:ext cx="914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43B"/>
                </a:solidFill>
                <a:latin typeface="Newsreader"/>
                <a:ea typeface="Newsreader"/>
                <a:cs typeface="Newsreader"/>
              </a:defRPr>
            </a:pPr>
            <a:r>
              <a:rPr sz="2550" b="1">
                <a:solidFill>
                  <a:srgbClr val="17243B"/>
                </a:solidFill>
                <a:latin typeface="Newsreader"/>
                <a:ea typeface="Newsreader"/>
                <a:cs typeface="Newsreader"/>
              </a:rPr>
              <a:t>05  AI reviewers</a:t>
            </a:r>
          </a:p>
        </p:txBody>
      </p:sp>
      <p:sp>
        <p:nvSpPr>
          <p:cNvPr id="10" name="Section description 4">
            <a:extLst xmlns:a="http://schemas.openxmlformats.org/drawingml/2006/main">
              <a:ext uri="{FF2B5EF4-FFF2-40B4-BE49-F238E27FC236}">
                <a16:creationId xmlns:a16="http://schemas.microsoft.com/office/drawing/2014/main" id="{D284C5F2-6178-4471-B510-24B9F524C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4238625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Three reviewers on every PR. Shared mobile guidelines.</a:t>
            </a:r>
          </a:p>
        </p:txBody>
      </p:sp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0001818c26b4014"/>
          <a:stretch xmlns:a="http://schemas.openxmlformats.org/drawingml/2006/main"/>
        </p:blipFill>
        <p:spPr>
          <a:xfrm xmlns:a="http://schemas.openxmlformats.org/drawingml/2006/main">
            <a:off x="1333500" y="4410075"/>
            <a:ext cx="9334500" cy="1143000"/>
          </a:xfrm>
          <a:prstGeom xmlns:a="http://schemas.openxmlformats.org/drawingml/2006/main" prst="rect">
            <a:avLst/>
          </a:prstGeom>
        </p:spPr>
      </p:pic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de1240965e84a6b"/>
          <a:stretch xmlns:a="http://schemas.openxmlformats.org/drawingml/2006/main"/>
        </p:blipFill>
        <p:spPr>
          <a:xfrm xmlns:a="http://schemas.openxmlformats.org/drawingml/2006/main">
            <a:off x="1333500" y="5172075"/>
            <a:ext cx="9334500" cy="1143000"/>
          </a:xfrm>
          <a:prstGeom xmlns:a="http://schemas.openxmlformats.org/drawingml/2006/main" prst="rect">
            <a:avLst/>
          </a:prstGeom>
        </p:spPr>
      </p:pic>
      <p:sp>
        <p:nvSpPr>
          <p:cNvPr id="13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86C1C890-544C-4DED-8EBE-1F3B809A4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48425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1075929725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5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Title">
            <a:extLst xmlns:a="http://schemas.openxmlformats.org/drawingml/2006/main">
              <a:ext uri="{FF2B5EF4-FFF2-40B4-BE49-F238E27FC236}">
                <a16:creationId xmlns:a16="http://schemas.microsoft.com/office/drawing/2014/main" id="{ECE2B09F-5D53-4CA4-A382-3846113B0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19125"/>
            <a:ext cx="10668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405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pPr>
            <a:r>
              <a:rPr sz="4050" b="0">
                <a:solidFill>
                  <a:srgbClr val="15181B"/>
                </a:solidFill>
                <a:latin typeface="Newsreader"/>
                <a:ea typeface="Newsreader"/>
                <a:cs typeface="Newsreader"/>
              </a:rPr>
              <a:t>Three AI reviewers. One mobile specialist.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D11D099F-17FB-4112-BE77-B9668CC43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581150"/>
            <a:ext cx="104775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Review feedback arrives without waiting days for a person.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2B2A1956-0AFE-4554-81B3-C451847AD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76538"/>
            <a:ext cx="3200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CodeRabbit, Qodo, cubic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E8D8F046-0D4D-433B-B61C-D7E5F458B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776538"/>
            <a:ext cx="704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Three review perspectives on every PR.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BA0B7A0F-8E18-4C11-B5EC-9CB5A5BC9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81438"/>
            <a:ext cx="3200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Custom Cursor reviewer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87588227-B5E4-4731-8B9D-2CD477463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881438"/>
            <a:ext cx="704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An hourly review focused on React Native.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67E15C09-13C4-4FCF-8625-22C35B355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986338"/>
            <a:ext cx="3200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A shared quality bar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FFA16564-1EE0-4C08-B320-C777E9ADB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986338"/>
            <a:ext cx="704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All reviewers use the guidelines in the repository.</a:t>
            </a:r>
          </a:p>
        </p:txBody>
      </p:sp>
      <p:sp>
        <p:nvSpPr>
          <p:cNvPr id="9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4F3736C7-ACB9-4DD6-A6C2-91671AC5D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48425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883914056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5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Title">
            <a:extLst xmlns:a="http://schemas.openxmlformats.org/drawingml/2006/main">
              <a:ext uri="{FF2B5EF4-FFF2-40B4-BE49-F238E27FC236}">
                <a16:creationId xmlns:a16="http://schemas.microsoft.com/office/drawing/2014/main" id="{F6ACFA04-DB10-4A69-AF2F-1033535BA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19125"/>
            <a:ext cx="10668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pPr>
            <a:r>
              <a: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rPr>
              <a:t>Review guidelines live with the code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4202EFDC-8E1C-4FCA-9689-C1DB65436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581150"/>
            <a:ext cx="104775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Every AI reviewer starts with the same mobile context.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EDAB1031-E019-45D5-BA9D-112BC06A9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76538"/>
            <a:ext cx="3200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React Native standards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DE9FA2D5-31A9-42A6-A7E5-3EE1D101C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776538"/>
            <a:ext cx="704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Mobile best practices and platform behaviour.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1F29721D-E6F5-4ED9-A7D9-1A4BFF2F0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81438"/>
            <a:ext cx="3200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Engineering expectations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74A4F7C9-CE16-4C0F-841B-E53E9F05E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881438"/>
            <a:ext cx="704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Reuse existing code. Separate concerns. Require tests.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48A96BAA-D1F4-4D0C-BF44-A291787EE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986338"/>
            <a:ext cx="3200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Guidelines evolve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9B9E1B97-44E2-4CD9-8315-DBA5611AE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986338"/>
            <a:ext cx="704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Clarify missed context and improve future reviews.</a:t>
            </a:r>
          </a:p>
        </p:txBody>
      </p:sp>
      <p:sp>
        <p:nvSpPr>
          <p:cNvPr id="9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6A2B5F3A-E39D-470C-907C-3D19CB70E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48425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1578030420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E7EC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Completed section 0">
            <a:extLst xmlns:a="http://schemas.openxmlformats.org/drawingml/2006/main">
              <a:ext uri="{FF2B5EF4-FFF2-40B4-BE49-F238E27FC236}">
                <a16:creationId xmlns:a16="http://schemas.microsoft.com/office/drawing/2014/main" id="{2EDAE210-7C39-4AF6-AB96-C5F69DD67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790575"/>
            <a:ext cx="914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pPr>
            <a:r>
              <a: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rPr>
              <a:t>01  Skills</a:t>
            </a:r>
          </a:p>
        </p:txBody>
      </p:sp>
      <p:sp>
        <p:nvSpPr>
          <p:cNvPr id="2" name="Section description 0">
            <a:extLst xmlns:a="http://schemas.openxmlformats.org/drawingml/2006/main">
              <a:ext uri="{FF2B5EF4-FFF2-40B4-BE49-F238E27FC236}">
                <a16:creationId xmlns:a16="http://schemas.microsoft.com/office/drawing/2014/main" id="{E884C0E5-DBBC-4265-9ACF-D53BE47DB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1190625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Make good engineering habits repeatable.</a:t>
            </a:r>
          </a:p>
        </p:txBody>
      </p:sp>
      <p:sp>
        <p:nvSpPr>
          <p:cNvPr id="3" name="Completed section 1">
            <a:extLst xmlns:a="http://schemas.openxmlformats.org/drawingml/2006/main">
              <a:ext uri="{FF2B5EF4-FFF2-40B4-BE49-F238E27FC236}">
                <a16:creationId xmlns:a16="http://schemas.microsoft.com/office/drawing/2014/main" id="{731D8800-0260-4364-8C5A-D0D264580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1552575"/>
            <a:ext cx="914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pPr>
            <a:r>
              <a: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rPr>
              <a:t>02  Testing</a:t>
            </a:r>
          </a:p>
        </p:txBody>
      </p:sp>
      <p:sp>
        <p:nvSpPr>
          <p:cNvPr id="4" name="Section description 1">
            <a:extLst xmlns:a="http://schemas.openxmlformats.org/drawingml/2006/main">
              <a:ext uri="{FF2B5EF4-FFF2-40B4-BE49-F238E27FC236}">
                <a16:creationId xmlns:a16="http://schemas.microsoft.com/office/drawing/2014/main" id="{015E0F2B-0759-467C-B41C-8461B42AE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1952625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Make each check protect real behaviour.</a:t>
            </a:r>
          </a:p>
        </p:txBody>
      </p:sp>
      <p:sp>
        <p:nvSpPr>
          <p:cNvPr id="5" name="Completed section 2">
            <a:extLst xmlns:a="http://schemas.openxmlformats.org/drawingml/2006/main">
              <a:ext uri="{FF2B5EF4-FFF2-40B4-BE49-F238E27FC236}">
                <a16:creationId xmlns:a16="http://schemas.microsoft.com/office/drawing/2014/main" id="{E2A34BD0-A58A-400F-B6AF-A7D5F51D7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314575"/>
            <a:ext cx="914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pPr>
            <a:r>
              <a: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rPr>
              <a:t>03  CI</a:t>
            </a:r>
          </a:p>
        </p:txBody>
      </p:sp>
      <p:sp>
        <p:nvSpPr>
          <p:cNvPr id="6" name="Section description 2">
            <a:extLst xmlns:a="http://schemas.openxmlformats.org/drawingml/2006/main">
              <a:ext uri="{FF2B5EF4-FFF2-40B4-BE49-F238E27FC236}">
                <a16:creationId xmlns:a16="http://schemas.microsoft.com/office/drawing/2014/main" id="{6D72708E-30ED-4CC4-B9E3-367B449D7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2714625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Check every PR. Block the pipeline on failure.</a:t>
            </a:r>
          </a:p>
        </p:txBody>
      </p:sp>
      <p:sp>
        <p:nvSpPr>
          <p:cNvPr id="7" name="Completed section 3">
            <a:extLst xmlns:a="http://schemas.openxmlformats.org/drawingml/2006/main">
              <a:ext uri="{FF2B5EF4-FFF2-40B4-BE49-F238E27FC236}">
                <a16:creationId xmlns:a16="http://schemas.microsoft.com/office/drawing/2014/main" id="{A2E76956-F687-4DC5-B49E-DF769F2AC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076575"/>
            <a:ext cx="914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pPr>
            <a:r>
              <a: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rPr>
              <a:t>04  Device verification</a:t>
            </a:r>
          </a:p>
        </p:txBody>
      </p:sp>
      <p:sp>
        <p:nvSpPr>
          <p:cNvPr id="8" name="Section description 3">
            <a:extLst xmlns:a="http://schemas.openxmlformats.org/drawingml/2006/main">
              <a:ext uri="{FF2B5EF4-FFF2-40B4-BE49-F238E27FC236}">
                <a16:creationId xmlns:a16="http://schemas.microsoft.com/office/drawing/2014/main" id="{E037437C-2F5A-4B22-91E2-8CC705DC5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3476625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Maestro checks on iOS and Android. Failures block delivery.</a:t>
            </a:r>
          </a:p>
        </p:txBody>
      </p:sp>
      <p:sp>
        <p:nvSpPr>
          <p:cNvPr id="9" name="Completed section 4">
            <a:extLst xmlns:a="http://schemas.openxmlformats.org/drawingml/2006/main">
              <a:ext uri="{FF2B5EF4-FFF2-40B4-BE49-F238E27FC236}">
                <a16:creationId xmlns:a16="http://schemas.microsoft.com/office/drawing/2014/main" id="{4B896032-36B8-4422-B778-70ECAC58C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838575"/>
            <a:ext cx="914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pPr>
            <a:r>
              <a: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rPr>
              <a:t>05  AI reviewers</a:t>
            </a:r>
          </a:p>
        </p:txBody>
      </p:sp>
      <p:sp>
        <p:nvSpPr>
          <p:cNvPr id="10" name="Section description 4">
            <a:extLst xmlns:a="http://schemas.openxmlformats.org/drawingml/2006/main">
              <a:ext uri="{FF2B5EF4-FFF2-40B4-BE49-F238E27FC236}">
                <a16:creationId xmlns:a16="http://schemas.microsoft.com/office/drawing/2014/main" id="{08DAE03A-4941-41AA-B0C3-4213FA307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4238625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Three reviewers on every PR. Shared mobile guidelines.</a:t>
            </a:r>
          </a:p>
        </p:txBody>
      </p:sp>
      <p:sp>
        <p:nvSpPr>
          <p:cNvPr id="11" name="Active section">
            <a:extLst xmlns:a="http://schemas.openxmlformats.org/drawingml/2006/main">
              <a:ext uri="{FF2B5EF4-FFF2-40B4-BE49-F238E27FC236}">
                <a16:creationId xmlns:a16="http://schemas.microsoft.com/office/drawing/2014/main" id="{10EDF5AD-BCDE-4D3C-9DD6-34AB488D7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600575"/>
            <a:ext cx="914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43B"/>
                </a:solidFill>
                <a:latin typeface="Newsreader"/>
                <a:ea typeface="Newsreader"/>
                <a:cs typeface="Newsreader"/>
              </a:defRPr>
            </a:pPr>
            <a:r>
              <a:rPr sz="2550" b="1">
                <a:solidFill>
                  <a:srgbClr val="17243B"/>
                </a:solidFill>
                <a:latin typeface="Newsreader"/>
                <a:ea typeface="Newsreader"/>
                <a:cs typeface="Newsreader"/>
              </a:rPr>
              <a:t>06  Sentry</a:t>
            </a:r>
          </a:p>
        </p:txBody>
      </p:sp>
      <p:sp>
        <p:nvSpPr>
          <p:cNvPr id="12" name="Section description 5">
            <a:extLst xmlns:a="http://schemas.openxmlformats.org/drawingml/2006/main">
              <a:ext uri="{FF2B5EF4-FFF2-40B4-BE49-F238E27FC236}">
                <a16:creationId xmlns:a16="http://schemas.microsoft.com/office/drawing/2014/main" id="{A9CF712D-FC6C-4184-93E0-DC1F6A9A0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5000625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Turn production issues into the next regression check.</a:t>
            </a:r>
          </a:p>
        </p:txBody>
      </p:sp>
      <p:pic>
        <p:nvPicPr>
          <p:cNvPr id="2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a0bdecf16ae49e8"/>
          <a:stretch xmlns:a="http://schemas.openxmlformats.org/drawingml/2006/main"/>
        </p:blipFill>
        <p:spPr>
          <a:xfrm xmlns:a="http://schemas.openxmlformats.org/drawingml/2006/main">
            <a:off x="1333500" y="5172075"/>
            <a:ext cx="9334500" cy="1143000"/>
          </a:xfrm>
          <a:prstGeom xmlns:a="http://schemas.openxmlformats.org/drawingml/2006/main" prst="rect">
            <a:avLst/>
          </a:prstGeom>
        </p:spPr>
      </p:pic>
      <p:sp>
        <p:nvSpPr>
          <p:cNvPr id="14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5677392C-03C9-4BAD-B189-1C0379C5C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48425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1221296452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5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itle">
            <a:extLst xmlns:a="http://schemas.openxmlformats.org/drawingml/2006/main">
              <a:ext uri="{FF2B5EF4-FFF2-40B4-BE49-F238E27FC236}">
                <a16:creationId xmlns:a16="http://schemas.microsoft.com/office/drawing/2014/main" id="{1AF6DBF1-88C0-4C0A-8FA0-81F742815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19125"/>
            <a:ext cx="10668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405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pPr>
            <a:r>
              <a:rPr sz="4050" b="0">
                <a:solidFill>
                  <a:srgbClr val="15181B"/>
                </a:solidFill>
                <a:latin typeface="Newsreader"/>
                <a:ea typeface="Newsreader"/>
                <a:cs typeface="Newsreader"/>
              </a:rPr>
              <a:t>Turn an issue into a regression check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C9BA4B5D-B092-4518-9333-81EC90A4B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2233613"/>
            <a:ext cx="790575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01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F4A6D235-ABC8-458A-9189-69D5D773C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2233613"/>
            <a:ext cx="9620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Investigate a recorded issue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B4C4914D-A5FD-4F9A-9ADE-A34591851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2843213"/>
            <a:ext cx="790575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02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C6A1C7DE-8240-40E5-812E-B274F3C39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2843213"/>
            <a:ext cx="9620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Reproduce the relevant behaviour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EF709B09-DDDE-4766-9E40-B1BA1031C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3452813"/>
            <a:ext cx="790575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03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0E201D42-5A77-4E5F-8094-05B1D89B9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3452813"/>
            <a:ext cx="9620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Make a bounded correction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A5E0F26C-0988-43B0-AC9A-48D62E9EF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4062413"/>
            <a:ext cx="790575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04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4E7C2EEF-4ECB-451A-9B87-28B8A6A6C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4062413"/>
            <a:ext cx="9620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Add a regression check</a:t>
            </a:r>
          </a:p>
        </p:txBody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E01D2AED-CEDD-4F88-A3ED-1B61C06D4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4672013"/>
            <a:ext cx="790575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05</a:t>
            </a:r>
          </a:p>
        </p:txBody>
      </p:sp>
      <p:sp>
        <p:nvSpPr>
          <p:cNvPr id="11" name="text">
            <a:extLst xmlns:a="http://schemas.openxmlformats.org/drawingml/2006/main">
              <a:ext uri="{FF2B5EF4-FFF2-40B4-BE49-F238E27FC236}">
                <a16:creationId xmlns:a16="http://schemas.microsoft.com/office/drawing/2014/main" id="{0EBBADCF-328C-4414-B802-0E6EDC92A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4672013"/>
            <a:ext cx="9620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Return evidence to review</a:t>
            </a:r>
          </a:p>
        </p:txBody>
      </p:sp>
      <p:sp>
        <p:nvSpPr>
          <p:cNvPr id="12" name="text">
            <a:extLst xmlns:a="http://schemas.openxmlformats.org/drawingml/2006/main">
              <a:ext uri="{FF2B5EF4-FFF2-40B4-BE49-F238E27FC236}">
                <a16:creationId xmlns:a16="http://schemas.microsoft.com/office/drawing/2014/main" id="{66CDFA8D-1554-410C-BCC1-BDB5594DE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857875"/>
            <a:ext cx="10477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1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A resurfacing issue becomes a focused development task.</a:t>
            </a:r>
          </a:p>
        </p:txBody>
      </p:sp>
      <p:sp>
        <p:nvSpPr>
          <p:cNvPr id="13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9611F3A9-409B-46C4-97E8-9068909AC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48425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19839791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5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45157D8D-D6F6-4528-9EBD-30551F797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19125"/>
            <a:ext cx="10668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405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pPr>
            <a:r>
              <a:rPr sz="4050" b="0">
                <a:solidFill>
                  <a:srgbClr val="15181B"/>
                </a:solidFill>
                <a:latin typeface="Newsreader"/>
                <a:ea typeface="Newsreader"/>
                <a:cs typeface="Newsreader"/>
              </a:rPr>
              <a:t>Fewer recorded errors, with variation</a:t>
            </a:r>
          </a:p>
        </p:txBody>
      </p:sp>
      <p:graphicFrame>
        <p:nvGraphicFramePr>
          <p:cNvPr id="10" name="Chart"/>
          <p:cNvGraphicFramePr/>
          <p:nvPr/>
        </p:nvGraphicFramePr>
        <p:xfrm>
          <a:off xmlns:a="http://schemas.openxmlformats.org/drawingml/2006/main" x="723900" y="2381250"/>
          <a:ext xmlns:a="http://schemas.openxmlformats.org/drawingml/2006/main" cx="10744200" cy="2952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fb0cb4ca1ebf4843"/>
          </a:graphicData>
        </a:graphic>
      </p:graphicFrame>
      <p:sp>
        <p:nvSpPr>
          <p:cNvPr id="3" name="Date label">
            <a:extLst xmlns:a="http://schemas.openxmlformats.org/drawingml/2006/main">
              <a:ext uri="{FF2B5EF4-FFF2-40B4-BE49-F238E27FC236}">
                <a16:creationId xmlns:a16="http://schemas.microsoft.com/office/drawing/2014/main" id="{4D94CFA1-ACE0-41FD-A9B1-FDA327B26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5543550"/>
            <a:ext cx="1238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7 Jul</a:t>
            </a:r>
          </a:p>
        </p:txBody>
      </p:sp>
      <p:sp>
        <p:nvSpPr>
          <p:cNvPr id="4" name="Date label">
            <a:extLst xmlns:a="http://schemas.openxmlformats.org/drawingml/2006/main">
              <a:ext uri="{FF2B5EF4-FFF2-40B4-BE49-F238E27FC236}">
                <a16:creationId xmlns:a16="http://schemas.microsoft.com/office/drawing/2014/main" id="{DB28A6E3-C469-4490-B863-A7382EB6D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543550"/>
            <a:ext cx="1238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4 Aug</a:t>
            </a:r>
          </a:p>
        </p:txBody>
      </p:sp>
      <p:sp>
        <p:nvSpPr>
          <p:cNvPr id="5" name="Date label">
            <a:extLst xmlns:a="http://schemas.openxmlformats.org/drawingml/2006/main">
              <a:ext uri="{FF2B5EF4-FFF2-40B4-BE49-F238E27FC236}">
                <a16:creationId xmlns:a16="http://schemas.microsoft.com/office/drawing/2014/main" id="{A9888C04-A8FA-4171-A270-804B58A6E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5543550"/>
            <a:ext cx="1238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1 Sep</a:t>
            </a:r>
          </a:p>
        </p:txBody>
      </p:sp>
      <p:sp>
        <p:nvSpPr>
          <p:cNvPr id="6" name="Date label">
            <a:extLst xmlns:a="http://schemas.openxmlformats.org/drawingml/2006/main">
              <a:ext uri="{FF2B5EF4-FFF2-40B4-BE49-F238E27FC236}">
                <a16:creationId xmlns:a16="http://schemas.microsoft.com/office/drawing/2014/main" id="{04B11676-61E6-45EC-909C-4950D4466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25125" y="5543550"/>
            <a:ext cx="1238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29 Sep</a:t>
            </a:r>
          </a:p>
        </p:txBody>
      </p:sp>
      <p:sp>
        <p:nvSpPr>
          <p:cNvPr id="7" name="Methodology">
            <a:extLst xmlns:a="http://schemas.openxmlformats.org/drawingml/2006/main">
              <a:ext uri="{FF2B5EF4-FFF2-40B4-BE49-F238E27FC236}">
                <a16:creationId xmlns:a16="http://schemas.microsoft.com/office/drawing/2014/main" id="{42EC145A-CE76-4211-ABDA-5B58747E1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72175"/>
            <a:ext cx="1057275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6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Daily events, all environments. 7 July to 30 September 2026.</a:t>
            </a:r>
          </a:p>
          <a:p xmlns:a="http://schemas.openxmlformats.org/drawingml/2006/main">
            <a:pPr algn="l">
              <a:defRPr sz="16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6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Fixes, filters and sampling affect counts. No usage denominator.</a:t>
            </a:r>
          </a:p>
        </p:txBody>
      </p:sp>
      <p:sp>
        <p:nvSpPr>
          <p:cNvPr id="8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4A3BC585-FC2F-48D4-BBDE-240EA5C8A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48425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659791837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E7EC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Completed section 0">
            <a:extLst xmlns:a="http://schemas.openxmlformats.org/drawingml/2006/main">
              <a:ext uri="{FF2B5EF4-FFF2-40B4-BE49-F238E27FC236}">
                <a16:creationId xmlns:a16="http://schemas.microsoft.com/office/drawing/2014/main" id="{8DBE2E48-E4D6-4746-8932-5737ACD95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790575"/>
            <a:ext cx="914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pPr>
            <a:r>
              <a: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rPr>
              <a:t>01  Skills</a:t>
            </a:r>
          </a:p>
        </p:txBody>
      </p:sp>
      <p:sp>
        <p:nvSpPr>
          <p:cNvPr id="2" name="Section description 0">
            <a:extLst xmlns:a="http://schemas.openxmlformats.org/drawingml/2006/main">
              <a:ext uri="{FF2B5EF4-FFF2-40B4-BE49-F238E27FC236}">
                <a16:creationId xmlns:a16="http://schemas.microsoft.com/office/drawing/2014/main" id="{20ABC02C-6451-47D7-9FCE-0880AB60B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1190625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Make good engineering habits repeatable.</a:t>
            </a:r>
          </a:p>
        </p:txBody>
      </p:sp>
      <p:sp>
        <p:nvSpPr>
          <p:cNvPr id="3" name="Completed section 1">
            <a:extLst xmlns:a="http://schemas.openxmlformats.org/drawingml/2006/main">
              <a:ext uri="{FF2B5EF4-FFF2-40B4-BE49-F238E27FC236}">
                <a16:creationId xmlns:a16="http://schemas.microsoft.com/office/drawing/2014/main" id="{23DE937B-A4A1-4567-8CE7-854939C60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1552575"/>
            <a:ext cx="914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pPr>
            <a:r>
              <a: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rPr>
              <a:t>02  Testing</a:t>
            </a:r>
          </a:p>
        </p:txBody>
      </p:sp>
      <p:sp>
        <p:nvSpPr>
          <p:cNvPr id="4" name="Section description 1">
            <a:extLst xmlns:a="http://schemas.openxmlformats.org/drawingml/2006/main">
              <a:ext uri="{FF2B5EF4-FFF2-40B4-BE49-F238E27FC236}">
                <a16:creationId xmlns:a16="http://schemas.microsoft.com/office/drawing/2014/main" id="{BB542C8E-2AB3-4F3D-AA58-F9B6FFB04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1952625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Make each check protect real behaviour.</a:t>
            </a:r>
          </a:p>
        </p:txBody>
      </p:sp>
      <p:sp>
        <p:nvSpPr>
          <p:cNvPr id="5" name="Completed section 2">
            <a:extLst xmlns:a="http://schemas.openxmlformats.org/drawingml/2006/main">
              <a:ext uri="{FF2B5EF4-FFF2-40B4-BE49-F238E27FC236}">
                <a16:creationId xmlns:a16="http://schemas.microsoft.com/office/drawing/2014/main" id="{491B462A-25B8-419C-909C-EB4463271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314575"/>
            <a:ext cx="914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pPr>
            <a:r>
              <a: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rPr>
              <a:t>03  CI</a:t>
            </a:r>
          </a:p>
        </p:txBody>
      </p:sp>
      <p:sp>
        <p:nvSpPr>
          <p:cNvPr id="6" name="Section description 2">
            <a:extLst xmlns:a="http://schemas.openxmlformats.org/drawingml/2006/main">
              <a:ext uri="{FF2B5EF4-FFF2-40B4-BE49-F238E27FC236}">
                <a16:creationId xmlns:a16="http://schemas.microsoft.com/office/drawing/2014/main" id="{21DCD568-1F14-4020-8450-5833B9C8C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2714625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Check every PR. Block the pipeline on failure.</a:t>
            </a:r>
          </a:p>
        </p:txBody>
      </p:sp>
      <p:sp>
        <p:nvSpPr>
          <p:cNvPr id="7" name="Completed section 3">
            <a:extLst xmlns:a="http://schemas.openxmlformats.org/drawingml/2006/main">
              <a:ext uri="{FF2B5EF4-FFF2-40B4-BE49-F238E27FC236}">
                <a16:creationId xmlns:a16="http://schemas.microsoft.com/office/drawing/2014/main" id="{BBD32A9E-AFCC-437F-99CE-8919421FA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076575"/>
            <a:ext cx="914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pPr>
            <a:r>
              <a: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rPr>
              <a:t>04  Device verification</a:t>
            </a:r>
          </a:p>
        </p:txBody>
      </p:sp>
      <p:sp>
        <p:nvSpPr>
          <p:cNvPr id="8" name="Section description 3">
            <a:extLst xmlns:a="http://schemas.openxmlformats.org/drawingml/2006/main">
              <a:ext uri="{FF2B5EF4-FFF2-40B4-BE49-F238E27FC236}">
                <a16:creationId xmlns:a16="http://schemas.microsoft.com/office/drawing/2014/main" id="{9C81D5BE-56D5-482A-AFBE-64344AD75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3476625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Maestro checks on iOS and Android. Failures block delivery.</a:t>
            </a:r>
          </a:p>
        </p:txBody>
      </p:sp>
      <p:sp>
        <p:nvSpPr>
          <p:cNvPr id="9" name="Completed section 4">
            <a:extLst xmlns:a="http://schemas.openxmlformats.org/drawingml/2006/main">
              <a:ext uri="{FF2B5EF4-FFF2-40B4-BE49-F238E27FC236}">
                <a16:creationId xmlns:a16="http://schemas.microsoft.com/office/drawing/2014/main" id="{868F81CA-F535-4CCA-A11B-C71856154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838575"/>
            <a:ext cx="914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pPr>
            <a:r>
              <a: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rPr>
              <a:t>05  AI reviewers</a:t>
            </a:r>
          </a:p>
        </p:txBody>
      </p:sp>
      <p:sp>
        <p:nvSpPr>
          <p:cNvPr id="10" name="Section description 4">
            <a:extLst xmlns:a="http://schemas.openxmlformats.org/drawingml/2006/main">
              <a:ext uri="{FF2B5EF4-FFF2-40B4-BE49-F238E27FC236}">
                <a16:creationId xmlns:a16="http://schemas.microsoft.com/office/drawing/2014/main" id="{ED2C9B76-2617-4C76-A369-626195CEE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4238625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Three reviewers on every PR. Shared mobile guidelines.</a:t>
            </a:r>
          </a:p>
        </p:txBody>
      </p:sp>
      <p:sp>
        <p:nvSpPr>
          <p:cNvPr id="11" name="Completed section 5">
            <a:extLst xmlns:a="http://schemas.openxmlformats.org/drawingml/2006/main">
              <a:ext uri="{FF2B5EF4-FFF2-40B4-BE49-F238E27FC236}">
                <a16:creationId xmlns:a16="http://schemas.microsoft.com/office/drawing/2014/main" id="{67F4A18F-E115-4779-B772-2A053D92F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600575"/>
            <a:ext cx="914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pPr>
            <a:r>
              <a: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rPr>
              <a:t>06  Sentry</a:t>
            </a:r>
          </a:p>
        </p:txBody>
      </p:sp>
      <p:sp>
        <p:nvSpPr>
          <p:cNvPr id="12" name="Section description 5">
            <a:extLst xmlns:a="http://schemas.openxmlformats.org/drawingml/2006/main">
              <a:ext uri="{FF2B5EF4-FFF2-40B4-BE49-F238E27FC236}">
                <a16:creationId xmlns:a16="http://schemas.microsoft.com/office/drawing/2014/main" id="{57A9997D-B759-4AD4-A730-426DB68D3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5000625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Turn production issues into the next regression check.</a:t>
            </a:r>
          </a:p>
        </p:txBody>
      </p:sp>
      <p:sp>
        <p:nvSpPr>
          <p:cNvPr id="13" name="Active section">
            <a:extLst xmlns:a="http://schemas.openxmlformats.org/drawingml/2006/main">
              <a:ext uri="{FF2B5EF4-FFF2-40B4-BE49-F238E27FC236}">
                <a16:creationId xmlns:a16="http://schemas.microsoft.com/office/drawing/2014/main" id="{3C069916-59D2-4530-B06C-DF3C4F705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362575"/>
            <a:ext cx="914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43B"/>
                </a:solidFill>
                <a:latin typeface="Newsreader"/>
                <a:ea typeface="Newsreader"/>
                <a:cs typeface="Newsreader"/>
              </a:defRPr>
            </a:pPr>
            <a:r>
              <a:rPr sz="2550" b="1">
                <a:solidFill>
                  <a:srgbClr val="17243B"/>
                </a:solidFill>
                <a:latin typeface="Newsreader"/>
                <a:ea typeface="Newsreader"/>
                <a:cs typeface="Newsreader"/>
              </a:rPr>
              <a:t>07  Delivery</a:t>
            </a:r>
          </a:p>
        </p:txBody>
      </p:sp>
      <p:sp>
        <p:nvSpPr>
          <p:cNvPr id="14" name="Section description 6">
            <a:extLst xmlns:a="http://schemas.openxmlformats.org/drawingml/2006/main">
              <a:ext uri="{FF2B5EF4-FFF2-40B4-BE49-F238E27FC236}">
                <a16:creationId xmlns:a16="http://schemas.microsoft.com/office/drawing/2014/main" id="{DF4505B2-0B7C-48E6-AF52-82D0A2033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5762625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Ship small changes. Activate features separately.</a:t>
            </a:r>
          </a:p>
        </p:txBody>
      </p:sp>
      <p:sp>
        <p:nvSpPr>
          <p:cNvPr id="15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4C398D40-2CB2-4730-A79E-2386A17CB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48425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26</a:t>
            </a:r>
          </a:p>
        </p:txBody>
      </p:sp>
    </p:spTree>
    <p:extLst>
      <p:ext uri="{BB962C8B-B14F-4D97-AF65-F5344CB8AC3E}">
        <p14:creationId xmlns:p14="http://schemas.microsoft.com/office/powerpoint/2010/main" val="49434697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5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Title">
            <a:extLst xmlns:a="http://schemas.openxmlformats.org/drawingml/2006/main">
              <a:ext uri="{FF2B5EF4-FFF2-40B4-BE49-F238E27FC236}">
                <a16:creationId xmlns:a16="http://schemas.microsoft.com/office/drawing/2014/main" id="{2B27D7BB-36BD-4438-BF51-8031BB4F0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19125"/>
            <a:ext cx="10668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pPr>
            <a:r>
              <a: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rPr>
              <a:t>Canary builds and nightly betas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9382F438-4CF1-4E11-975F-0C4D086FC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581150"/>
            <a:ext cx="104775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TestFlight for iOS. Test builds for Android.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6CD22075-36EF-4A13-8CBA-20375B23F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566988"/>
            <a:ext cx="3200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After each PR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D77F08F0-0F84-4FFA-AB90-9450C5D0B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566988"/>
            <a:ext cx="7048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A canary build to try the change.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4CAE414C-E959-419D-AD48-8EA1CC8FC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481388"/>
            <a:ext cx="3200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Every night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26C6FCE2-2F02-413C-B7E3-222BEE208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481388"/>
            <a:ext cx="7048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An automated beta build for testing.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CA5647D2-4E83-446F-B3C4-06010A411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395788"/>
            <a:ext cx="3200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Side by side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5841546A-515E-4CF2-A310-C9867CFD8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395788"/>
            <a:ext cx="7048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Install canary beside the normal app. Compare before and after.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FC8C36EB-75C6-4DA6-AC06-9DEA83C34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310188"/>
            <a:ext cx="3200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Clear test instructions</a:t>
            </a:r>
          </a:p>
        </p:txBody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84BA36EA-F957-4C87-9508-82C4EE397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5310188"/>
            <a:ext cx="7048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Generated TestFlight notes explain what changed and what to test.</a:t>
            </a:r>
          </a:p>
        </p:txBody>
      </p:sp>
      <p:sp>
        <p:nvSpPr>
          <p:cNvPr id="11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6116B759-2753-405F-86E8-1AF1E7C0B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48425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1665081484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5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Title">
            <a:extLst xmlns:a="http://schemas.openxmlformats.org/drawingml/2006/main">
              <a:ext uri="{FF2B5EF4-FFF2-40B4-BE49-F238E27FC236}">
                <a16:creationId xmlns:a16="http://schemas.microsoft.com/office/drawing/2014/main" id="{4362546F-1ED1-418D-83C0-BFC1A048A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19125"/>
            <a:ext cx="10668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pPr>
            <a:r>
              <a: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rPr>
              <a:t>Release the code. Approve the flag.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A56D12EF-BCED-4F48-ADBD-D1DC73890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581150"/>
            <a:ext cx="104775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Small changes ship behind feature flags.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BC56DF17-B651-4FE8-AC48-E44B673F4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76538"/>
            <a:ext cx="3200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Small increments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2140DF3E-13A8-4476-8426-AEB313E06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776538"/>
            <a:ext cx="704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Keep unfinished features hidden behind a flag.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DDE799D3-239F-4FF8-9C97-F0CD77AC4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81438"/>
            <a:ext cx="3200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Seamless releases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D5FAF12B-7A15-46A3-A1A3-D795A9119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881438"/>
            <a:ext cx="704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Release verified code without the feature sign-off queue.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0C1BA506-5CEE-4DD8-8434-A1415F4B0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986338"/>
            <a:ext cx="3200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Focused approval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564DDA7B-8B3F-49DB-9302-B57FEB6FC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986338"/>
            <a:ext cx="704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Approve activating the feature when it is ready.</a:t>
            </a:r>
          </a:p>
        </p:txBody>
      </p:sp>
      <p:sp>
        <p:nvSpPr>
          <p:cNvPr id="9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92326648-6B1C-46A0-8ADA-079641690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48425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28</a:t>
            </a:r>
          </a:p>
        </p:txBody>
      </p:sp>
    </p:spTree>
    <p:extLst>
      <p:ext uri="{BB962C8B-B14F-4D97-AF65-F5344CB8AC3E}">
        <p14:creationId xmlns:p14="http://schemas.microsoft.com/office/powerpoint/2010/main" val="526340348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5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Title">
            <a:extLst xmlns:a="http://schemas.openxmlformats.org/drawingml/2006/main">
              <a:ext uri="{FF2B5EF4-FFF2-40B4-BE49-F238E27FC236}">
                <a16:creationId xmlns:a16="http://schemas.microsoft.com/office/drawing/2014/main" id="{92EA5EBA-25FD-4530-B16F-541EED114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19125"/>
            <a:ext cx="10668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pPr>
            <a:r>
              <a: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rPr>
              <a:t>The development rhythm changed</a:t>
            </a:r>
          </a:p>
        </p:txBody>
      </p:sp>
      <p:graphicFrame>
        <p:nvGraphicFramePr>
          <p:cNvPr id="8" name="Chart"/>
          <p:cNvGraphicFramePr/>
          <p:nvPr/>
        </p:nvGraphicFramePr>
        <p:xfrm>
          <a:off xmlns:a="http://schemas.openxmlformats.org/drawingml/2006/main" x="723900" y="2381250"/>
          <a:ext xmlns:a="http://schemas.openxmlformats.org/drawingml/2006/main" cx="10744200" cy="31813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050fb85d3c5441b"/>
          </a:graphicData>
        </a:graphic>
      </p:graphicFrame>
      <p:sp>
        <p:nvSpPr>
          <p:cNvPr id="3" name="April month marker">
            <a:extLst xmlns:a="http://schemas.openxmlformats.org/drawingml/2006/main">
              <a:ext uri="{FF2B5EF4-FFF2-40B4-BE49-F238E27FC236}">
                <a16:creationId xmlns:a16="http://schemas.microsoft.com/office/drawing/2014/main" id="{01CAE974-608A-4591-A20B-5F925CA76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2381250"/>
            <a:ext cx="0" cy="28003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565F65"/>
            </a:solidFill>
            <a:prstDash val="dash"/>
          </a:ln>
        </p:spPr>
      </p:sp>
      <p:sp>
        <p:nvSpPr>
          <p:cNvPr id="4" name="April joining context">
            <a:extLst xmlns:a="http://schemas.openxmlformats.org/drawingml/2006/main">
              <a:ext uri="{FF2B5EF4-FFF2-40B4-BE49-F238E27FC236}">
                <a16:creationId xmlns:a16="http://schemas.microsoft.com/office/drawing/2014/main" id="{BE940CE2-0DE2-4DC1-8D56-41E11F186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19300"/>
            <a:ext cx="4476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8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Joined in April 2026</a:t>
            </a:r>
          </a:p>
        </p:txBody>
      </p:sp>
      <p:sp>
        <p:nvSpPr>
          <p:cNvPr id="5" name="Methodology">
            <a:extLst xmlns:a="http://schemas.openxmlformats.org/drawingml/2006/main">
              <a:ext uri="{FF2B5EF4-FFF2-40B4-BE49-F238E27FC236}">
                <a16:creationId xmlns:a16="http://schemas.microsoft.com/office/drawing/2014/main" id="{06D2F084-3399-41F9-8D40-B0BC1F746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762625"/>
            <a:ext cx="1057275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8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2026 app and design-system PRs across two repositories. Activity, not productivity.</a:t>
            </a:r>
          </a:p>
        </p:txBody>
      </p:sp>
      <p:sp>
        <p:nvSpPr>
          <p:cNvPr id="6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DA22CD1D-410C-40A8-A512-4C7824F35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48425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710498476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E7EC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Title">
            <a:extLst xmlns:a="http://schemas.openxmlformats.org/drawingml/2006/main">
              <a:ext uri="{FF2B5EF4-FFF2-40B4-BE49-F238E27FC236}">
                <a16:creationId xmlns:a16="http://schemas.microsoft.com/office/drawing/2014/main" id="{FB789147-4D02-4566-BA23-E890B929C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19125"/>
            <a:ext cx="10668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4050" b="0">
                <a:solidFill>
                  <a:srgbClr val="17243B"/>
                </a:solidFill>
                <a:latin typeface="Newsreader"/>
                <a:ea typeface="Newsreader"/>
                <a:cs typeface="Newsreader"/>
              </a:defRPr>
            </a:pPr>
            <a:r>
              <a:rPr sz="4050" b="0">
                <a:solidFill>
                  <a:srgbClr val="17243B"/>
                </a:solidFill>
                <a:latin typeface="Newsreader"/>
                <a:ea typeface="Newsreader"/>
                <a:cs typeface="Newsreader"/>
              </a:rPr>
              <a:t>There’s another talk in what we left out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E2D0DB57-64F9-4E4C-9E3E-D6B48E2BC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581150"/>
            <a:ext cx="104775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250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A few months of change across the team, codebase and business.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49FF55BE-1553-4B75-B99D-04ED34C6B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414588"/>
            <a:ext cx="320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3857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100" b="1">
                <a:solidFill>
                  <a:srgbClr val="385782"/>
                </a:solidFill>
                <a:latin typeface="Satoshi Variable"/>
                <a:ea typeface="Satoshi Variable"/>
                <a:cs typeface="Satoshi Variable"/>
              </a:rPr>
              <a:t>Design system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8F3481FD-D6A4-485F-B464-BD2748724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414588"/>
            <a:ext cx="7048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7243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100" b="0">
                <a:solidFill>
                  <a:srgbClr val="17243B"/>
                </a:solidFill>
                <a:latin typeface="Satoshi Variable"/>
                <a:ea typeface="Satoshi Variable"/>
                <a:cs typeface="Satoshi Variable"/>
              </a:rPr>
              <a:t>A shared UI language and a consistent quality bar.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58E17C3F-A5F1-4DF1-BDF1-D1E041615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062288"/>
            <a:ext cx="320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3857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100" b="1">
                <a:solidFill>
                  <a:srgbClr val="385782"/>
                </a:solidFill>
                <a:latin typeface="Satoshi Variable"/>
                <a:ea typeface="Satoshi Variable"/>
                <a:cs typeface="Satoshi Variable"/>
              </a:rPr>
              <a:t>Monorepo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B7E14999-895A-4CE1-A9B1-3EB320C47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062288"/>
            <a:ext cx="7048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7243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100" b="0">
                <a:solidFill>
                  <a:srgbClr val="17243B"/>
                </a:solidFill>
                <a:latin typeface="Satoshi Variable"/>
                <a:ea typeface="Satoshi Variable"/>
                <a:cs typeface="Satoshi Variable"/>
              </a:rPr>
              <a:t>Shared code and coordinated changes.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D8286A08-31C6-49DC-BB33-3ECF44502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709988"/>
            <a:ext cx="320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3857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100" b="1">
                <a:solidFill>
                  <a:srgbClr val="385782"/>
                </a:solidFill>
                <a:latin typeface="Satoshi Variable"/>
                <a:ea typeface="Satoshi Variable"/>
                <a:cs typeface="Satoshi Variable"/>
              </a:rPr>
              <a:t>Ways of working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A2B373C1-7EBC-4D59-AD20-4980E4C52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709988"/>
            <a:ext cx="7048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7243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100" b="0">
                <a:solidFill>
                  <a:srgbClr val="17243B"/>
                </a:solidFill>
                <a:latin typeface="Satoshi Variable"/>
                <a:ea typeface="Satoshi Variable"/>
                <a:cs typeface="Satoshi Variable"/>
              </a:rPr>
              <a:t>Clearer ownership and everyday engineering habits.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325B73B3-94DB-4F21-980E-31151A716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357688"/>
            <a:ext cx="320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3857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100" b="1">
                <a:solidFill>
                  <a:srgbClr val="385782"/>
                </a:solidFill>
                <a:latin typeface="Satoshi Variable"/>
                <a:ea typeface="Satoshi Variable"/>
                <a:cs typeface="Satoshi Variable"/>
              </a:rPr>
              <a:t>Product engineering</a:t>
            </a:r>
          </a:p>
        </p:txBody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067441B4-8574-4B76-9936-232B4331E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357688"/>
            <a:ext cx="7048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7243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100" b="0">
                <a:solidFill>
                  <a:srgbClr val="17243B"/>
                </a:solidFill>
                <a:latin typeface="Satoshi Variable"/>
                <a:ea typeface="Satoshi Variable"/>
                <a:cs typeface="Satoshi Variable"/>
              </a:rPr>
              <a:t>Broader ownership, from product decisions to delivery.</a:t>
            </a:r>
          </a:p>
        </p:txBody>
      </p:sp>
      <p:sp>
        <p:nvSpPr>
          <p:cNvPr id="11" name="text">
            <a:extLst xmlns:a="http://schemas.openxmlformats.org/drawingml/2006/main">
              <a:ext uri="{FF2B5EF4-FFF2-40B4-BE49-F238E27FC236}">
                <a16:creationId xmlns:a16="http://schemas.microsoft.com/office/drawing/2014/main" id="{82949252-8B8D-4E8B-AFBA-90DCCCE7F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005388"/>
            <a:ext cx="320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3857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100" b="1">
                <a:solidFill>
                  <a:srgbClr val="385782"/>
                </a:solidFill>
                <a:latin typeface="Satoshi Variable"/>
                <a:ea typeface="Satoshi Variable"/>
                <a:cs typeface="Satoshi Variable"/>
              </a:rPr>
              <a:t>AI development</a:t>
            </a:r>
          </a:p>
        </p:txBody>
      </p:sp>
      <p:sp>
        <p:nvSpPr>
          <p:cNvPr id="12" name="text">
            <a:extLst xmlns:a="http://schemas.openxmlformats.org/drawingml/2006/main">
              <a:ext uri="{FF2B5EF4-FFF2-40B4-BE49-F238E27FC236}">
                <a16:creationId xmlns:a16="http://schemas.microsoft.com/office/drawing/2014/main" id="{C09F2B95-C8D8-4B49-A49C-2E6CA5CDA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5005388"/>
            <a:ext cx="7048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7243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100" b="0">
                <a:solidFill>
                  <a:srgbClr val="17243B"/>
                </a:solidFill>
                <a:latin typeface="Satoshi Variable"/>
                <a:ea typeface="Satoshi Variable"/>
                <a:cs typeface="Satoshi Variable"/>
              </a:rPr>
              <a:t>Adoption across planning, code, review and verification.</a:t>
            </a:r>
          </a:p>
        </p:txBody>
      </p:sp>
      <p:sp>
        <p:nvSpPr>
          <p:cNvPr id="13" name="text">
            <a:extLst xmlns:a="http://schemas.openxmlformats.org/drawingml/2006/main">
              <a:ext uri="{FF2B5EF4-FFF2-40B4-BE49-F238E27FC236}">
                <a16:creationId xmlns:a16="http://schemas.microsoft.com/office/drawing/2014/main" id="{9BAF6DE4-F31F-4ED9-9D19-F7DFA0DA9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653088"/>
            <a:ext cx="320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3857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100" b="1">
                <a:solidFill>
                  <a:srgbClr val="385782"/>
                </a:solidFill>
                <a:latin typeface="Satoshi Variable"/>
                <a:ea typeface="Satoshi Variable"/>
                <a:cs typeface="Satoshi Variable"/>
              </a:rPr>
              <a:t>An AI harness</a:t>
            </a:r>
          </a:p>
        </p:txBody>
      </p:sp>
      <p:sp>
        <p:nvSpPr>
          <p:cNvPr id="14" name="text">
            <a:extLst xmlns:a="http://schemas.openxmlformats.org/drawingml/2006/main">
              <a:ext uri="{FF2B5EF4-FFF2-40B4-BE49-F238E27FC236}">
                <a16:creationId xmlns:a16="http://schemas.microsoft.com/office/drawing/2014/main" id="{1986B903-56D0-4D48-8236-0A6263075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5653088"/>
            <a:ext cx="7048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7243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100" b="0">
                <a:solidFill>
                  <a:srgbClr val="17243B"/>
                </a:solidFill>
                <a:latin typeface="Satoshi Variable"/>
                <a:ea typeface="Satoshi Variable"/>
                <a:cs typeface="Satoshi Variable"/>
              </a:rPr>
              <a:t>Context, skills, tools and checks around the agents.</a:t>
            </a:r>
          </a:p>
        </p:txBody>
      </p:sp>
      <p:sp>
        <p:nvSpPr>
          <p:cNvPr id="15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7192178C-9B1D-4298-83DF-1811999B0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48425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30</a:t>
            </a:r>
          </a:p>
        </p:txBody>
      </p:sp>
    </p:spTree>
    <p:extLst>
      <p:ext uri="{BB962C8B-B14F-4D97-AF65-F5344CB8AC3E}">
        <p14:creationId xmlns:p14="http://schemas.microsoft.com/office/powerpoint/2010/main" val="1559923155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5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Title">
            <a:extLst xmlns:a="http://schemas.openxmlformats.org/drawingml/2006/main">
              <a:ext uri="{FF2B5EF4-FFF2-40B4-BE49-F238E27FC236}">
                <a16:creationId xmlns:a16="http://schemas.microsoft.com/office/drawing/2014/main" id="{1B7EEC79-1B04-44B5-B3B4-F7970C757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19125"/>
            <a:ext cx="10668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pPr>
            <a:r>
              <a: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rPr>
              <a:t>What I’d take into another team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3CB9A3B4-FC34-4BF8-86A6-C8AC6B426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90738"/>
            <a:ext cx="3200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Find the bottleneck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E1D47B81-B831-423C-AC31-ABD47443A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090738"/>
            <a:ext cx="7048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Start where repeated work slows delivery.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16919918-C2BF-4E59-BDFA-C9AC2091E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005138"/>
            <a:ext cx="3200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Write down the bar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0CD6E3EF-BB09-4F59-8E10-2F297BA03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005138"/>
            <a:ext cx="7048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Make quality expectations clear to people and AI.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1AAEA730-AE4F-426E-96DA-AEB3DE96B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919538"/>
            <a:ext cx="3200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Close the feedback loop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76470C99-07C5-4F24-B279-9CD9D1193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919538"/>
            <a:ext cx="7048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Connect checks, evidence and fixes.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D6EAEB86-123C-4175-84ED-9A1B93264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833938"/>
            <a:ext cx="3200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Adapt the rollout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541AE98A-1765-43DF-8CF8-A52BF1207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833938"/>
            <a:ext cx="7048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Choose tools and release rules that fit your team.</a:t>
            </a:r>
          </a:p>
        </p:txBody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DBAEFD38-8A44-4CAF-A08B-5FC3E9ADA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6067425"/>
            <a:ext cx="10572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Keep the principles. Adapt the implementation.</a:t>
            </a:r>
          </a:p>
        </p:txBody>
      </p:sp>
      <p:sp>
        <p:nvSpPr>
          <p:cNvPr id="11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53D8A744-3A04-4A88-A05E-140EAD41C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48425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31</a:t>
            </a:r>
          </a:p>
        </p:txBody>
      </p:sp>
    </p:spTree>
    <p:extLst>
      <p:ext uri="{BB962C8B-B14F-4D97-AF65-F5344CB8AC3E}">
        <p14:creationId xmlns:p14="http://schemas.microsoft.com/office/powerpoint/2010/main" val="796727475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F5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Title">
            <a:extLst xmlns:a="http://schemas.openxmlformats.org/drawingml/2006/main">
              <a:ext uri="{FF2B5EF4-FFF2-40B4-BE49-F238E27FC236}">
                <a16:creationId xmlns:a16="http://schemas.microsoft.com/office/drawing/2014/main" id="{4779100D-2685-4726-8C7D-6DA2DE156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19125"/>
            <a:ext cx="10668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405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pPr>
            <a:r>
              <a:rPr sz="4050" b="0">
                <a:solidFill>
                  <a:srgbClr val="15181B"/>
                </a:solidFill>
                <a:latin typeface="Newsreader"/>
                <a:ea typeface="Newsreader"/>
                <a:cs typeface="Newsreader"/>
              </a:rPr>
              <a:t>Confidence in AI-assisted development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39912999-3F04-4A23-896A-5A31211DC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581150"/>
            <a:ext cx="104775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Seven practices for mobile development. One continuous loop.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79B34954-1E6B-4FE9-9930-A3F6CDF52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486025"/>
            <a:ext cx="2343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8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Skills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45E3FFA6-4867-4BC9-B59E-29CAEAF5B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486025"/>
            <a:ext cx="619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800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Repeat good engineering habits.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293E3A4A-C006-434C-A49A-D95E3709F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962275"/>
            <a:ext cx="2343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8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Testing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C018DB14-DA92-458C-ACBA-0C04DC73C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962275"/>
            <a:ext cx="619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800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Protect behaviour with regression checks.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611296C2-7852-4DBC-BE58-9970E9F6C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438525"/>
            <a:ext cx="2343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8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CI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1011631E-7A18-4E73-AAA4-FCD754466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438525"/>
            <a:ext cx="619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800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Check every PR. Block failures until fixed.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2EAD6CE7-C350-4C07-9830-4C1448116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914775"/>
            <a:ext cx="2343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8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Device verification</a:t>
            </a:r>
          </a:p>
        </p:txBody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3C8D82D0-C27C-42BD-9545-A34CB46B6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914775"/>
            <a:ext cx="619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800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Maestro smoke and nightly checks. Video evidence.</a:t>
            </a:r>
          </a:p>
        </p:txBody>
      </p:sp>
      <p:sp>
        <p:nvSpPr>
          <p:cNvPr id="11" name="text">
            <a:extLst xmlns:a="http://schemas.openxmlformats.org/drawingml/2006/main">
              <a:ext uri="{FF2B5EF4-FFF2-40B4-BE49-F238E27FC236}">
                <a16:creationId xmlns:a16="http://schemas.microsoft.com/office/drawing/2014/main" id="{6EF5F8DD-F0A0-4F5F-ADDC-12553CEFA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391025"/>
            <a:ext cx="2343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8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AI reviewers</a:t>
            </a:r>
          </a:p>
        </p:txBody>
      </p:sp>
      <p:sp>
        <p:nvSpPr>
          <p:cNvPr id="12" name="text">
            <a:extLst xmlns:a="http://schemas.openxmlformats.org/drawingml/2006/main">
              <a:ext uri="{FF2B5EF4-FFF2-40B4-BE49-F238E27FC236}">
                <a16:creationId xmlns:a16="http://schemas.microsoft.com/office/drawing/2014/main" id="{679C133F-5D74-4C11-B7B9-A417772DE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391025"/>
            <a:ext cx="619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800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Mobile guidelines. Evaluate feedback. Fix valid issues.</a:t>
            </a:r>
          </a:p>
        </p:txBody>
      </p:sp>
      <p:sp>
        <p:nvSpPr>
          <p:cNvPr id="13" name="text">
            <a:extLst xmlns:a="http://schemas.openxmlformats.org/drawingml/2006/main">
              <a:ext uri="{FF2B5EF4-FFF2-40B4-BE49-F238E27FC236}">
                <a16:creationId xmlns:a16="http://schemas.microsoft.com/office/drawing/2014/main" id="{18D5CEF8-880E-4D87-BB0A-9211C3588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867275"/>
            <a:ext cx="2343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8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Sentry</a:t>
            </a:r>
          </a:p>
        </p:txBody>
      </p:sp>
      <p:sp>
        <p:nvSpPr>
          <p:cNvPr id="14" name="text">
            <a:extLst xmlns:a="http://schemas.openxmlformats.org/drawingml/2006/main">
              <a:ext uri="{FF2B5EF4-FFF2-40B4-BE49-F238E27FC236}">
                <a16:creationId xmlns:a16="http://schemas.microsoft.com/office/drawing/2014/main" id="{54E0DBDB-7F13-4250-96D4-191510ADC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867275"/>
            <a:ext cx="619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800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Turn production issues into regression checks.</a:t>
            </a:r>
          </a:p>
        </p:txBody>
      </p:sp>
      <p:sp>
        <p:nvSpPr>
          <p:cNvPr id="15" name="text">
            <a:extLst xmlns:a="http://schemas.openxmlformats.org/drawingml/2006/main">
              <a:ext uri="{FF2B5EF4-FFF2-40B4-BE49-F238E27FC236}">
                <a16:creationId xmlns:a16="http://schemas.microsoft.com/office/drawing/2014/main" id="{75979A3D-A2F6-4746-9ED8-E5120CCAA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343525"/>
            <a:ext cx="2343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8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Delivery</a:t>
            </a:r>
          </a:p>
        </p:txBody>
      </p:sp>
      <p:sp>
        <p:nvSpPr>
          <p:cNvPr id="16" name="text">
            <a:extLst xmlns:a="http://schemas.openxmlformats.org/drawingml/2006/main">
              <a:ext uri="{FF2B5EF4-FFF2-40B4-BE49-F238E27FC236}">
                <a16:creationId xmlns:a16="http://schemas.microsoft.com/office/drawing/2014/main" id="{241F00E9-DF63-4012-B6F6-9E4DF369F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5343525"/>
            <a:ext cx="619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800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Canary per PR. Nightly beta. Feature flags.</a:t>
            </a:r>
          </a:p>
        </p:txBody>
      </p:sp>
      <p:pic>
        <p:nvPicPr>
          <p:cNvPr id="3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b7b5b1bad224adb"/>
          <a:stretch xmlns:a="http://schemas.openxmlformats.org/drawingml/2006/main"/>
        </p:blipFill>
        <p:spPr>
          <a:xfrm xmlns:a="http://schemas.openxmlformats.org/drawingml/2006/main">
            <a:off x="9525000" y="3095625"/>
            <a:ext cx="1905000" cy="1905000"/>
          </a:xfrm>
          <a:prstGeom xmlns:a="http://schemas.openxmlformats.org/drawingml/2006/main" prst="rect">
            <a:avLst/>
          </a:prstGeom>
        </p:spPr>
      </p:pic>
      <p:sp>
        <p:nvSpPr>
          <p:cNvPr id="18" name="Share page">
            <a:extLst xmlns:a="http://schemas.openxmlformats.org/drawingml/2006/main">
              <a:ext uri="{FF2B5EF4-FFF2-40B4-BE49-F238E27FC236}">
                <a16:creationId xmlns:a16="http://schemas.microsoft.com/office/drawing/2014/main" id="{28F36433-379A-4930-B84F-0CE68B750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5124450"/>
            <a:ext cx="228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57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MrAdib.com/share</a:t>
            </a:r>
          </a:p>
        </p:txBody>
      </p:sp>
      <p:sp>
        <p:nvSpPr>
          <p:cNvPr id="19" name="text">
            <a:extLst xmlns:a="http://schemas.openxmlformats.org/drawingml/2006/main">
              <a:ext uri="{FF2B5EF4-FFF2-40B4-BE49-F238E27FC236}">
                <a16:creationId xmlns:a16="http://schemas.microsoft.com/office/drawing/2014/main" id="{E0A48791-CF80-4211-B651-2AA21D7E2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905500"/>
            <a:ext cx="10572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Less repetitive QA. More confidence. Faster delivery.</a:t>
            </a:r>
          </a:p>
          <a:p xmlns:a="http://schemas.openxmlformats.org/drawingml/2006/main">
            <a:pPr algn="l">
              <a:def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John Adib · MrAdib.com</a:t>
            </a:r>
          </a:p>
        </p:txBody>
      </p:sp>
      <p:sp>
        <p:nvSpPr>
          <p:cNvPr id="20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EF298D97-570F-42B3-BDBC-C4C9801A8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48425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32</a:t>
            </a:r>
          </a:p>
        </p:txBody>
      </p:sp>
    </p:spTree>
    <p:extLst>
      <p:ext uri="{BB962C8B-B14F-4D97-AF65-F5344CB8AC3E}">
        <p14:creationId xmlns:p14="http://schemas.microsoft.com/office/powerpoint/2010/main" val="170321719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2026-10-05T00:59:42.2990000Z</dcterms:created>
  <dcterms:modified xsi:type="dcterms:W3CDTF">2026-10-05T00:59:42.2990000Z</dcterms:modified>
</coreProperties>
</file>