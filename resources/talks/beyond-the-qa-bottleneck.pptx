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4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da408600444077" /><Relationship Type="http://schemas.openxmlformats.org/officeDocument/2006/relationships/extended-properties" Target="/docProps/app.xml" Id="Rdb501c62b2d24463" /><Relationship Type="http://schemas.openxmlformats.org/officeDocument/2006/relationships/officeDocument" Target="/ppt/presentation.xml" Id="R3db51fc85a9245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7e040b5b6342c7"/>
  </p:sldMasterIdLst>
  <p:notesMasterIdLst>
    <p:notesMasterId xmlns:r="http://schemas.openxmlformats.org/officeDocument/2006/relationships" r:id="R86b30fcaf8464640"/>
  </p:notesMasterIdLst>
  <p:sldIdLst>
    <p:sldId xmlns:r="http://schemas.openxmlformats.org/officeDocument/2006/relationships" id="256" r:id="Rc19b1ed8baf746e9"/>
    <p:sldId xmlns:r="http://schemas.openxmlformats.org/officeDocument/2006/relationships" id="257" r:id="R5bc3228996c04f30"/>
    <p:sldId xmlns:r="http://schemas.openxmlformats.org/officeDocument/2006/relationships" id="258" r:id="R920e3683723b4b70"/>
    <p:sldId xmlns:r="http://schemas.openxmlformats.org/officeDocument/2006/relationships" id="259" r:id="R95e88187845f45df"/>
    <p:sldId xmlns:r="http://schemas.openxmlformats.org/officeDocument/2006/relationships" id="260" r:id="R540a47286b1947f6"/>
    <p:sldId xmlns:r="http://schemas.openxmlformats.org/officeDocument/2006/relationships" id="261" r:id="Rb03724748fda44fb"/>
    <p:sldId xmlns:r="http://schemas.openxmlformats.org/officeDocument/2006/relationships" id="262" r:id="Re4592edc47644d3a"/>
    <p:sldId xmlns:r="http://schemas.openxmlformats.org/officeDocument/2006/relationships" id="263" r:id="R46ff11ca54624bbd"/>
    <p:sldId xmlns:r="http://schemas.openxmlformats.org/officeDocument/2006/relationships" id="264" r:id="R3a9bbc84614540b8"/>
    <p:sldId xmlns:r="http://schemas.openxmlformats.org/officeDocument/2006/relationships" id="265" r:id="Rdfdda567c062423d"/>
    <p:sldId xmlns:r="http://schemas.openxmlformats.org/officeDocument/2006/relationships" id="266" r:id="R1438920f4ea64817"/>
    <p:sldId xmlns:r="http://schemas.openxmlformats.org/officeDocument/2006/relationships" id="267" r:id="Rcda0339e9e624904"/>
    <p:sldId xmlns:r="http://schemas.openxmlformats.org/officeDocument/2006/relationships" id="268" r:id="Rb9be935e09f04658"/>
    <p:sldId xmlns:r="http://schemas.openxmlformats.org/officeDocument/2006/relationships" id="269" r:id="Rbd6f6269db7e48c3"/>
    <p:sldId xmlns:r="http://schemas.openxmlformats.org/officeDocument/2006/relationships" id="270" r:id="R3540fea6ec74422d"/>
    <p:sldId xmlns:r="http://schemas.openxmlformats.org/officeDocument/2006/relationships" id="271" r:id="R3d84bbb8b7a34419"/>
    <p:sldId xmlns:r="http://schemas.openxmlformats.org/officeDocument/2006/relationships" id="272" r:id="R87e635f987344ff2"/>
    <p:sldId xmlns:r="http://schemas.openxmlformats.org/officeDocument/2006/relationships" id="273" r:id="Rf094f91953fb4825"/>
    <p:sldId xmlns:r="http://schemas.openxmlformats.org/officeDocument/2006/relationships" id="274" r:id="Rdad6389549fc421e"/>
    <p:sldId xmlns:r="http://schemas.openxmlformats.org/officeDocument/2006/relationships" id="275" r:id="R581bc3734b1c4feb"/>
    <p:sldId xmlns:r="http://schemas.openxmlformats.org/officeDocument/2006/relationships" id="276" r:id="R4f971aea60af44ac"/>
    <p:sldId xmlns:r="http://schemas.openxmlformats.org/officeDocument/2006/relationships" id="277" r:id="R4259006bcc95437f"/>
    <p:sldId xmlns:r="http://schemas.openxmlformats.org/officeDocument/2006/relationships" id="278" r:id="R2e46d8f338794f40"/>
    <p:sldId xmlns:r="http://schemas.openxmlformats.org/officeDocument/2006/relationships" id="279" r:id="R15ff1c8d289d43be"/>
    <p:sldId xmlns:r="http://schemas.openxmlformats.org/officeDocument/2006/relationships" id="280" r:id="R9759df4433ac4ca9"/>
    <p:sldId xmlns:r="http://schemas.openxmlformats.org/officeDocument/2006/relationships" id="281" r:id="R2dbce02af8e14bd5"/>
    <p:sldId xmlns:r="http://schemas.openxmlformats.org/officeDocument/2006/relationships" id="282" r:id="Rf07d069218aa419e"/>
    <p:sldId xmlns:r="http://schemas.openxmlformats.org/officeDocument/2006/relationships" id="283" r:id="Rc86923ae86914a43"/>
    <p:sldId xmlns:r="http://schemas.openxmlformats.org/officeDocument/2006/relationships" id="284" r:id="Rd4822cdc1021443f"/>
    <p:sldId xmlns:r="http://schemas.openxmlformats.org/officeDocument/2006/relationships" id="285" r:id="R46d85c032ba84eb9"/>
    <p:sldId xmlns:r="http://schemas.openxmlformats.org/officeDocument/2006/relationships" id="286" r:id="Rfac95b38478a44df"/>
    <p:sldId xmlns:r="http://schemas.openxmlformats.org/officeDocument/2006/relationships" id="287" r:id="R54497da6748b432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77e7d4d6034717" /><Relationship Type="http://schemas.openxmlformats.org/officeDocument/2006/relationships/slideMaster" Target="/ppt/slideMasters/slideMaster1.xml" Id="R787e040b5b6342c7" /><Relationship Type="http://schemas.openxmlformats.org/officeDocument/2006/relationships/notesMaster" Target="/ppt/notesMasters/notesMaster1.xml" Id="R86b30fcaf8464640" /><Relationship Type="http://schemas.openxmlformats.org/officeDocument/2006/relationships/presProps" Target="/ppt/presProps.xml" Id="R39fefdc65f174312" /><Relationship Type="http://schemas.openxmlformats.org/officeDocument/2006/relationships/tableStyles" Target="/ppt/tableStyles.xml" Id="R28477601212d43bb" /><Relationship Type="http://schemas.openxmlformats.org/officeDocument/2006/relationships/slide" Target="/ppt/slides/slide1.xml" Id="Rc19b1ed8baf746e9" /><Relationship Type="http://schemas.openxmlformats.org/officeDocument/2006/relationships/slide" Target="/ppt/slides/slide2.xml" Id="R5bc3228996c04f30" /><Relationship Type="http://schemas.openxmlformats.org/officeDocument/2006/relationships/slide" Target="/ppt/slides/slide3.xml" Id="R920e3683723b4b70" /><Relationship Type="http://schemas.openxmlformats.org/officeDocument/2006/relationships/slide" Target="/ppt/slides/slide4.xml" Id="R95e88187845f45df" /><Relationship Type="http://schemas.openxmlformats.org/officeDocument/2006/relationships/slide" Target="/ppt/slides/slide5.xml" Id="R540a47286b1947f6" /><Relationship Type="http://schemas.openxmlformats.org/officeDocument/2006/relationships/slide" Target="/ppt/slides/slide6.xml" Id="Rb03724748fda44fb" /><Relationship Type="http://schemas.openxmlformats.org/officeDocument/2006/relationships/slide" Target="/ppt/slides/slide7.xml" Id="Re4592edc47644d3a" /><Relationship Type="http://schemas.openxmlformats.org/officeDocument/2006/relationships/slide" Target="/ppt/slides/slide8.xml" Id="R46ff11ca54624bbd" /><Relationship Type="http://schemas.openxmlformats.org/officeDocument/2006/relationships/slide" Target="/ppt/slides/slide9.xml" Id="R3a9bbc84614540b8" /><Relationship Type="http://schemas.openxmlformats.org/officeDocument/2006/relationships/slide" Target="/ppt/slides/slide10.xml" Id="Rdfdda567c062423d" /><Relationship Type="http://schemas.openxmlformats.org/officeDocument/2006/relationships/slide" Target="/ppt/slides/slide11.xml" Id="R1438920f4ea64817" /><Relationship Type="http://schemas.openxmlformats.org/officeDocument/2006/relationships/slide" Target="/ppt/slides/slide12.xml" Id="Rcda0339e9e624904" /><Relationship Type="http://schemas.openxmlformats.org/officeDocument/2006/relationships/slide" Target="/ppt/slides/slide13.xml" Id="Rb9be935e09f04658" /><Relationship Type="http://schemas.openxmlformats.org/officeDocument/2006/relationships/slide" Target="/ppt/slides/slide14.xml" Id="Rbd6f6269db7e48c3" /><Relationship Type="http://schemas.openxmlformats.org/officeDocument/2006/relationships/slide" Target="/ppt/slides/slide15.xml" Id="R3540fea6ec74422d" /><Relationship Type="http://schemas.openxmlformats.org/officeDocument/2006/relationships/slide" Target="/ppt/slides/slide16.xml" Id="R3d84bbb8b7a34419" /><Relationship Type="http://schemas.openxmlformats.org/officeDocument/2006/relationships/slide" Target="/ppt/slides/slide17.xml" Id="R87e635f987344ff2" /><Relationship Type="http://schemas.openxmlformats.org/officeDocument/2006/relationships/slide" Target="/ppt/slides/slide18.xml" Id="Rf094f91953fb4825" /><Relationship Type="http://schemas.openxmlformats.org/officeDocument/2006/relationships/slide" Target="/ppt/slides/slide19.xml" Id="Rdad6389549fc421e" /><Relationship Type="http://schemas.openxmlformats.org/officeDocument/2006/relationships/slide" Target="/ppt/slides/slide20.xml" Id="R581bc3734b1c4feb" /><Relationship Type="http://schemas.openxmlformats.org/officeDocument/2006/relationships/slide" Target="/ppt/slides/slide21.xml" Id="R4f971aea60af44ac" /><Relationship Type="http://schemas.openxmlformats.org/officeDocument/2006/relationships/slide" Target="/ppt/slides/slide22.xml" Id="R4259006bcc95437f" /><Relationship Type="http://schemas.openxmlformats.org/officeDocument/2006/relationships/slide" Target="/ppt/slides/slide23.xml" Id="R2e46d8f338794f40" /><Relationship Type="http://schemas.openxmlformats.org/officeDocument/2006/relationships/slide" Target="/ppt/slides/slide24.xml" Id="R15ff1c8d289d43be" /><Relationship Type="http://schemas.openxmlformats.org/officeDocument/2006/relationships/slide" Target="/ppt/slides/slide25.xml" Id="R9759df4433ac4ca9" /><Relationship Type="http://schemas.openxmlformats.org/officeDocument/2006/relationships/slide" Target="/ppt/slides/slide26.xml" Id="R2dbce02af8e14bd5" /><Relationship Type="http://schemas.openxmlformats.org/officeDocument/2006/relationships/slide" Target="/ppt/slides/slide27.xml" Id="Rf07d069218aa419e" /><Relationship Type="http://schemas.openxmlformats.org/officeDocument/2006/relationships/slide" Target="/ppt/slides/slide28.xml" Id="Rc86923ae86914a43" /><Relationship Type="http://schemas.openxmlformats.org/officeDocument/2006/relationships/slide" Target="/ppt/slides/slide29.xml" Id="Rd4822cdc1021443f" /><Relationship Type="http://schemas.openxmlformats.org/officeDocument/2006/relationships/slide" Target="/ppt/slides/slide30.xml" Id="R46d85c032ba84eb9" /><Relationship Type="http://schemas.openxmlformats.org/officeDocument/2006/relationships/slide" Target="/ppt/slides/slide31.xml" Id="Rfac95b38478a44df" /><Relationship Type="http://schemas.openxmlformats.org/officeDocument/2006/relationships/slide" Target="/ppt/slides/slide32.xml" Id="R54497da6748b43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ce4fe68e5349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ed2cab097b469a" /><Relationship Type="http://schemas.openxmlformats.org/officeDocument/2006/relationships/notesMaster" Target="/ppt/notesMasters/notesMaster1.xml" Id="R31a7ed0e56de4b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a8c50ecb4142c4" /><Relationship Type="http://schemas.openxmlformats.org/officeDocument/2006/relationships/notesMaster" Target="/ppt/notesMasters/notesMaster1.xml" Id="R2f918e3e48754a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4bdc41334b42f1" /><Relationship Type="http://schemas.openxmlformats.org/officeDocument/2006/relationships/notesMaster" Target="/ppt/notesMasters/notesMaster1.xml" Id="R7fef8f570f834a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456daf9d1d4b91" /><Relationship Type="http://schemas.openxmlformats.org/officeDocument/2006/relationships/notesMaster" Target="/ppt/notesMasters/notesMaster1.xml" Id="R1c07426e02a24e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5a89dfa9c14856" /><Relationship Type="http://schemas.openxmlformats.org/officeDocument/2006/relationships/notesMaster" Target="/ppt/notesMasters/notesMaster1.xml" Id="R33d5c56a186e4a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742887766e4b61" /><Relationship Type="http://schemas.openxmlformats.org/officeDocument/2006/relationships/notesMaster" Target="/ppt/notesMasters/notesMaster1.xml" Id="Rf6c05d53722d45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27cd4b7b484dff" /><Relationship Type="http://schemas.openxmlformats.org/officeDocument/2006/relationships/notesMaster" Target="/ppt/notesMasters/notesMaster1.xml" Id="R7296b1e245ce46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8bd92a054b4897" /><Relationship Type="http://schemas.openxmlformats.org/officeDocument/2006/relationships/notesMaster" Target="/ppt/notesMasters/notesMaster1.xml" Id="R8a3c4f7171a24d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75612f99de2429e" /><Relationship Type="http://schemas.openxmlformats.org/officeDocument/2006/relationships/notesMaster" Target="/ppt/notesMasters/notesMaster1.xml" Id="R4a9da84fa9fe4e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6216949718b4160" /><Relationship Type="http://schemas.openxmlformats.org/officeDocument/2006/relationships/notesMaster" Target="/ppt/notesMasters/notesMaster1.xml" Id="Ref27829be6ba49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1c05a26d304426" /><Relationship Type="http://schemas.openxmlformats.org/officeDocument/2006/relationships/notesMaster" Target="/ppt/notesMasters/notesMaster1.xml" Id="Rff0832037f924d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31b313695a4f85" /><Relationship Type="http://schemas.openxmlformats.org/officeDocument/2006/relationships/notesMaster" Target="/ppt/notesMasters/notesMaster1.xml" Id="R3715a1d0f41348e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ddf22732a084f74" /><Relationship Type="http://schemas.openxmlformats.org/officeDocument/2006/relationships/notesMaster" Target="/ppt/notesMasters/notesMaster1.xml" Id="Rde6661d4347c425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362044b97854d32" /><Relationship Type="http://schemas.openxmlformats.org/officeDocument/2006/relationships/notesMaster" Target="/ppt/notesMasters/notesMaster1.xml" Id="R7331aa7f925144c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78869cd6677444d" /><Relationship Type="http://schemas.openxmlformats.org/officeDocument/2006/relationships/notesMaster" Target="/ppt/notesMasters/notesMaster1.xml" Id="R2ac405bee3ea4e6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d2c2d2e02d8459e" /><Relationship Type="http://schemas.openxmlformats.org/officeDocument/2006/relationships/notesMaster" Target="/ppt/notesMasters/notesMaster1.xml" Id="Rdc316b9e088947f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a0f824386cf40f3" /><Relationship Type="http://schemas.openxmlformats.org/officeDocument/2006/relationships/notesMaster" Target="/ppt/notesMasters/notesMaster1.xml" Id="R72978addb899476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3f9eced54d44c46" /><Relationship Type="http://schemas.openxmlformats.org/officeDocument/2006/relationships/notesMaster" Target="/ppt/notesMasters/notesMaster1.xml" Id="Rd6f351faa2a44ef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0a58a27e4c34d4a" /><Relationship Type="http://schemas.openxmlformats.org/officeDocument/2006/relationships/notesMaster" Target="/ppt/notesMasters/notesMaster1.xml" Id="Rc5289929da66452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f750b12682c4bc5" /><Relationship Type="http://schemas.openxmlformats.org/officeDocument/2006/relationships/notesMaster" Target="/ppt/notesMasters/notesMaster1.xml" Id="Rfdf3ae4b9a3649d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7963296269b4ee9" /><Relationship Type="http://schemas.openxmlformats.org/officeDocument/2006/relationships/notesMaster" Target="/ppt/notesMasters/notesMaster1.xml" Id="Rb944a3016c7c4ba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eb86eb9bbba4044" /><Relationship Type="http://schemas.openxmlformats.org/officeDocument/2006/relationships/notesMaster" Target="/ppt/notesMasters/notesMaster1.xml" Id="Re5627cd65671476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a5548b339c9478a" /><Relationship Type="http://schemas.openxmlformats.org/officeDocument/2006/relationships/notesMaster" Target="/ppt/notesMasters/notesMaster1.xml" Id="Ra826475d4c7c42a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d6ac64a57944e6f" /><Relationship Type="http://schemas.openxmlformats.org/officeDocument/2006/relationships/notesMaster" Target="/ppt/notesMasters/notesMaster1.xml" Id="Rca613afa741d4d0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ed3c5f849e6491c" /><Relationship Type="http://schemas.openxmlformats.org/officeDocument/2006/relationships/notesMaster" Target="/ppt/notesMasters/notesMaster1.xml" Id="Re3819c0cded1471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a79bf1a6eb24018" /><Relationship Type="http://schemas.openxmlformats.org/officeDocument/2006/relationships/notesMaster" Target="/ppt/notesMasters/notesMaster1.xml" Id="R252476efc615447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617ad301c6947f9" /><Relationship Type="http://schemas.openxmlformats.org/officeDocument/2006/relationships/notesMaster" Target="/ppt/notesMasters/notesMaster1.xml" Id="R3b953f783fe9446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39e1184bb0647b2" /><Relationship Type="http://schemas.openxmlformats.org/officeDocument/2006/relationships/notesMaster" Target="/ppt/notesMasters/notesMaster1.xml" Id="R02df206c9e664c3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5c16dda07574f1c" /><Relationship Type="http://schemas.openxmlformats.org/officeDocument/2006/relationships/notesMaster" Target="/ppt/notesMasters/notesMaster1.xml" Id="R56dbcd31afef41b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881c553f9b04989" /><Relationship Type="http://schemas.openxmlformats.org/officeDocument/2006/relationships/notesMaster" Target="/ppt/notesMasters/notesMaster1.xml" Id="Rd7642a4e35164f5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b1ad72925d047ca" /><Relationship Type="http://schemas.openxmlformats.org/officeDocument/2006/relationships/notesMaster" Target="/ppt/notesMasters/notesMaster1.xml" Id="R8a362d2d7c2e472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3a65169f63f43b7" /><Relationship Type="http://schemas.openxmlformats.org/officeDocument/2006/relationships/notesMaster" Target="/ppt/notesMasters/notesMaster1.xml" Id="R38edd8312fda4e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 finished. Confidence missing.</a:t>
            </a:r>
          </a:p>
          <a:p xmlns:a="http://schemas.openxmlformats.org/drawingml/2006/main">
            <a:r>
              <a:t>• React Native + AI adoption</a:t>
            </a:r>
          </a:p>
          <a:p xmlns:a="http://schemas.openxmlformats.org/drawingml/2006/main">
            <a:r>
              <a:t>• Verification inside everyday development</a:t>
            </a:r>
          </a:p>
          <a:p xmlns:a="http://schemas.openxmlformats.org/drawingml/2006/main">
            <a:r>
              <a:t>• John Adib · MrAdib.com</a:t>
            </a:r>
          </a:p>
          <a:p xmlns:a="http://schemas.openxmlformats.org/drawingml/2006/main">
            <a:r>
              <a:t>• React Native London Meetup. 22 October 2026</a:t>
            </a:r>
          </a:p>
          <a:p xmlns:a="http://schemas.openxmlformats.org/drawingml/2006/main">
            <a:r>
              <a:t>• Funding Circle, 71 Queen Victoria Street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</a:t>
            </a:r>
          </a:p>
          <a:p xmlns:a="http://schemas.openxmlformats.org/drawingml/2006/main">
            <a:r>
              <a:t>• Previously checked behaviour breaks again</a:t>
            </a:r>
          </a:p>
          <a:p xmlns:a="http://schemas.openxmlformats.org/drawingml/2006/main">
            <a:r>
              <a:t>• Repeated work. Falling confidence.</a:t>
            </a:r>
          </a:p>
          <a:p xmlns:a="http://schemas.openxmlformats.org/drawingml/2006/main">
            <a:r>
              <a:t>• First-hand experience, not an incident-rate metric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Small unit-test suite</a:t>
            </a:r>
          </a:p>
          <a:p xmlns:a="http://schemas.openxmlformats.org/drawingml/2006/main">
            <a:r>
              <a:t>• End-to-end checks outside CI</a:t>
            </a:r>
          </a:p>
          <a:p xmlns:a="http://schemas.openxmlformats.org/drawingml/2006/main">
            <a:r>
              <a:t>• Nobody ran them</a:t>
            </a:r>
          </a:p>
          <a:p xmlns:a="http://schemas.openxmlformats.org/drawingml/2006/main">
            <a:r>
              <a:t>• Files existed. Reliable feedback did not.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More than three days of app QA</a:t>
            </a:r>
          </a:p>
          <a:p xmlns:a="http://schemas.openxmlformats.org/drawingml/2006/main">
            <a:r>
              <a:t>• Engineering, product, UX/design</a:t>
            </a:r>
          </a:p>
          <a:p xmlns:a="http://schemas.openxmlformats.org/drawingml/2006/main">
            <a:r>
              <a:t>• Many people pause their own work</a:t>
            </a:r>
          </a:p>
          <a:p xmlns:a="http://schemas.openxmlformats.org/drawingml/2006/main">
            <a:r>
              <a:t>• The cost: interrupted progress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Days waiting for approval</a:t>
            </a:r>
          </a:p>
          <a:p xmlns:a="http://schemas.openxmlformats.org/drawingml/2006/main">
            <a:r>
              <a:t>• Sign-off chain holds the whole release</a:t>
            </a:r>
          </a:p>
          <a:p xmlns:a="http://schemas.openxmlformats.org/drawingml/2006/main">
            <a:r>
              <a:t>• One feature delays other work</a:t>
            </a:r>
          </a:p>
          <a:p xmlns:a="http://schemas.openxmlformats.org/drawingml/2006/main">
            <a:r>
              <a:t>• Later: approve the feature flag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Existing projects delayed over a quarter</a:t>
            </a:r>
          </a:p>
          <a:p xmlns:a="http://schemas.openxmlformats.org/drawingml/2006/main">
            <a:r>
              <a:t>• Regression work + slow QA + release queues</a:t>
            </a:r>
          </a:p>
          <a:p xmlns:a="http://schemas.openxmlformats.org/drawingml/2006/main">
            <a:r>
              <a:t>• Backlog uncertainty</a:t>
            </a:r>
          </a:p>
          <a:p xmlns:a="http://schemas.openxmlformats.org/drawingml/2006/main">
            <a:r>
              <a:t>• Process problem, not individual blame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John Adib · London</a:t>
            </a:r>
          </a:p>
          <a:p xmlns:a="http://schemas.openxmlformats.org/drawingml/2006/main">
            <a:r>
              <a:t>• 2× co-founder. Former CTO. 18 years.</a:t>
            </a:r>
          </a:p>
          <a:p xmlns:a="http://schemas.openxmlformats.org/drawingml/2006/main">
            <a:r>
              <a:t>• Engineering leader + mentor</a:t>
            </a:r>
          </a:p>
          <a:p xmlns:a="http://schemas.openxmlformats.org/drawingml/2006/main">
            <a:r>
              <a:t>• Product engineering. Broader ownership.</a:t>
            </a:r>
          </a:p>
          <a:p xmlns:a="http://schemas.openxmlformats.org/drawingml/2006/main">
            <a:r>
              <a:t>• I love moving mountains.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Repeat the good engineering habits</a:t>
            </a:r>
          </a:p>
          <a:p xmlns:a="http://schemas.openxmlformats.org/drawingml/2006/main">
            <a:r>
              <a:t>• AI adoption includes verification</a:t>
            </a:r>
          </a:p>
          <a:p xmlns:a="http://schemas.openxmlformats.org/drawingml/2006/main">
            <a:r>
              <a:t>• Seven changes, one development loop</a:t>
            </a:r>
          </a:p>
          <a:p xmlns:a="http://schemas.openxmlformats.org/drawingml/2006/main">
            <a:r>
              <a:t>• First: reusable 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cook: coordinate; sherlock: discover</a:t>
            </a:r>
          </a:p>
          <a:p xmlns:a="http://schemas.openxmlformats.org/drawingml/2006/main">
            <a:r>
              <a:t>• dig: research; mastermind: plan</a:t>
            </a:r>
          </a:p>
          <a:p xmlns:a="http://schemas.openxmlformats.org/drawingml/2006/main">
            <a:r>
              <a:t>• michelin: implement; mugshot: capture</a:t>
            </a:r>
          </a:p>
          <a:p xmlns:a="http://schemas.openxmlformats.org/drawingml/2006/main">
            <a:r>
              <a:t>• parole: evaluate feedback; saul: communicate</a:t>
            </a:r>
          </a:p>
          <a:p xmlns:a="http://schemas.openxmlformats.org/drawingml/2006/main">
            <a:r>
              <a:t>• One workflow. Focus next on Michelin.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18 years of engineering judgement, written down</a:t>
            </a:r>
          </a:p>
          <a:p xmlns:a="http://schemas.openxmlformats.org/drawingml/2006/main">
            <a:r>
              <a:t>• Reuse: code, components, patterns, tools</a:t>
            </a:r>
          </a:p>
          <a:p xmlns:a="http://schemas.openxmlformats.org/drawingml/2006/main">
            <a:r>
              <a:t>• Separation: UI, state, business decisions</a:t>
            </a:r>
          </a:p>
          <a:p xmlns:a="http://schemas.openxmlformats.org/drawingml/2006/main">
            <a:r>
              <a:t>• Quality: tests, readability, actual check results</a:t>
            </a:r>
          </a:p>
          <a:p xmlns:a="http://schemas.openxmlformats.org/drawingml/2006/main">
            <a:r>
              <a:t>• Shared standards for implementation and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meaningful tests</a:t>
            </a:r>
          </a:p>
          <a:p xmlns:a="http://schemas.openxmlformats.org/drawingml/2006/main">
            <a:r>
              <a:t>• Expected behaviour + failure case</a:t>
            </a:r>
          </a:p>
          <a:p xmlns:a="http://schemas.openxmlformats.org/drawingml/2006/main">
            <a:r>
              <a:t>• Every correction leaves protection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Before editing: read the testing guidelines</a:t>
            </a:r>
          </a:p>
          <a:p xmlns:a="http://schemas.openxmlformats.org/drawingml/2006/main">
            <a:r>
              <a:t>• New code must include meaningful tests</a:t>
            </a:r>
          </a:p>
          <a:p xmlns:a="http://schemas.openxmlformats.org/drawingml/2006/main">
            <a:r>
              <a:t>• Bug fix: reproduce failure, prove the fix, preserve working behaviour</a:t>
            </a:r>
          </a:p>
          <a:p xmlns:a="http://schemas.openxmlformats.org/drawingml/2006/main">
            <a:r>
              <a:t>• Human-readable test titles help people and AI understand intent</a:t>
            </a:r>
          </a:p>
          <a:p xmlns:a="http://schemas.openxmlformats.org/drawingml/2006/main">
            <a:r>
              <a:t>• Never lower the bar. Raise it gradually.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April: 113 files. September: 1,669. 8 October: 2,257</a:t>
            </a:r>
          </a:p>
          <a:p xmlns:a="http://schemas.openxmlformats.org/drawingml/2006/main">
            <a:r>
              <a:t>• Dashed line: joined in April</a:t>
            </a:r>
          </a:p>
          <a:p xmlns:a="http://schemas.openxmlformats.org/drawingml/2006/main">
            <a:r>
              <a:t>• October is a dated checkpoint, not month end</a:t>
            </a:r>
          </a:p>
          <a:p xmlns:a="http://schemas.openxmlformats.org/drawingml/2006/main">
            <a:r>
              <a:t>• Files can contain many tests. Coverage is separate.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CI on every PR</a:t>
            </a:r>
          </a:p>
          <a:p xmlns:a="http://schemas.openxmlformats.org/drawingml/2006/main">
            <a:r>
              <a:t>• Lint, types, tests and build</a:t>
            </a:r>
          </a:p>
          <a:p xmlns:a="http://schemas.openxmlformats.org/drawingml/2006/main">
            <a:r>
              <a:t>• Failed checks block the pipeline</a:t>
            </a:r>
          </a:p>
          <a:p xmlns:a="http://schemas.openxmlformats.org/drawingml/2006/main">
            <a:r>
              <a:t>• Parole watches results. Michelin makes valid fixes.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Automated CI on every PR</a:t>
            </a:r>
          </a:p>
          <a:p xmlns:a="http://schemas.openxmlformats.org/drawingml/2006/main">
            <a:r>
              <a:t>• Parole continuously checks the results</a:t>
            </a:r>
          </a:p>
          <a:p xmlns:a="http://schemas.openxmlformats.org/drawingml/2006/main">
            <a:r>
              <a:t>• Evaluate the failure and pass valid work to Michelin</a:t>
            </a:r>
          </a:p>
          <a:p xmlns:a="http://schemas.openxmlformats.org/drawingml/2006/main">
            <a:r>
              <a:t>• Michelin fixes, commits and pushes</a:t>
            </a:r>
          </a:p>
          <a:p xmlns:a="http://schemas.openxmlformats.org/drawingml/2006/main">
            <a:r>
              <a:t>• New commit triggers CI and another review. Repeat until clear.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September: 72.02%. 2 October: 75.04%. 8 October: 99.26%</a:t>
            </a:r>
          </a:p>
          <a:p xmlns:a="http://schemas.openxmlformats.org/drawingml/2006/main">
            <a:r>
              <a:t>• Four Jest coverage shards merged</a:t>
            </a:r>
          </a:p>
          <a:p xmlns:a="http://schemas.openxmlformats.org/drawingml/2006/main">
            <a:r>
              <a:t>• Covered lines: 19,178 to 22,903</a:t>
            </a:r>
          </a:p>
          <a:p xmlns:a="http://schemas.openxmlformats.org/drawingml/2006/main">
            <a:r>
              <a:t>• Eligible lines: 25,555 to 23,072. Scope excludes helpers and dev code</a:t>
            </a:r>
          </a:p>
          <a:p xmlns:a="http://schemas.openxmlformats.org/drawingml/2006/main">
            <a:r>
              <a:t>• New tests and scope both affect the percentage</a:t>
            </a:r>
          </a:p>
          <a:p xmlns:a="http://schemas.openxmlformats.org/drawingml/2006/main">
            <a:r>
              <a:t>• Thresholds pinned to measured baseline. Coverage is not test quality.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Maestro on Android and iOS</a:t>
            </a:r>
          </a:p>
          <a:p xmlns:a="http://schemas.openxmlformats.org/drawingml/2006/main">
            <a:r>
              <a:t>• Label-selected PR smoke and full runs</a:t>
            </a:r>
          </a:p>
          <a:p xmlns:a="http://schemas.openxmlformats.org/drawingml/2006/main">
            <a:r>
              <a:t>• Scheduled suite overnight</a:t>
            </a:r>
          </a:p>
          <a:p xmlns:a="http://schemas.openxmlformats.org/drawingml/2006/main">
            <a:r>
              <a:t>• Device results need their own scope. Nightly is not a universal release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PR labels select smoke or full device checks</a:t>
            </a:r>
          </a:p>
          <a:p xmlns:a="http://schemas.openxmlformats.org/drawingml/2006/main">
            <a:r>
              <a:t>• 33 nightly jobs. 23 iOS, 10 Android</a:t>
            </a:r>
          </a:p>
          <a:p xmlns:a="http://schemas.openxmlformats.org/drawingml/2006/main">
            <a:r>
              <a:t>• Configured jobs do not establish passing tests</a:t>
            </a:r>
          </a:p>
          <a:p xmlns:a="http://schemas.openxmlformats.org/drawingml/2006/main">
            <a:r>
              <a:t>• Nightly failures inform the team. No claim that all releases are blocked</a:t>
            </a:r>
          </a:p>
          <a:p xmlns:a="http://schemas.openxmlformats.org/drawingml/2006/main">
            <a:r>
              <a:t>• Recordings and logs support investigation.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April: 14. September: 225. 8 October: 404 YAML files</a:t>
            </a:r>
          </a:p>
          <a:p xmlns:a="http://schemas.openxmlformats.org/drawingml/2006/main">
            <a:r>
              <a:t>• Inventory includes several file roles</a:t>
            </a:r>
          </a:p>
          <a:p xmlns:a="http://schemas.openxmlformats.org/drawingml/2006/main">
            <a:r>
              <a:t>• 99 non-exempt routes reached in inventory</a:t>
            </a:r>
          </a:p>
          <a:p xmlns:a="http://schemas.openxmlformats.org/drawingml/2006/main">
            <a:r>
              <a:t>• CI-run leaves reach 28 routes, 28.3%. 71 quarantine-only</a:t>
            </a:r>
          </a:p>
          <a:p xmlns:a="http://schemas.openxmlformats.org/drawingml/2006/main">
            <a:r>
              <a:t>• 12 exempt routes. Not complete execution coverage.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Human review queues took days</a:t>
            </a:r>
          </a:p>
          <a:p xmlns:a="http://schemas.openxmlformats.org/drawingml/2006/main">
            <a:r>
              <a:t>• Three AI reviewers on every PR</a:t>
            </a:r>
          </a:p>
          <a:p xmlns:a="http://schemas.openxmlformats.org/drawingml/2006/main">
            <a:r>
              <a:t>• Custom mobile reviewer runs hourly</a:t>
            </a:r>
          </a:p>
          <a:p xmlns:a="http://schemas.openxmlformats.org/drawingml/2006/main">
            <a:r>
              <a:t>• Repository guidelines provide React Native context</a:t>
            </a:r>
          </a:p>
          <a:p xmlns:a="http://schemas.openxmlformats.org/drawingml/2006/main">
            <a:r>
              <a:t>• Parole’s feedback loop connects this to 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CodeRabbit + Qodo Merge + cubic</a:t>
            </a:r>
          </a:p>
          <a:p xmlns:a="http://schemas.openxmlformats.org/drawingml/2006/main">
            <a:r>
              <a:t>• Every PR receives automated feedback</a:t>
            </a:r>
          </a:p>
          <a:p xmlns:a="http://schemas.openxmlformats.org/drawingml/2006/main">
            <a:r>
              <a:t>• Custom Cursor reviewer runs hourly</a:t>
            </a:r>
          </a:p>
          <a:p xmlns:a="http://schemas.openxmlformats.org/drawingml/2006/main">
            <a:r>
              <a:t>• React Native context in the review prompt</a:t>
            </a:r>
          </a:p>
          <a:p xmlns:a="http://schemas.openxmlformats.org/drawingml/2006/main">
            <a:r>
              <a:t>• Different perspectives. Parole evaluates the feedback.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Guidelines committed to the repository</a:t>
            </a:r>
          </a:p>
          <a:p xmlns:a="http://schemas.openxmlformats.org/drawingml/2006/main">
            <a:r>
              <a:t>• React Native + iOS/Android expectations</a:t>
            </a:r>
          </a:p>
          <a:p xmlns:a="http://schemas.openxmlformats.org/drawingml/2006/main">
            <a:r>
              <a:t>• Component reuse, separation of concerns, meaningful tests</a:t>
            </a:r>
          </a:p>
          <a:p xmlns:a="http://schemas.openxmlformats.org/drawingml/2006/main">
            <a:r>
              <a:t>• Reviewers read the same rules used for implementation</a:t>
            </a:r>
          </a:p>
          <a:p xmlns:a="http://schemas.openxmlformats.org/drawingml/2006/main">
            <a:r>
              <a:t>• Explain incorrect feedback. Refine the guidance. No guarantee of catching everything.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Sentry</a:t>
            </a:r>
          </a:p>
          <a:p xmlns:a="http://schemas.openxmlformats.org/drawingml/2006/main">
            <a:r>
              <a:t>• Production feedback returns to development</a:t>
            </a:r>
          </a:p>
          <a:p xmlns:a="http://schemas.openxmlformats.org/drawingml/2006/main">
            <a:r>
              <a:t>• July: systematic error cleanup</a:t>
            </a:r>
          </a:p>
          <a:p xmlns:a="http://schemas.openxmlformats.org/drawingml/2006/main">
            <a:r>
              <a:t>• Prioritise reproducible problems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Investigate context + revision + flags</a:t>
            </a:r>
          </a:p>
          <a:p xmlns:a="http://schemas.openxmlformats.org/drawingml/2006/main">
            <a:r>
              <a:t>• Reproduce before correcting</a:t>
            </a:r>
          </a:p>
          <a:p xmlns:a="http://schemas.openxmlformats.org/drawingml/2006/main">
            <a:r>
              <a:t>• Bounded fix + regression check</a:t>
            </a:r>
          </a:p>
          <a:p xmlns:a="http://schemas.openxmlformats.org/drawingml/2006/main">
            <a:r>
              <a:t>• Return fresh evidence to review</a:t>
            </a:r>
          </a:p>
          <a:p xmlns:a="http://schemas.openxmlformats.org/drawingml/2006/main">
            <a:r>
              <a:t>• Recorded event does not always mean a user crash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107 complete days: 7 July to 21 October</a:t>
            </a:r>
          </a:p>
          <a:p xmlns:a="http://schemas.openxmlformats.org/drawingml/2006/main">
            <a:r>
              <a:t>• Windows: 7 Jul to 5 Aug vs 22 Sep to 21 Oct</a:t>
            </a:r>
          </a:p>
          <a:p xmlns:a="http://schemas.openxmlformats.org/drawingml/2006/main">
            <a:r>
              <a:t>• 364,417 then 127,531 events. About 65% fewer</a:t>
            </a:r>
          </a:p>
          <a:p xmlns:a="http://schemas.openxmlformats.org/drawingml/2006/main">
            <a:r>
              <a:t>• Android snapshot: about 690 to 290 events/day. Short window</a:t>
            </a:r>
          </a:p>
          <a:p xmlns:a="http://schemas.openxmlformats.org/drawingml/2006/main">
            <a:r>
              <a:t>• Oct: 37 new error types</a:t>
            </a:r>
          </a:p>
          <a:p xmlns:a="http://schemas.openxmlformats.org/drawingml/2006/main">
            <a:r>
              <a:t>• Weekly crashes: 458, 409, then 887. Monitoring still matters</a:t>
            </a:r>
          </a:p>
          <a:p xmlns:a="http://schemas.openxmlformats.org/drawingml/2006/main">
            <a:r>
              <a:t>• Fixes, filters and sampling affect counts. No usage denominator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Finally: delivery</a:t>
            </a:r>
          </a:p>
          <a:p xmlns:a="http://schemas.openxmlformats.org/drawingml/2006/main">
            <a:r>
              <a:t>• Small verified changes</a:t>
            </a:r>
          </a:p>
          <a:p xmlns:a="http://schemas.openxmlformats.org/drawingml/2006/main">
            <a:r>
              <a:t>• Feature activation separated from code release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Canary build after every merge</a:t>
            </a:r>
          </a:p>
          <a:p xmlns:a="http://schemas.openxmlformats.org/drawingml/2006/main">
            <a:r>
              <a:t>• Weekday nightly beta when main changes. iOS TestFlight + Android</a:t>
            </a:r>
          </a:p>
          <a:p xmlns:a="http://schemas.openxmlformats.org/drawingml/2006/main">
            <a:r>
              <a:t>• Separate installs allow before/after comparison</a:t>
            </a:r>
          </a:p>
          <a:p xmlns:a="http://schemas.openxmlformats.org/drawingml/2006/main">
            <a:r>
              <a:t>• Deep links and payment flows need that comparison</a:t>
            </a:r>
          </a:p>
          <a:p xmlns:a="http://schemas.openxmlformats.org/drawingml/2006/main">
            <a:r>
              <a:t>• Skills generate specific TestFlight change notes and testing instructions.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Return to the days-long approval queue</a:t>
            </a:r>
          </a:p>
          <a:p xmlns:a="http://schemas.openxmlformats.org/drawingml/2006/main">
            <a:r>
              <a:t>• Small increments behind feature flags</a:t>
            </a:r>
          </a:p>
          <a:p xmlns:a="http://schemas.openxmlformats.org/drawingml/2006/main">
            <a:r>
              <a:t>• Ship verified code; decide activation separately</a:t>
            </a:r>
          </a:p>
          <a:p xmlns:a="http://schemas.openxmlformats.org/drawingml/2006/main">
            <a:r>
              <a:t>• Check enabled and disabled behaviour</a:t>
            </a:r>
          </a:p>
          <a:p xmlns:a="http://schemas.openxmlformats.org/drawingml/2006/main">
            <a:r>
              <a:t>• Mobile flag needs code in the installed 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September: 188 mobile PRs. October to 8th: 126</a:t>
            </a:r>
          </a:p>
          <a:p xmlns:a="http://schemas.openxmlformats.org/drawingml/2006/main">
            <a:r>
              <a:t>• October: 79 test PRs, 22 fixes, 17 features</a:t>
            </a:r>
          </a:p>
          <a:p xmlns:a="http://schemas.openxmlformats.org/drawingml/2006/main">
            <a:r>
              <a:t>• Partial month. Exclude from full-month averages</a:t>
            </a:r>
          </a:p>
          <a:p xmlns:a="http://schemas.openxmlformats.org/drawingml/2006/main">
            <a:r>
              <a:t>• April joining marker. Process changed in May</a:t>
            </a:r>
          </a:p>
          <a:p xmlns:a="http://schemas.openxmlformats.org/drawingml/2006/main">
            <a:r>
              <a:t>• PR count is activity, not productivity or features delivered.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Onboarding myself to the team, codebase and business</a:t>
            </a:r>
          </a:p>
          <a:p xmlns:a="http://schemas.openxmlformats.org/drawingml/2006/main">
            <a:r>
              <a:t>• Design system and monorepo, each could be its own talk</a:t>
            </a:r>
          </a:p>
          <a:p xmlns:a="http://schemas.openxmlformats.org/drawingml/2006/main">
            <a:r>
              <a:t>• Transition from engineering delivery to product ownership</a:t>
            </a:r>
          </a:p>
          <a:p xmlns:a="http://schemas.openxmlformats.org/drawingml/2006/main">
            <a:r>
              <a:t>• AI adoption across the development loop</a:t>
            </a:r>
          </a:p>
          <a:p xmlns:a="http://schemas.openxmlformats.org/drawingml/2006/main">
            <a:r>
              <a:t>• Harness: the environment around AI, not just the model</a:t>
            </a:r>
          </a:p>
          <a:p xmlns:a="http://schemas.openxmlformats.org/drawingml/2006/main">
            <a:r>
              <a:t>• A few months of change, many challenges beyond today’s scope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Lessons to adapt, not a universal five-step recipe</a:t>
            </a:r>
          </a:p>
          <a:p xmlns:a="http://schemas.openxmlformats.org/drawingml/2006/main">
            <a:r>
              <a:t>• Start with your team’s actual bottleneck</a:t>
            </a:r>
          </a:p>
          <a:p xmlns:a="http://schemas.openxmlformats.org/drawingml/2006/main">
            <a:r>
              <a:t>• Clear expectations and meaningful checks matter everywhere</a:t>
            </a:r>
          </a:p>
          <a:p xmlns:a="http://schemas.openxmlformats.org/drawingml/2006/main">
            <a:r>
              <a:t>• Tools, approval boundaries and rollout depend on context</a:t>
            </a:r>
          </a:p>
          <a:p xmlns:a="http://schemas.openxmlformats.org/drawingml/2006/main">
            <a:r>
              <a:t>• Start small. Inspect the outcome. Expand what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release. Days of QA and approvals.</a:t>
            </a:r>
          </a:p>
          <a:p xmlns:a="http://schemas.openxmlformats.org/drawingml/2006/main">
            <a:r>
              <a:t>• Skills → tests → CI → device evidence</a:t>
            </a:r>
          </a:p>
          <a:p xmlns:a="http://schemas.openxmlformats.org/drawingml/2006/main">
            <a:r>
              <a:t>• Review → production feedback → delivery</a:t>
            </a:r>
          </a:p>
          <a:p xmlns:a="http://schemas.openxmlformats.org/drawingml/2006/main">
            <a:r>
              <a:t>• Less repetitive QA. More confidence. Faster delivery.</a:t>
            </a:r>
          </a:p>
          <a:p xmlns:a="http://schemas.openxmlformats.org/drawingml/2006/main">
            <a:r>
              <a:t>• Evidence has limits. Human judgement still matters.</a:t>
            </a:r>
          </a:p>
          <a:p xmlns:a="http://schemas.openxmlformats.org/drawingml/2006/main">
            <a:r>
              <a:t>• QR: social profiles, talks and contact details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a2f8a6f26e495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935ef2c6d9463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51bb3f9c4844f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b4892efc94440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7afed3de22454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85b1deaa3e41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0800E9-8454-4E81-8AA3-C07F530DA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AE9C0FB-46A2-4A9B-93BE-73DC5E762AE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8283DE0-3087-4080-81F9-1B018EDE99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DB087A6-FDF7-4B04-9E05-4160974F60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2B26858-F37C-4CFD-8C77-4DA0EE9418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7FB7363-66E4-4AA5-A049-76769900E8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36C89BE-68DB-4447-AE86-3EA83318F6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DEB58CD-4226-4FC3-A58E-E75B8BF2389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21A2D4D-6595-4FE6-9900-D2C08AC089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2C52700-E084-4F07-9E77-3D72FB7B68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abf295fb734f99" /><Relationship Type="http://schemas.openxmlformats.org/officeDocument/2006/relationships/slideLayout" Target="/ppt/slideLayouts/slideLayout1.xml" Id="R5444c9533ff1429a" /><Relationship Type="http://schemas.openxmlformats.org/officeDocument/2006/relationships/slideLayout" Target="/ppt/slideLayouts/slideLayout2.xml" Id="R1c118f18aec34dfb" /><Relationship Type="http://schemas.openxmlformats.org/officeDocument/2006/relationships/slideLayout" Target="/ppt/slideLayouts/slideLayout3.xml" Id="Re240c412b0424813" /><Relationship Type="http://schemas.openxmlformats.org/officeDocument/2006/relationships/slideLayout" Target="/ppt/slideLayouts/slideLayout4.xml" Id="R845cf356ddda4ed8" /><Relationship Type="http://schemas.openxmlformats.org/officeDocument/2006/relationships/slideLayout" Target="/ppt/slideLayouts/slideLayout5.xml" Id="Rb2195c33263f48c4" /><Relationship Type="http://schemas.openxmlformats.org/officeDocument/2006/relationships/slideLayout" Target="/ppt/slideLayouts/slideLayout6.xml" Id="R5ac98052a66846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44c9533ff1429a"/>
    <p:sldLayoutId xmlns:r="http://schemas.openxmlformats.org/officeDocument/2006/relationships" id="2147483650" r:id="R1c118f18aec34dfb"/>
    <p:sldLayoutId xmlns:r="http://schemas.openxmlformats.org/officeDocument/2006/relationships" id="2147483651" r:id="Re240c412b0424813"/>
    <p:sldLayoutId xmlns:r="http://schemas.openxmlformats.org/officeDocument/2006/relationships" id="2147483652" r:id="R845cf356ddda4ed8"/>
    <p:sldLayoutId xmlns:r="http://schemas.openxmlformats.org/officeDocument/2006/relationships" id="2147483653" r:id="Rb2195c33263f48c4"/>
    <p:sldLayoutId xmlns:r="http://schemas.openxmlformats.org/officeDocument/2006/relationships" id="2147483654" r:id="R5ac98052a66846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55fc296d254c1a" /><Relationship Type="http://schemas.openxmlformats.org/officeDocument/2006/relationships/image" Target="/ppt/media/image.png" Id="R22f03d171ebb4965" /><Relationship Type="http://schemas.openxmlformats.org/officeDocument/2006/relationships/image" Target="/ppt/media/image.jpeg" Id="Rdf9b601e74ac4964" /><Relationship Type="http://schemas.openxmlformats.org/officeDocument/2006/relationships/notesSlide" Target="/ppt/notesSlides/notesSlide1.xml" Id="Raa43c286a62a4b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3d7a1ad0b04a02" /><Relationship Type="http://schemas.openxmlformats.org/officeDocument/2006/relationships/notesSlide" Target="/ppt/notesSlides/notesSlide2.xml" Id="R6a33361e077d47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7734106e7f4042" /><Relationship Type="http://schemas.openxmlformats.org/officeDocument/2006/relationships/notesSlide" Target="/ppt/notesSlides/notesSlide3.xml" Id="R24903109c1a346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ffee29913448f7" /><Relationship Type="http://schemas.openxmlformats.org/officeDocument/2006/relationships/notesSlide" Target="/ppt/notesSlides/notesSlide4.xml" Id="Rb2f689037da643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f6b248629c48a8" /><Relationship Type="http://schemas.openxmlformats.org/officeDocument/2006/relationships/notesSlide" Target="/ppt/notesSlides/notesSlide5.xml" Id="Ra891317fbe554f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eed679941b4f9c" /><Relationship Type="http://schemas.openxmlformats.org/officeDocument/2006/relationships/notesSlide" Target="/ppt/notesSlides/notesSlide6.xml" Id="R34fb495104e34e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b7fd8880994a68" /><Relationship Type="http://schemas.openxmlformats.org/officeDocument/2006/relationships/image" Target="/ppt/media/image2.jpeg" Id="R8b64b8b68cc6412f" /><Relationship Type="http://schemas.openxmlformats.org/officeDocument/2006/relationships/notesSlide" Target="/ppt/notesSlides/notesSlide7.xml" Id="Rc2b13d58dfb24e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7f8d606e4f4b2a" /><Relationship Type="http://schemas.openxmlformats.org/officeDocument/2006/relationships/image" Target="/ppt/media/image2.png" Id="R369bc7f42ef8472e" /><Relationship Type="http://schemas.openxmlformats.org/officeDocument/2006/relationships/image" Target="/ppt/media/image3.png" Id="Re233fb443e4c49aa" /><Relationship Type="http://schemas.openxmlformats.org/officeDocument/2006/relationships/image" Target="/ppt/media/image4.png" Id="R9d95b9a814ba4477" /><Relationship Type="http://schemas.openxmlformats.org/officeDocument/2006/relationships/image" Target="/ppt/media/image5.png" Id="R55f3872c56754a73" /><Relationship Type="http://schemas.openxmlformats.org/officeDocument/2006/relationships/image" Target="/ppt/media/image6.png" Id="Re766e63caf2e4cfd" /><Relationship Type="http://schemas.openxmlformats.org/officeDocument/2006/relationships/image" Target="/ppt/media/image7.png" Id="R1d849d0b814c49fa" /><Relationship Type="http://schemas.openxmlformats.org/officeDocument/2006/relationships/notesSlide" Target="/ppt/notesSlides/notesSlide8.xml" Id="R69cd465e42724df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5371745a204189" /><Relationship Type="http://schemas.openxmlformats.org/officeDocument/2006/relationships/notesSlide" Target="/ppt/notesSlides/notesSlide9.xml" Id="R8ab1a69053794c4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c85aa226cc4e70" /><Relationship Type="http://schemas.openxmlformats.org/officeDocument/2006/relationships/notesSlide" Target="/ppt/notesSlides/notesSlide10.xml" Id="Rcb3cb4c13fad425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5c9c9e24e84d46" /><Relationship Type="http://schemas.openxmlformats.org/officeDocument/2006/relationships/image" Target="/ppt/media/image8.png" Id="R9ffc577fddf14b08" /><Relationship Type="http://schemas.openxmlformats.org/officeDocument/2006/relationships/image" Target="/ppt/media/image9.png" Id="R8d6ee81b8f424927" /><Relationship Type="http://schemas.openxmlformats.org/officeDocument/2006/relationships/image" Target="/ppt/media/image10.png" Id="R3f1ab504d1bf4401" /><Relationship Type="http://schemas.openxmlformats.org/officeDocument/2006/relationships/image" Target="/ppt/media/image11.png" Id="R8659fbfae7794c53" /><Relationship Type="http://schemas.openxmlformats.org/officeDocument/2006/relationships/image" Target="/ppt/media/image12.png" Id="R6e51bfdaa1c14c96" /><Relationship Type="http://schemas.openxmlformats.org/officeDocument/2006/relationships/notesSlide" Target="/ppt/notesSlides/notesSlide11.xml" Id="R40a45f76c1db49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833ea31089435e" /><Relationship Type="http://schemas.openxmlformats.org/officeDocument/2006/relationships/notesSlide" Target="/ppt/notesSlides/notesSlide12.xml" Id="R64cf8e54f12f418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a0a4f5a31f43fd" /><Relationship Type="http://schemas.openxmlformats.org/officeDocument/2006/relationships/chart" Target="/ppt/slides/charts/chart1.xml" Id="R63b13e50537041ad" /><Relationship Type="http://schemas.openxmlformats.org/officeDocument/2006/relationships/notesSlide" Target="/ppt/notesSlides/notesSlide13.xml" Id="R3630dc181f7a47e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d4a936f1a24d1b" /><Relationship Type="http://schemas.openxmlformats.org/officeDocument/2006/relationships/image" Target="/ppt/media/image13.png" Id="R48041ce3d3624cc7" /><Relationship Type="http://schemas.openxmlformats.org/officeDocument/2006/relationships/image" Target="/ppt/media/image14.png" Id="Ra74eb8bae417425f" /><Relationship Type="http://schemas.openxmlformats.org/officeDocument/2006/relationships/image" Target="/ppt/media/image15.png" Id="Ref69b710fa654013" /><Relationship Type="http://schemas.openxmlformats.org/officeDocument/2006/relationships/image" Target="/ppt/media/image16.png" Id="Rfcc641a3324d4d60" /><Relationship Type="http://schemas.openxmlformats.org/officeDocument/2006/relationships/notesSlide" Target="/ppt/notesSlides/notesSlide14.xml" Id="R21fda87ae688409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0d50db5df54e57" /><Relationship Type="http://schemas.openxmlformats.org/officeDocument/2006/relationships/notesSlide" Target="/ppt/notesSlides/notesSlide15.xml" Id="R56e7f71cee944b6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3e2e661cab4f11" /><Relationship Type="http://schemas.openxmlformats.org/officeDocument/2006/relationships/notesSlide" Target="/ppt/notesSlides/notesSlide16.xml" Id="R0aecd6206282442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3fba5fbcde43d2" /><Relationship Type="http://schemas.openxmlformats.org/officeDocument/2006/relationships/image" Target="/ppt/media/image17.png" Id="Ra30783244a014156" /><Relationship Type="http://schemas.openxmlformats.org/officeDocument/2006/relationships/image" Target="/ppt/media/image18.png" Id="Rd2119f1b5707495d" /><Relationship Type="http://schemas.openxmlformats.org/officeDocument/2006/relationships/image" Target="/ppt/media/image19.png" Id="Rc058e3e918584c83" /><Relationship Type="http://schemas.openxmlformats.org/officeDocument/2006/relationships/notesSlide" Target="/ppt/notesSlides/notesSlide17.xml" Id="Rb8e87656f0dc44a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05f8e5d16b4ce1" /><Relationship Type="http://schemas.openxmlformats.org/officeDocument/2006/relationships/notesSlide" Target="/ppt/notesSlides/notesSlide18.xml" Id="R87c2fb90ab98463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6d530a760a43ef" /><Relationship Type="http://schemas.openxmlformats.org/officeDocument/2006/relationships/chart" Target="/ppt/slides/charts/chart2.xml" Id="Rcfa3edb51298480f" /><Relationship Type="http://schemas.openxmlformats.org/officeDocument/2006/relationships/notesSlide" Target="/ppt/notesSlides/notesSlide19.xml" Id="R84801ba9285040b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069d0ce3d24a76" /><Relationship Type="http://schemas.openxmlformats.org/officeDocument/2006/relationships/image" Target="/ppt/media/image20.png" Id="R9c78111650f541ca" /><Relationship Type="http://schemas.openxmlformats.org/officeDocument/2006/relationships/image" Target="/ppt/media/image21.png" Id="Ra7ad5d354a434274" /><Relationship Type="http://schemas.openxmlformats.org/officeDocument/2006/relationships/notesSlide" Target="/ppt/notesSlides/notesSlide20.xml" Id="R09644fd22536413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fa7f504f824d38" /><Relationship Type="http://schemas.openxmlformats.org/officeDocument/2006/relationships/notesSlide" Target="/ppt/notesSlides/notesSlide21.xml" Id="R4441d85b83bc4e8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7ba08237124060" /><Relationship Type="http://schemas.openxmlformats.org/officeDocument/2006/relationships/notesSlide" Target="/ppt/notesSlides/notesSlide22.xml" Id="R400decc34d7440a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bc47194ca246fb" /><Relationship Type="http://schemas.openxmlformats.org/officeDocument/2006/relationships/image" Target="/ppt/media/image22.png" Id="Rb5b0a2edd6784b99" /><Relationship Type="http://schemas.openxmlformats.org/officeDocument/2006/relationships/notesSlide" Target="/ppt/notesSlides/notesSlide23.xml" Id="R8fae473a90e1458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e3a7a85e614696" /><Relationship Type="http://schemas.openxmlformats.org/officeDocument/2006/relationships/notesSlide" Target="/ppt/notesSlides/notesSlide24.xml" Id="R30680ba653814bc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6a64879f1c46dc" /><Relationship Type="http://schemas.openxmlformats.org/officeDocument/2006/relationships/chart" Target="/ppt/slides/charts/chart3.xml" Id="R08d36dcb439d4c54" /><Relationship Type="http://schemas.openxmlformats.org/officeDocument/2006/relationships/notesSlide" Target="/ppt/notesSlides/notesSlide25.xml" Id="R1b0c13a7f36046a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44c0f49e4c44fc" /><Relationship Type="http://schemas.openxmlformats.org/officeDocument/2006/relationships/notesSlide" Target="/ppt/notesSlides/notesSlide26.xml" Id="R765cf6098a26434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56f03389e24e83" /><Relationship Type="http://schemas.openxmlformats.org/officeDocument/2006/relationships/notesSlide" Target="/ppt/notesSlides/notesSlide27.xml" Id="R1686fba2eabe4a3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cd614e669d4128" /><Relationship Type="http://schemas.openxmlformats.org/officeDocument/2006/relationships/notesSlide" Target="/ppt/notesSlides/notesSlide28.xml" Id="R99ac22b7eddb43a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fb33d5c18048b1" /><Relationship Type="http://schemas.openxmlformats.org/officeDocument/2006/relationships/chart" Target="/ppt/slides/charts/chart4.xml" Id="R61efb1e83f7847ad" /><Relationship Type="http://schemas.openxmlformats.org/officeDocument/2006/relationships/notesSlide" Target="/ppt/notesSlides/notesSlide29.xml" Id="Rc6ed52ab86f0454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3cf08dcdd8432b" /><Relationship Type="http://schemas.openxmlformats.org/officeDocument/2006/relationships/notesSlide" Target="/ppt/notesSlides/notesSlide30.xml" Id="R3d8fcbad1d62434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d3c5ff17174c2b" /><Relationship Type="http://schemas.openxmlformats.org/officeDocument/2006/relationships/notesSlide" Target="/ppt/notesSlides/notesSlide31.xml" Id="R98f9f513aac340e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1bcf4746b641f2" /><Relationship Type="http://schemas.openxmlformats.org/officeDocument/2006/relationships/image" Target="/ppt/media/image23.png" Id="R357ec942bdae4470" /><Relationship Type="http://schemas.openxmlformats.org/officeDocument/2006/relationships/notesSlide" Target="/ppt/notesSlides/notesSlide32.xml" Id="R8a74c07ccc1a433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Unit-test files</c:v>
          </c:tx>
          <c:spPr>
            <a:solidFill xmlns:a="http://schemas.openxmlformats.org/drawingml/2006/main">
              <a:srgbClr val="00786F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Oct*</c:v>
                </c:pt>
              </c:strCache>
            </c:strRef>
          </c:cat>
          <c:val>
            <c:numRef>
              <c:f>'Chart Data'!$B$2:$B$11</c:f>
              <c:numCache>
                <c:formatCode>#,##0</c:formatCode>
                <c:ptCount val="10"/>
                <c:pt idx="0">
                  <c:v>93</c:v>
                </c:pt>
                <c:pt idx="1">
                  <c:v>95</c:v>
                </c:pt>
                <c:pt idx="2">
                  <c:v>98</c:v>
                </c:pt>
                <c:pt idx="3">
                  <c:v>113</c:v>
                </c:pt>
                <c:pt idx="4">
                  <c:v>164</c:v>
                </c:pt>
                <c:pt idx="5">
                  <c:v>250</c:v>
                </c:pt>
                <c:pt idx="6">
                  <c:v>395</c:v>
                </c:pt>
                <c:pt idx="7">
                  <c:v>1040</c:v>
                </c:pt>
                <c:pt idx="8">
                  <c:v>1669</c:v>
                </c:pt>
                <c:pt idx="9">
                  <c:v>2257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0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Maestro YAML files</c:v>
          </c:tx>
          <c:spPr>
            <a:solidFill xmlns:a="http://schemas.openxmlformats.org/drawingml/2006/main">
              <a:srgbClr val="00786F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Oct*</c:v>
                </c:pt>
              </c:strCache>
            </c:strRef>
          </c:cat>
          <c:val>
            <c:numRef>
              <c:f>'Chart Data'!$B$2:$B$11</c:f>
              <c:numCache>
                <c:formatCode>#,##0</c:formatCode>
                <c:ptCount val="10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129</c:v>
                </c:pt>
                <c:pt idx="5">
                  <c:v>135</c:v>
                </c:pt>
                <c:pt idx="6">
                  <c:v>136</c:v>
                </c:pt>
                <c:pt idx="7">
                  <c:v>147</c:v>
                </c:pt>
                <c:pt idx="8">
                  <c:v>225</c:v>
                </c:pt>
                <c:pt idx="9">
                  <c:v>404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0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4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10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Recorded events per day</c:v>
          </c:tx>
          <c:spPr>
            <a:solidFill xmlns:a="http://schemas.openxmlformats.org/drawingml/2006/main">
              <a:srgbClr val="00786F"/>
            </a:solidFill>
            <a:ln xmlns:a="http://schemas.openxmlformats.org/drawingml/2006/main" w="28575">
              <a:solidFill>
                <a:srgbClr val="00786F"/>
              </a:solidFill>
              <a:prstDash val="solid"/>
            </a:ln>
          </c:spPr>
          <c:marker>
            <c:symbol val="none"/>
          </c:marker>
          <c:xVal>
            <c:numRef>
              <c:f>'Chart Data'!$A$2:$A$108</c:f>
              <c:numCache>
                <c:formatCode>d mmm</c:formatCode>
                <c:ptCount val="107"/>
                <c:pt idx="0">
                  <c:v>46210</c:v>
                </c:pt>
                <c:pt idx="1">
                  <c:v>46211</c:v>
                </c:pt>
                <c:pt idx="2">
                  <c:v>46212</c:v>
                </c:pt>
                <c:pt idx="3">
                  <c:v>46213</c:v>
                </c:pt>
                <c:pt idx="4">
                  <c:v>46214</c:v>
                </c:pt>
                <c:pt idx="5">
                  <c:v>46215</c:v>
                </c:pt>
                <c:pt idx="6">
                  <c:v>46216</c:v>
                </c:pt>
                <c:pt idx="7">
                  <c:v>46217</c:v>
                </c:pt>
                <c:pt idx="8">
                  <c:v>46218</c:v>
                </c:pt>
                <c:pt idx="9">
                  <c:v>46219</c:v>
                </c:pt>
                <c:pt idx="10">
                  <c:v>46220</c:v>
                </c:pt>
                <c:pt idx="11">
                  <c:v>46221</c:v>
                </c:pt>
                <c:pt idx="12">
                  <c:v>46222</c:v>
                </c:pt>
                <c:pt idx="13">
                  <c:v>46223</c:v>
                </c:pt>
                <c:pt idx="14">
                  <c:v>46224</c:v>
                </c:pt>
                <c:pt idx="15">
                  <c:v>46225</c:v>
                </c:pt>
                <c:pt idx="16">
                  <c:v>46226</c:v>
                </c:pt>
                <c:pt idx="17">
                  <c:v>46227</c:v>
                </c:pt>
                <c:pt idx="18">
                  <c:v>46228</c:v>
                </c:pt>
                <c:pt idx="19">
                  <c:v>46229</c:v>
                </c:pt>
                <c:pt idx="20">
                  <c:v>46230</c:v>
                </c:pt>
                <c:pt idx="21">
                  <c:v>46231</c:v>
                </c:pt>
                <c:pt idx="22">
                  <c:v>46232</c:v>
                </c:pt>
                <c:pt idx="23">
                  <c:v>46233</c:v>
                </c:pt>
                <c:pt idx="24">
                  <c:v>46234</c:v>
                </c:pt>
                <c:pt idx="25">
                  <c:v>46235</c:v>
                </c:pt>
                <c:pt idx="26">
                  <c:v>46236</c:v>
                </c:pt>
                <c:pt idx="27">
                  <c:v>46237</c:v>
                </c:pt>
                <c:pt idx="28">
                  <c:v>46238</c:v>
                </c:pt>
                <c:pt idx="29">
                  <c:v>46239</c:v>
                </c:pt>
                <c:pt idx="30">
                  <c:v>46240</c:v>
                </c:pt>
                <c:pt idx="31">
                  <c:v>46241</c:v>
                </c:pt>
                <c:pt idx="32">
                  <c:v>46242</c:v>
                </c:pt>
                <c:pt idx="33">
                  <c:v>46243</c:v>
                </c:pt>
                <c:pt idx="34">
                  <c:v>46244</c:v>
                </c:pt>
                <c:pt idx="35">
                  <c:v>46245</c:v>
                </c:pt>
                <c:pt idx="36">
                  <c:v>46246</c:v>
                </c:pt>
                <c:pt idx="37">
                  <c:v>46247</c:v>
                </c:pt>
                <c:pt idx="38">
                  <c:v>46248</c:v>
                </c:pt>
                <c:pt idx="39">
                  <c:v>46249</c:v>
                </c:pt>
                <c:pt idx="40">
                  <c:v>46250</c:v>
                </c:pt>
                <c:pt idx="41">
                  <c:v>46251</c:v>
                </c:pt>
                <c:pt idx="42">
                  <c:v>46252</c:v>
                </c:pt>
                <c:pt idx="43">
                  <c:v>46253</c:v>
                </c:pt>
                <c:pt idx="44">
                  <c:v>46254</c:v>
                </c:pt>
                <c:pt idx="45">
                  <c:v>46255</c:v>
                </c:pt>
                <c:pt idx="46">
                  <c:v>46256</c:v>
                </c:pt>
                <c:pt idx="47">
                  <c:v>46257</c:v>
                </c:pt>
                <c:pt idx="48">
                  <c:v>46258</c:v>
                </c:pt>
                <c:pt idx="49">
                  <c:v>46259</c:v>
                </c:pt>
                <c:pt idx="50">
                  <c:v>46260</c:v>
                </c:pt>
                <c:pt idx="51">
                  <c:v>46261</c:v>
                </c:pt>
                <c:pt idx="52">
                  <c:v>46262</c:v>
                </c:pt>
                <c:pt idx="53">
                  <c:v>46263</c:v>
                </c:pt>
                <c:pt idx="54">
                  <c:v>46264</c:v>
                </c:pt>
                <c:pt idx="55">
                  <c:v>46265</c:v>
                </c:pt>
                <c:pt idx="56">
                  <c:v>46266</c:v>
                </c:pt>
                <c:pt idx="57">
                  <c:v>46267</c:v>
                </c:pt>
                <c:pt idx="58">
                  <c:v>46268</c:v>
                </c:pt>
                <c:pt idx="59">
                  <c:v>46269</c:v>
                </c:pt>
                <c:pt idx="60">
                  <c:v>46270</c:v>
                </c:pt>
                <c:pt idx="61">
                  <c:v>46271</c:v>
                </c:pt>
                <c:pt idx="62">
                  <c:v>46272</c:v>
                </c:pt>
                <c:pt idx="63">
                  <c:v>46273</c:v>
                </c:pt>
                <c:pt idx="64">
                  <c:v>46274</c:v>
                </c:pt>
                <c:pt idx="65">
                  <c:v>46275</c:v>
                </c:pt>
                <c:pt idx="66">
                  <c:v>46276</c:v>
                </c:pt>
                <c:pt idx="67">
                  <c:v>46277</c:v>
                </c:pt>
                <c:pt idx="68">
                  <c:v>46278</c:v>
                </c:pt>
                <c:pt idx="69">
                  <c:v>46279</c:v>
                </c:pt>
                <c:pt idx="70">
                  <c:v>46280</c:v>
                </c:pt>
                <c:pt idx="71">
                  <c:v>46281</c:v>
                </c:pt>
                <c:pt idx="72">
                  <c:v>46282</c:v>
                </c:pt>
                <c:pt idx="73">
                  <c:v>46283</c:v>
                </c:pt>
                <c:pt idx="74">
                  <c:v>46284</c:v>
                </c:pt>
                <c:pt idx="75">
                  <c:v>46285</c:v>
                </c:pt>
                <c:pt idx="76">
                  <c:v>46286</c:v>
                </c:pt>
                <c:pt idx="77">
                  <c:v>46287</c:v>
                </c:pt>
                <c:pt idx="78">
                  <c:v>46288</c:v>
                </c:pt>
                <c:pt idx="79">
                  <c:v>46289</c:v>
                </c:pt>
                <c:pt idx="80">
                  <c:v>46290</c:v>
                </c:pt>
                <c:pt idx="81">
                  <c:v>46291</c:v>
                </c:pt>
                <c:pt idx="82">
                  <c:v>46292</c:v>
                </c:pt>
                <c:pt idx="83">
                  <c:v>46293</c:v>
                </c:pt>
                <c:pt idx="84">
                  <c:v>46294</c:v>
                </c:pt>
                <c:pt idx="85">
                  <c:v>46295</c:v>
                </c:pt>
                <c:pt idx="86">
                  <c:v>46296</c:v>
                </c:pt>
                <c:pt idx="87">
                  <c:v>46297</c:v>
                </c:pt>
                <c:pt idx="88">
                  <c:v>46298</c:v>
                </c:pt>
                <c:pt idx="89">
                  <c:v>46299</c:v>
                </c:pt>
                <c:pt idx="90">
                  <c:v>46300</c:v>
                </c:pt>
                <c:pt idx="91">
                  <c:v>46301</c:v>
                </c:pt>
                <c:pt idx="92">
                  <c:v>46302</c:v>
                </c:pt>
                <c:pt idx="93">
                  <c:v>46303</c:v>
                </c:pt>
                <c:pt idx="94">
                  <c:v>46304</c:v>
                </c:pt>
                <c:pt idx="95">
                  <c:v>46305</c:v>
                </c:pt>
                <c:pt idx="96">
                  <c:v>46306</c:v>
                </c:pt>
                <c:pt idx="97">
                  <c:v>46307</c:v>
                </c:pt>
                <c:pt idx="98">
                  <c:v>46308</c:v>
                </c:pt>
                <c:pt idx="99">
                  <c:v>46309</c:v>
                </c:pt>
                <c:pt idx="100">
                  <c:v>46310</c:v>
                </c:pt>
                <c:pt idx="101">
                  <c:v>46311</c:v>
                </c:pt>
                <c:pt idx="102">
                  <c:v>46312</c:v>
                </c:pt>
                <c:pt idx="103">
                  <c:v>46313</c:v>
                </c:pt>
                <c:pt idx="104">
                  <c:v>46314</c:v>
                </c:pt>
                <c:pt idx="105">
                  <c:v>46315</c:v>
                </c:pt>
                <c:pt idx="106">
                  <c:v>46316</c:v>
                </c:pt>
              </c:numCache>
            </c:numRef>
          </c:xVal>
          <c:yVal>
            <c:numRef>
              <c:f>'Chart Data'!$B$2:$B$108</c:f>
              <c:numCache>
                <c:formatCode>#,##0</c:formatCode>
                <c:ptCount val="107"/>
                <c:pt idx="0">
                  <c:v>24012</c:v>
                </c:pt>
                <c:pt idx="1">
                  <c:v>20186</c:v>
                </c:pt>
                <c:pt idx="2">
                  <c:v>18996</c:v>
                </c:pt>
                <c:pt idx="3">
                  <c:v>19756</c:v>
                </c:pt>
                <c:pt idx="4">
                  <c:v>23024</c:v>
                </c:pt>
                <c:pt idx="5">
                  <c:v>23245</c:v>
                </c:pt>
                <c:pt idx="6">
                  <c:v>16295</c:v>
                </c:pt>
                <c:pt idx="7">
                  <c:v>15949</c:v>
                </c:pt>
                <c:pt idx="8">
                  <c:v>16897</c:v>
                </c:pt>
                <c:pt idx="9">
                  <c:v>15846</c:v>
                </c:pt>
                <c:pt idx="10">
                  <c:v>17738</c:v>
                </c:pt>
                <c:pt idx="11">
                  <c:v>16197</c:v>
                </c:pt>
                <c:pt idx="12">
                  <c:v>17393</c:v>
                </c:pt>
                <c:pt idx="13">
                  <c:v>10078</c:v>
                </c:pt>
                <c:pt idx="14">
                  <c:v>7617</c:v>
                </c:pt>
                <c:pt idx="15">
                  <c:v>9141</c:v>
                </c:pt>
                <c:pt idx="16">
                  <c:v>6265</c:v>
                </c:pt>
                <c:pt idx="17">
                  <c:v>9794</c:v>
                </c:pt>
                <c:pt idx="18">
                  <c:v>8768</c:v>
                </c:pt>
                <c:pt idx="19">
                  <c:v>10718</c:v>
                </c:pt>
                <c:pt idx="20">
                  <c:v>8498</c:v>
                </c:pt>
                <c:pt idx="21">
                  <c:v>8371</c:v>
                </c:pt>
                <c:pt idx="22">
                  <c:v>5913</c:v>
                </c:pt>
                <c:pt idx="23">
                  <c:v>5496</c:v>
                </c:pt>
                <c:pt idx="24">
                  <c:v>5007</c:v>
                </c:pt>
                <c:pt idx="25">
                  <c:v>4590</c:v>
                </c:pt>
                <c:pt idx="26">
                  <c:v>5165</c:v>
                </c:pt>
                <c:pt idx="27">
                  <c:v>4218</c:v>
                </c:pt>
                <c:pt idx="28">
                  <c:v>4651</c:v>
                </c:pt>
                <c:pt idx="29">
                  <c:v>4593</c:v>
                </c:pt>
                <c:pt idx="30">
                  <c:v>4182</c:v>
                </c:pt>
                <c:pt idx="31">
                  <c:v>3842</c:v>
                </c:pt>
                <c:pt idx="32">
                  <c:v>4780</c:v>
                </c:pt>
                <c:pt idx="33">
                  <c:v>4634</c:v>
                </c:pt>
                <c:pt idx="34">
                  <c:v>4177</c:v>
                </c:pt>
                <c:pt idx="35">
                  <c:v>3653</c:v>
                </c:pt>
                <c:pt idx="36">
                  <c:v>4288</c:v>
                </c:pt>
                <c:pt idx="37">
                  <c:v>4385</c:v>
                </c:pt>
                <c:pt idx="38">
                  <c:v>5033</c:v>
                </c:pt>
                <c:pt idx="39">
                  <c:v>5656</c:v>
                </c:pt>
                <c:pt idx="40">
                  <c:v>4126</c:v>
                </c:pt>
                <c:pt idx="41">
                  <c:v>3445</c:v>
                </c:pt>
                <c:pt idx="42">
                  <c:v>4120</c:v>
                </c:pt>
                <c:pt idx="43">
                  <c:v>4262</c:v>
                </c:pt>
                <c:pt idx="44">
                  <c:v>4618</c:v>
                </c:pt>
                <c:pt idx="45">
                  <c:v>5010</c:v>
                </c:pt>
                <c:pt idx="46">
                  <c:v>4141</c:v>
                </c:pt>
                <c:pt idx="47">
                  <c:v>5675</c:v>
                </c:pt>
                <c:pt idx="48">
                  <c:v>3831</c:v>
                </c:pt>
                <c:pt idx="49">
                  <c:v>4252</c:v>
                </c:pt>
                <c:pt idx="50">
                  <c:v>4041</c:v>
                </c:pt>
                <c:pt idx="51">
                  <c:v>5122</c:v>
                </c:pt>
                <c:pt idx="52">
                  <c:v>4364</c:v>
                </c:pt>
                <c:pt idx="53">
                  <c:v>5519</c:v>
                </c:pt>
                <c:pt idx="54">
                  <c:v>4933</c:v>
                </c:pt>
                <c:pt idx="55">
                  <c:v>4120</c:v>
                </c:pt>
                <c:pt idx="56">
                  <c:v>5575</c:v>
                </c:pt>
                <c:pt idx="57">
                  <c:v>2856</c:v>
                </c:pt>
                <c:pt idx="58">
                  <c:v>3542</c:v>
                </c:pt>
                <c:pt idx="59">
                  <c:v>4435</c:v>
                </c:pt>
                <c:pt idx="60">
                  <c:v>3839</c:v>
                </c:pt>
                <c:pt idx="61">
                  <c:v>4728</c:v>
                </c:pt>
                <c:pt idx="62">
                  <c:v>3747</c:v>
                </c:pt>
                <c:pt idx="63">
                  <c:v>4707</c:v>
                </c:pt>
                <c:pt idx="64">
                  <c:v>4024</c:v>
                </c:pt>
                <c:pt idx="65">
                  <c:v>3937</c:v>
                </c:pt>
                <c:pt idx="66">
                  <c:v>5324</c:v>
                </c:pt>
                <c:pt idx="67">
                  <c:v>5981</c:v>
                </c:pt>
                <c:pt idx="68">
                  <c:v>6254</c:v>
                </c:pt>
                <c:pt idx="69">
                  <c:v>6468</c:v>
                </c:pt>
                <c:pt idx="70">
                  <c:v>6111</c:v>
                </c:pt>
                <c:pt idx="71">
                  <c:v>5340</c:v>
                </c:pt>
                <c:pt idx="72">
                  <c:v>4087</c:v>
                </c:pt>
                <c:pt idx="73">
                  <c:v>7077</c:v>
                </c:pt>
                <c:pt idx="74">
                  <c:v>5791</c:v>
                </c:pt>
                <c:pt idx="75">
                  <c:v>8333</c:v>
                </c:pt>
                <c:pt idx="76">
                  <c:v>4433</c:v>
                </c:pt>
                <c:pt idx="77">
                  <c:v>8013</c:v>
                </c:pt>
                <c:pt idx="78">
                  <c:v>4019</c:v>
                </c:pt>
                <c:pt idx="79">
                  <c:v>4336</c:v>
                </c:pt>
                <c:pt idx="80">
                  <c:v>5115</c:v>
                </c:pt>
                <c:pt idx="81">
                  <c:v>5466</c:v>
                </c:pt>
                <c:pt idx="82">
                  <c:v>5764</c:v>
                </c:pt>
                <c:pt idx="83">
                  <c:v>5162</c:v>
                </c:pt>
                <c:pt idx="84">
                  <c:v>4156</c:v>
                </c:pt>
                <c:pt idx="85">
                  <c:v>4189</c:v>
                </c:pt>
                <c:pt idx="86">
                  <c:v>3871</c:v>
                </c:pt>
                <c:pt idx="87">
                  <c:v>5959</c:v>
                </c:pt>
                <c:pt idx="88">
                  <c:v>4219</c:v>
                </c:pt>
                <c:pt idx="89">
                  <c:v>5278</c:v>
                </c:pt>
                <c:pt idx="90">
                  <c:v>3105</c:v>
                </c:pt>
                <c:pt idx="91">
                  <c:v>3362</c:v>
                </c:pt>
                <c:pt idx="92">
                  <c:v>3689</c:v>
                </c:pt>
                <c:pt idx="93">
                  <c:v>3346</c:v>
                </c:pt>
                <c:pt idx="94">
                  <c:v>4558</c:v>
                </c:pt>
                <c:pt idx="95">
                  <c:v>4313</c:v>
                </c:pt>
                <c:pt idx="96">
                  <c:v>3924</c:v>
                </c:pt>
                <c:pt idx="97">
                  <c:v>4362</c:v>
                </c:pt>
                <c:pt idx="98">
                  <c:v>3412</c:v>
                </c:pt>
                <c:pt idx="99">
                  <c:v>3086</c:v>
                </c:pt>
                <c:pt idx="100">
                  <c:v>3524</c:v>
                </c:pt>
                <c:pt idx="101">
                  <c:v>4207</c:v>
                </c:pt>
                <c:pt idx="102">
                  <c:v>4041</c:v>
                </c:pt>
                <c:pt idx="103">
                  <c:v>3178</c:v>
                </c:pt>
                <c:pt idx="104">
                  <c:v>2750</c:v>
                </c:pt>
                <c:pt idx="105">
                  <c:v>4100</c:v>
                </c:pt>
                <c:pt idx="106">
                  <c:v>3027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0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majorUnit val="5000"/>
      </c:valAx>
      <c:valAx>
        <c:axId val="48650112"/>
        <c:scaling>
          <c:orientation val="minMax"/>
          <c:max val="46316"/>
          <c:min val="46210"/>
        </c:scaling>
        <c:delete val="0"/>
        <c:axPos val="b"/>
        <c:numFmt formatCode="d mmm"/>
        <c:majorTickMark val="none"/>
        <c:minorTickMark val="none"/>
        <c:tickLblPos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  <c:majorUnit val="28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Merged mobile PRs</c:v>
          </c:tx>
          <c:spPr>
            <a:solidFill xmlns:a="http://schemas.openxmlformats.org/drawingml/2006/main">
              <a:srgbClr val="00786F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Oct*</c:v>
                </c:pt>
              </c:strCache>
            </c:strRef>
          </c:cat>
          <c:val>
            <c:numRef>
              <c:f>'Chart Data'!$B$2:$B$11</c:f>
              <c:numCache>
                <c:formatCode>#,##0</c:formatCode>
                <c:ptCount val="10"/>
                <c:pt idx="0">
                  <c:v>25</c:v>
                </c:pt>
                <c:pt idx="1">
                  <c:v>32</c:v>
                </c:pt>
                <c:pt idx="2">
                  <c:v>46</c:v>
                </c:pt>
                <c:pt idx="3">
                  <c:v>58</c:v>
                </c:pt>
                <c:pt idx="4">
                  <c:v>159</c:v>
                </c:pt>
                <c:pt idx="5">
                  <c:v>222</c:v>
                </c:pt>
                <c:pt idx="6">
                  <c:v>158</c:v>
                </c:pt>
                <c:pt idx="7">
                  <c:v>194</c:v>
                </c:pt>
                <c:pt idx="8">
                  <c:v>188</c:v>
                </c:pt>
                <c:pt idx="9">
                  <c:v>126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0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0E5962-AE0B-41D3-89FB-F18AFB9ACC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03d171ebb496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Deck title">
            <a:extLst xmlns:a="http://schemas.openxmlformats.org/drawingml/2006/main">
              <a:ext uri="{FF2B5EF4-FFF2-40B4-BE49-F238E27FC236}">
                <a16:creationId xmlns:a16="http://schemas.microsoft.com/office/drawing/2014/main" id="{8A7D47E4-6DEF-471C-89C6-96767595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57250"/>
            <a:ext cx="10668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Beyond the QA</a:t>
            </a:r>
          </a:p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ECB294E-F6CF-466D-838A-6E581C4F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Building confidence in React Native with AI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E354B0-8B51-43DD-BE20-A84C13BDA0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9b601e74ac496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" y="5143500"/>
            <a:ext cx="685800" cy="685800"/>
          </a:xfrm>
          <a:prstGeom xmlns:a="http://schemas.openxmlformats.org/drawingml/2006/main" prst="ellipse">
            <a:avLst/>
          </a:prstGeom>
        </p:spPr>
      </p:pic>
      <p:sp>
        <p:nvSpPr>
          <p:cNvPr id="5" name="Speaker">
            <a:extLst xmlns:a="http://schemas.openxmlformats.org/drawingml/2006/main">
              <a:ext uri="{FF2B5EF4-FFF2-40B4-BE49-F238E27FC236}">
                <a16:creationId xmlns:a16="http://schemas.microsoft.com/office/drawing/2014/main" id="{0860CF03-D5ED-4630-BB84-29D6E848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435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EC9BC8E-B747-4DBF-8E9B-90626C72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626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 Manager at Zapp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6005539-AA95-45A0-9D80-F8410EC9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0388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React Native London Meetup · Thursday 22 October 2026</a:t>
            </a:r>
          </a:p>
          <a:p xmlns:a="http://schemas.openxmlformats.org/drawingml/2006/main">
            <a: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Funding Circle · 71 Queen Victoria Street, London</a:t>
            </a:r>
          </a:p>
        </p:txBody>
      </p:sp>
    </p:spTree>
    <p:extLst>
      <p:ext uri="{BB962C8B-B14F-4D97-AF65-F5344CB8AC3E}">
        <p14:creationId xmlns:p14="http://schemas.microsoft.com/office/powerpoint/2010/main" val="19974780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ECEF4B-835C-462A-986D-E266CE25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Regressions.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42C9CF9-1647-4F47-AB96-8A90D402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We kept returning to behaviour we had already checked.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2280418-D0B2-47B5-BE5C-E630F732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707367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B43B8B2-159C-48CE-929C-E5142534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Tests existed.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Nobody ran them.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BD1FD13-150D-4E5C-8C80-7817D19C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small test suite. End-to-end checks outside CI.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E002CDE-7DBF-46A8-BCA1-C75FCA46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954553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708EB34-BADD-4113-9DC6-6344E121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More than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three days of QA.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CB622FE-49F9-4AEE-8B35-0490B2FA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Engineering, product and UX/design.</a:t>
            </a:r>
          </a:p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Many people paused their own work.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44391E6-0DD4-487B-9219-96558859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296268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FFC9164-6B3E-4775-9333-9B394A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 waited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days for approval.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E953F04-2DAE-420D-9A6A-93C71CCC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chain of sign-offs held up the whole release.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CFD9C24-FB21-4B1B-9DD4-116DA03A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144370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31EE20A-E228-499D-9ADC-22C3041B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Projects postponed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by over a quarter.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D7178DE-B27E-4BC8-81BF-1AD8BEF4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All the existing projects had slipped by more than a quarter.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BEE9C33-F3C8-40D4-823E-9F7E6A52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433096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DAA53E-A484-41C2-8FE3-53CA410BFA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64b8b68cc6412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76850" y="847725"/>
            <a:ext cx="1638300" cy="1638300"/>
          </a:xfrm>
          <a:prstGeom xmlns:a="http://schemas.openxmlformats.org/drawingml/2006/main" prst="ellipse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2D446B0-84C9-479A-880B-D6772E9A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574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John Adib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5C941A5-5B8F-4566-B426-11AF68CD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story of an EM in the era of AI</a:t>
            </a:r>
          </a:p>
        </p:txBody>
      </p:sp>
      <p:sp>
        <p:nvSpPr>
          <p:cNvPr id="4" name="Credentials">
            <a:extLst xmlns:a="http://schemas.openxmlformats.org/drawingml/2006/main">
              <a:ext uri="{FF2B5EF4-FFF2-40B4-BE49-F238E27FC236}">
                <a16:creationId xmlns:a16="http://schemas.microsoft.com/office/drawing/2014/main" id="{8F5466B3-FAD1-42A9-AF91-6F6C0EB2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2× co-founder. Former CTO. Engineering leader and mentor.</a:t>
            </a:r>
          </a:p>
        </p:txBody>
      </p:sp>
      <p:sp>
        <p:nvSpPr>
          <p:cNvPr id="5" name="Experience">
            <a:extLst xmlns:a="http://schemas.openxmlformats.org/drawingml/2006/main">
              <a:ext uri="{FF2B5EF4-FFF2-40B4-BE49-F238E27FC236}">
                <a16:creationId xmlns:a16="http://schemas.microsoft.com/office/drawing/2014/main" id="{3B17D3A1-AE28-4861-9CC9-DD1E4DAC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 years building and improving systems. I love moving mountains.</a:t>
            </a:r>
          </a:p>
        </p:txBody>
      </p:sp>
      <p:sp>
        <p:nvSpPr>
          <p:cNvPr id="6" name="Website">
            <a:extLst xmlns:a="http://schemas.openxmlformats.org/drawingml/2006/main">
              <a:ext uri="{FF2B5EF4-FFF2-40B4-BE49-F238E27FC236}">
                <a16:creationId xmlns:a16="http://schemas.microsoft.com/office/drawing/2014/main" id="{E9F678A6-57D0-4A31-BE46-67FB9AC7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</a:t>
            </a:r>
          </a:p>
        </p:txBody>
      </p:sp>
      <p:sp>
        <p:nvSpPr>
          <p:cNvPr id="7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8757A14B-5CAC-4F1F-AF66-63AA1549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189133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A96B99F1-92F2-4DCA-B68B-D8FB8DB2C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0B12F33E-E614-47F2-9135-B4F1F163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EB68BA-FA65-414A-AE53-CBAA8EFC91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bc7f42ef8472e"/>
          <a:stretch xmlns:a="http://schemas.openxmlformats.org/drawingml/2006/main"/>
        </p:blipFill>
        <p:spPr>
          <a:xfrm xmlns:a="http://schemas.openxmlformats.org/drawingml/2006/main">
            <a:off x="1333500" y="1362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5D0D98-6F7E-4A11-B2BC-2C6B9711E0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33fb443e4c49aa"/>
          <a:stretch xmlns:a="http://schemas.openxmlformats.org/drawingml/2006/main"/>
        </p:blipFill>
        <p:spPr>
          <a:xfrm xmlns:a="http://schemas.openxmlformats.org/drawingml/2006/main">
            <a:off x="1333500" y="2124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19CC6-4369-4EB1-948D-C6D7D7A67B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95b9a814ba4477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C6A216-9495-4909-B325-8955ABA69E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3872c56754a73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03A48C-8CE2-4B5F-9F5E-C04FBB7C8E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66e63caf2e4cfd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163B83-E388-40D6-BB67-7710979539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49d0b814c49fa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7CBDCF8-3CC6-4925-B869-17D0FEBE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380772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">
            <a:extLst xmlns:a="http://schemas.openxmlformats.org/drawingml/2006/main">
              <a:ext uri="{FF2B5EF4-FFF2-40B4-BE49-F238E27FC236}">
                <a16:creationId xmlns:a16="http://schemas.microsoft.com/office/drawing/2014/main" id="{7FEE4330-EEE7-4DC6-9C85-00FE61B9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Eight skills. One development loop.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1FF67E0-16BF-4037-B831-2D33D120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Each skill has a responsibility and an output.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4A081B2-AD73-4915-802E-3278B1F8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cook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90344C0-83D1-4471-AFFB-500D36CB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Coordinates the task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3D1676B-90C9-495F-9067-8061D043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955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sherlock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E3F38B4-04C5-43DF-A79F-2D6A48F0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14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Discovers the repository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5B2DD65-ED94-4D5E-BEDA-8B7F0625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dig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AE3D301-CC0A-421A-A891-EC3CCB1B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Researches the behaviour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7898FE7-98E0-4D5E-9E36-753A7B7D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099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mastermind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A2A4E9C-3722-4EF6-8B81-BD3A6C8D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29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Plans for approval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AEB13F86-38D6-48C0-9A9A-990FB987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EC2530C-21F2-4023-ADAC-5BE69F8E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Implements and verifies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09190F3-BD54-434A-B76A-94154AE0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243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mugshot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234D07D-4FF0-4399-AF5B-20F09FF0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Captures device evidence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1D32EC62-4BEC-4ECD-8D22-6AD2D1D8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89164D10-A502-4EE2-9A9F-574FDFD2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Evaluates review feedback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D09337B6-6EFB-4399-B846-BFC09CC9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387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saul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1104332-084A-411E-B23A-FE05A14C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657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Communicates the result</a:t>
            </a:r>
          </a:p>
        </p:txBody>
      </p:sp>
      <p:sp>
        <p:nvSpPr>
          <p:cNvPr id="1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F49073F-6E82-4A81-89E5-417B5236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37180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5EC47156-F9EF-4703-955F-3080AAAD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My engineering standards, written down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CB5A44F-CBF8-4DA2-8343-8A969481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Michelin makes those standards part of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9F6F16E-A75E-45B8-8890-DAE0A6DE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Reuse and consistency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E26B174-A7AE-4BB9-B575-34520003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Build on existing code, patterns and tools.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10F9283-04F9-4B0B-8163-04538BD1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Separation of concerns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7386618-177F-48BC-A956-91D7ABF4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UI, state and business logic focused.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978A59D-247A-4B47-9965-CF6D1C8A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9A32C05-5143-4183-B730-9469DF3B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Meaningful tests. Readable code. Verified results.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77A56AB-248E-4F90-A218-2A25B4E0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25893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EB606D12-8772-4E43-9240-FFBA3C39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841E72FE-44AB-4196-A870-3B5F5AE3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98A4C380-D92C-43F3-8895-6F5C39BD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CDBA0F46-6BB1-40C9-B651-4BA9123A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702164-61C5-4F5A-B436-0E6109A315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c577fddf14b08"/>
          <a:stretch xmlns:a="http://schemas.openxmlformats.org/drawingml/2006/main"/>
        </p:blipFill>
        <p:spPr>
          <a:xfrm xmlns:a="http://schemas.openxmlformats.org/drawingml/2006/main">
            <a:off x="1333500" y="2124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203DE-A866-43AB-9D2E-4400D23AB7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ee81b8f424927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81115-86D5-478F-A162-1807746EDC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ab504d1bf4401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801F57-18BC-4E35-A49A-A9FE97AB63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9fbfae7794c53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D015C8-D09A-4392-BBE4-8E158A3B9C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1bfdaa1c14c96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6E0C0C8-B682-442C-85F1-EC68CFED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046183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25D86FC7-1806-4A62-9F11-61D2AC5E4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testing bar, written into the codebase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E5A64F7-1559-499B-A122-DBD73E8F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Protect what works. Raise the bar with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936CB72-9E54-4128-837F-05C2E75E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69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New code needs tests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F7EC7A1-00CC-4015-9EDC-886CAA9C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69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No test, no acceptance.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6000F93-A8A8-445F-8EDE-3EE577E2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13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Bug fixes prove both cases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3378345-3D7A-4219-B45F-A6ED5CC7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13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The test fails before the fix and passes after it.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DFF93B0-0415-46BF-8914-27FA4390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57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Titles explain behaviour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C4D2F8B-D7CF-4B8D-9DD4-2230E7DE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57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Name the expected result in plain language.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99BAEEC-961B-4F76-8C3A-641FC43E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01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The bar keeps rising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B1C697E-3D05-477F-A97E-F7A57E11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01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existing checks passing. Add protection as we go.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A7C89D81-02B7-4E5D-8671-B37BF63A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8341491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F6966A03-08EB-4F8E-9E72-C15F56F2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113 to 2,257 unit-test files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BF8C6AA2-0599-457F-B305-58890A5BD28A}"/>
              </a:ext>
            </a:extLst>
          </p:cNvPr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b13e50537041ad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86A5F11B-CF03-4778-B77F-CA70ACBC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1238C60B-8958-4143-BAD5-B8BCB542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FCBCB26A-D11F-4ACC-B802-BF627BDB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snapshots through September, then 8 October 2026. File count is not coverage.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64CBF3F-0E8E-48AF-9F6B-1E8F1419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060908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56F162DB-9A6B-4079-BC1F-7CC8CDB6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EFE11149-2FB0-4D90-AAF0-6A9373B6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3B891752-E2EE-431E-B4E7-19A0EAA7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63383498-6A79-420D-A755-93E38832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75DEE4AE-7162-4FB1-8700-CCD6A8CE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5C3D4368-7093-41EF-89BD-C0D79D30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689434-FFBC-4F73-BA9D-A0ECBB02EA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041ce3d3624cc7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52499-592F-4E63-BAD0-4BE392D224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4eb8bae417425f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45020F-9F58-4EA7-9F37-1F39AD638B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69b710fa654013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B421D-7506-4707-90A4-EA8269CBCE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c641a3324d4d60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45D31F9-B946-421C-95EF-EC5F6E80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7009759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213B03BC-2BFD-42DB-9FD2-9D9D4E88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Every PR goes through CI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912EDF0-6ACE-402F-BC10-577FFF39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Failed checks block the pipeline until they pass.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4398ADF-B694-4153-B7DC-4DF52212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Run the checks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7E40A3C-E9E6-481D-9B92-27A32CC5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22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Lint, types, tests and build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D102993-0825-4764-A395-406A8240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 evaluates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FF9C290-A0E0-4591-9602-4E11C1A0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Watch CI results. Investigate each failure.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73B53D2-AC88-4410-9FB8-C55EA1E7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 fixes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BF572DF-37C7-475A-A6AB-0FC37196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the correction. Commit, push and run again.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18C139E-DE63-46CA-9487-17DE9BE3D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The loop repeats until the required checks pass.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FEBC29A-BB4C-4DB2-9B4E-8C825C41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6175259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5E4DAC54-5AC5-494B-9569-345D925B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quality bar keeps rising</a:t>
            </a:r>
          </a:p>
        </p:txBody>
      </p:sp>
      <p:sp>
        <p:nvSpPr>
          <p:cNvPr id="2" name="Metric value">
            <a:extLst xmlns:a="http://schemas.openxmlformats.org/drawingml/2006/main">
              <a:ext uri="{FF2B5EF4-FFF2-40B4-BE49-F238E27FC236}">
                <a16:creationId xmlns:a16="http://schemas.microsoft.com/office/drawing/2014/main" id="{95497714-8B64-4C1E-86FF-ACCA0743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10287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pPr>
            <a:r>
              <a: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rPr>
              <a:t>99.26%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5809A61-919B-40F9-AEF7-B612B8D6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Line coverage, 8 October 2026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C0AF01C-8717-40DF-A456-ABC18309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Measured scope changed. More tested lines, fewer eligible lines.</a:t>
            </a:r>
          </a:p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CI now preserves this baseline.</a:t>
            </a:r>
          </a:p>
        </p:txBody>
      </p:sp>
      <p:sp>
        <p:nvSpPr>
          <p:cNvPr id="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908402A-16C3-4093-A4F1-D8B739B1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1796865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FB38D029-7318-49CB-9590-CD067606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597A4134-0236-4A4A-B438-F4A34126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776929F8-3FB9-47C1-8D99-267B13CC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82022514-2449-447D-87B2-7E079DAD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0E350FDC-EE1C-415C-86ED-733B9778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69DF834B-BF2D-4340-9137-5ABF20E3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B03FC2A9-DEB4-404F-B0B1-BDA4082C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E41A25E4-6106-47EB-9F63-B40764ABE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Recorded results and failures.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232DCB-4F86-4607-9EB6-78C800128F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0783244a014156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96F8C6-28A7-45D8-AE71-052A9BDFB5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119f1b5707495d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020409-502A-468E-BA90-3BB491E14C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58e3e918584c83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2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2F5CE32-EA29-43EA-9526-2D21F010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269434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AB2DFB72-681C-49D8-893E-17CBFD62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Maestro checks the app while we sleep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29A13BF-D1D9-4BB0-9860-8457ED19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Android and iOS, with evidence of every failure.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32E568A-18D1-4CDB-A351-6E1B31BF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Selected PRs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A50B7D8-CA30-44B7-AC50-1E049819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22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smoke tests when the relevant label is applied.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D16AFF2-520F-4825-8D68-D33940F2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82D7346-5011-4AF1-BB4D-102B19C3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33 configured suite jobs across iOS and Android.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FAFB0BC-4A04-4FCD-8C31-572E92FC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Investigate failures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BAB421A-E7D5-40F7-9388-38C11C3A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Watch the video, inspect logs and fix the affected flow.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97143FF-0ECB-4CF0-958C-5B580F09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Attach recordings and logs so people and AI can investigate.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8C6B1D3E-4B54-45A9-A0F3-6664898D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514789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0F324D0D-F700-4780-A68B-8DFCC7F8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14 to 404 Maestro flow files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E4F44DC0-219C-4139-8249-376097939FCB}"/>
              </a:ext>
            </a:extLst>
          </p:cNvPr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a3edb51298480f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0D8C221D-FECD-4DC0-ABA1-CBB4797F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832179D7-2D50-4657-AB75-8C64ABBE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9F70C32E-ADDA-4CC2-B530-BBC4C2CD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snapshots through September, then 8 October. Includes shared flows and suites.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014E69F-2433-4736-90E2-ED9ACBE5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7511102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EE93C60E-6897-4110-B201-FBD158F9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72D24D24-98AC-4F72-A56E-29B0FBFB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56B097D7-FDE0-4397-94D2-0A32EAA1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B4C86447-4DE5-49F0-869A-ADEC5F4F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9AA3FA6C-7463-408A-AA37-4D860289B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A423D0EC-2767-4DF5-8594-9E2AA02F2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EC61D3D9-1D13-4F34-BD28-A5C6C761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5CB56965-7F31-4761-997B-779A624D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Recorded results and failures.</a:t>
            </a:r>
          </a:p>
        </p:txBody>
      </p:sp>
      <p:sp>
        <p:nvSpPr>
          <p:cNvPr id="9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1E953958-F1E5-4CD8-B49B-28570E17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D78AE38F-570E-42D1-9329-8C3E0629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2BD9D3-7B19-4565-A927-945B16DB8E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78111650f541ca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0A72E-2F3C-4981-9BA4-446F9A0452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ad5d354a434274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FE687AA-C11F-476E-BB0E-3102CD3D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3511050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E183E017-272B-427E-9DEC-BC4E38AD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Three AI reviewers. One mobile specialist.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3007955-AE3A-4322-830B-229F0D04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Review feedback arrives without waiting days for a person.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52C30D5-A9D2-4B22-BEBF-3C342986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CodeRabbit, Qodo, cubic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8DB29D2-FF1F-4EE6-84B8-ADEABA9D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Three review perspectives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3E44EA5-303D-4368-BE60-F23C8443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Custom Cursor reviewer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17161AB-EC8D-4222-A32D-FBC0F6BE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hourly review focused on React Native.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FF68CC3-62FC-4400-9D3A-B3468C0D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shared 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0DDD5AE-10F4-4A95-97F0-CD79BE73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All reviewers use the guidelines in the repository.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7822820-B322-42C0-AF97-8EF6E571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2000837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C9B80447-7AAD-4AF6-8561-092EBB34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Review guidelines live with the code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6F1584C-6897-4941-8E41-36F5CEDF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Every AI reviewer starts with the same mobile context.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D513599-5047-4711-BBB8-0D00D7C7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React Native standards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4AE85BC-EA8E-46E6-A10F-3AB4B8C7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best practices and platform behaviour.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77BBA65-4C90-48AE-8C11-3547E326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Engineering expectations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A9499C8-5831-4909-BE3E-5C5D0911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Reuse existing code. Separate concerns. Require tests.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7DCFABF-6A3F-4916-BFA7-173555CC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Guidelines evolve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79D7307-12E9-4072-8FAB-88A0EBE5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Clarify missed context and improve future reviews.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BB183DE-87D4-444D-A243-F5710D09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03605820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4A42710B-2B84-4D26-ACAF-ABB5F709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32466A20-C358-4D6E-98DE-9A440E41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0B8F6FC1-CFCF-4BF8-8DED-9132D255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A463430D-6FCE-401E-BDE8-BC7CBB495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89C173CB-77D6-42E5-A315-4B4319E1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04914B1C-A201-48ED-AC4A-26BDA2A2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1CB78A84-8BE0-4F4A-BF84-3458AFB5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3B7A8D7A-B780-4025-A298-554F2C11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Recorded results and failures.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F3B68C23-FD57-4155-927A-1D26B85D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058673C5-A98B-49AE-BE50-0013402B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6B89F08A-B147-45BB-9C03-443885EF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47834470-2CE6-4DF2-928C-FE9C4EAB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0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D81688-D5B1-4171-BECC-B6E48D6976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b0a2edd6784b99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4D887BF-8E88-4F73-95F1-2F27644D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23591888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">
            <a:extLst xmlns:a="http://schemas.openxmlformats.org/drawingml/2006/main">
              <a:ext uri="{FF2B5EF4-FFF2-40B4-BE49-F238E27FC236}">
                <a16:creationId xmlns:a16="http://schemas.microsoft.com/office/drawing/2014/main" id="{7B5EAD35-1D89-4496-A662-8B6379F0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Turn an issue into a regression check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B74DF40-497C-4846-9340-4C55DBBE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2336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2CB3614-C54C-4C89-83E7-73593322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2336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Investigate a recorded issue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EF23606-4476-48D0-85A0-DD3FB5D1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432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CF3E822-4394-4C16-A6F1-D562DF49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8432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Reproduce the relevant behaviour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812BB64-4718-4813-A626-CAD1011A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4528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43486BC-CE00-4D43-81FB-D3B9A251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4528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a bounded correction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3662839-F95E-4520-B27F-3AAC4691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624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846A6F6-1B9C-4663-9541-C29F62AF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0624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Add a regression check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B8DC129-B658-47AA-8858-19B9DFBF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720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F448476-732B-4AF6-A6C5-BEA0F11B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720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Return evidence to review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BEB49F7-1172-425C-B568-9DE74D93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578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 resurfacing issue becomes a focused development task.</a:t>
            </a:r>
          </a:p>
        </p:txBody>
      </p:sp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C7AFFAD-E6D6-410F-87AF-FF355009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48520904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ED6388D-90EB-4AA9-B4D9-4C4784B9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Fewer recorded errors, with variation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935ACE43-339E-48E1-88BF-598A8092B15C}"/>
              </a:ext>
            </a:extLst>
          </p:cNvPr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d36dcb439d4c54"/>
          </a:graphicData>
        </a:graphic>
      </p:graphicFrame>
      <p:sp>
        <p:nvSpPr>
          <p:cNvPr id="3" name="Date label">
            <a:extLst xmlns:a="http://schemas.openxmlformats.org/drawingml/2006/main">
              <a:ext uri="{FF2B5EF4-FFF2-40B4-BE49-F238E27FC236}">
                <a16:creationId xmlns:a16="http://schemas.microsoft.com/office/drawing/2014/main" id="{E1490C33-AC49-4E38-BC31-A33477EF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7 Jul</a:t>
            </a:r>
          </a:p>
        </p:txBody>
      </p:sp>
      <p:sp>
        <p:nvSpPr>
          <p:cNvPr id="4" name="Date label">
            <a:extLst xmlns:a="http://schemas.openxmlformats.org/drawingml/2006/main">
              <a:ext uri="{FF2B5EF4-FFF2-40B4-BE49-F238E27FC236}">
                <a16:creationId xmlns:a16="http://schemas.microsoft.com/office/drawing/2014/main" id="{1CBCC6E1-3BFE-4C91-9B83-3D8C8A4B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11 Aug</a:t>
            </a:r>
          </a:p>
        </p:txBody>
      </p:sp>
      <p:sp>
        <p:nvSpPr>
          <p:cNvPr id="5" name="Date label">
            <a:extLst xmlns:a="http://schemas.openxmlformats.org/drawingml/2006/main">
              <a:ext uri="{FF2B5EF4-FFF2-40B4-BE49-F238E27FC236}">
                <a16:creationId xmlns:a16="http://schemas.microsoft.com/office/drawing/2014/main" id="{AD39EE85-B4B1-4D05-AE44-D357A0F3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15 Sep</a:t>
            </a:r>
          </a:p>
        </p:txBody>
      </p:sp>
      <p:sp>
        <p:nvSpPr>
          <p:cNvPr id="6" name="Date label">
            <a:extLst xmlns:a="http://schemas.openxmlformats.org/drawingml/2006/main">
              <a:ext uri="{FF2B5EF4-FFF2-40B4-BE49-F238E27FC236}">
                <a16:creationId xmlns:a16="http://schemas.microsoft.com/office/drawing/2014/main" id="{F3EC3927-4C25-4A15-B2A4-C055AE22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21 Oct</a:t>
            </a:r>
          </a:p>
        </p:txBody>
      </p:sp>
      <p:sp>
        <p:nvSpPr>
          <p:cNvPr id="7" name="Methodology">
            <a:extLst xmlns:a="http://schemas.openxmlformats.org/drawingml/2006/main">
              <a:ext uri="{FF2B5EF4-FFF2-40B4-BE49-F238E27FC236}">
                <a16:creationId xmlns:a16="http://schemas.microsoft.com/office/drawing/2014/main" id="{C9FBA089-E11C-42A1-8306-37EBD6CA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65% fewer events: 7 Jul to 5 Aug vs 22 Sep to 21 Oct 2026. Both windows are 30 complete days.</a:t>
            </a:r>
          </a:p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All environments. Fixes, filters and sampling affect counts. No usage denominator.</a:t>
            </a:r>
          </a:p>
        </p:txBody>
      </p:sp>
      <p:sp>
        <p:nvSpPr>
          <p:cNvPr id="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EC38624-9B91-43B9-86D9-E3E2B56C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60041422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E93F5182-8EF0-41F2-8262-AB8955B3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33B86C38-30DB-4D8F-A523-8236A1F8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4AA11136-3514-44FA-9EA7-7AB7B3C4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EE004009-B347-4C11-AF59-388C5889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32997FE9-254F-4D6B-85A8-D7573751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CBB3F31D-563F-47A4-80FD-F059CD7E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C93901CD-7C6F-47A0-8DEA-3492C83E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0BC23BC2-6223-4B30-9072-2BDDAD66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Recorded results and failures.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8A33B12F-026D-4863-906C-9AB0D67C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048FC422-F342-4322-9512-475F78E6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Completed section 5">
            <a:extLst xmlns:a="http://schemas.openxmlformats.org/drawingml/2006/main">
              <a:ext uri="{FF2B5EF4-FFF2-40B4-BE49-F238E27FC236}">
                <a16:creationId xmlns:a16="http://schemas.microsoft.com/office/drawing/2014/main" id="{86487061-9D52-4C2B-AF1A-F9426AA6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40F5B2BB-2A34-4336-83FD-5C6A2995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0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sp>
        <p:nvSpPr>
          <p:cNvPr id="13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817EF6FB-5D05-49F4-914B-C7D656CA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6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07  Delivery</a:t>
            </a:r>
          </a:p>
        </p:txBody>
      </p:sp>
      <p:sp>
        <p:nvSpPr>
          <p:cNvPr id="14" name="Section description 6">
            <a:extLst xmlns:a="http://schemas.openxmlformats.org/drawingml/2006/main">
              <a:ext uri="{FF2B5EF4-FFF2-40B4-BE49-F238E27FC236}">
                <a16:creationId xmlns:a16="http://schemas.microsoft.com/office/drawing/2014/main" id="{685E4000-1610-49E6-8DA8-D3221031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76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Ship small changes. Activate features separately.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ECFEB64-55A9-4CAF-BECC-BCF5A6CA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5763378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08FE13C0-CA59-4249-8991-E120D72E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Canary builds and nightly betas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4CF1717-19FF-4E25-9D39-E8FFA34A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TestFlight for iOS. Test builds for Android.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3FD2DAB-D860-4657-B9EE-4BC40976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69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After each merge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172FC1A-8447-4E53-A09D-8B54C903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69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 canary build to try the change.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8DF2452-D36D-4F4F-9803-376CF634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13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00CFF1E-954B-4342-A0AD-37270F21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13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automated beta build for testing.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CBD19AA-37C1-48B6-8A9F-A8D09386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57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Side by side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22DCCB9-83AE-41C1-A7A1-A06AC720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57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Install canary beside the normal app. Compare before and after.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DCDF217-DA25-493D-9F5D-092925F5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01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Clear test instructions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E778235-0D57-4DEC-9FC6-65CCD791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01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Generated TestFlight notes explain what changed and what to test.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EB15C3E-EAE0-4822-AB17-252DBE66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81467254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B1C5760D-E4FE-41B5-BD19-73619F898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Release the code. Approve the flag.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E204D4E-7871-4149-A44C-834B0DA4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Small changes ship behind feature flags.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0AE7AAC-3037-4C4C-A4CD-8DF290A8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Small increments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58A2A5F-88E2-462A-A069-4D819818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unfinished features hidden behind a flag.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7809933-9A60-46F7-BC65-B813DACC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Seamless releases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0A88628-9926-4CDE-8AB0-720A1F40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Release verified code without the feature sign-off queue.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CC48CF3-12ED-4FBC-AB88-C7BA2376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Focused approval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A1B0E69-8C78-47DA-9CA8-E0F9F865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Approve activating the feature when it is ready.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1A8EA7A-8FAC-4C67-969B-AC724566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92092799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7C6AACCF-78D5-4909-958E-7A3F9DA8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development rhythm changed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0D3AD52A-1893-4DE7-9936-A56A382384D0}"/>
              </a:ext>
            </a:extLst>
          </p:cNvPr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efb1e83f7847ad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97F17610-E052-42A0-ADCD-77E55F38B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7D2C8612-54C8-4F5E-A81D-E238A50C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C317937B-C44C-4602-98B7-73CC96C6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App and design-system PRs. October* covers 1 to 8 October only. Activity, not productivity.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72461C6-4310-428A-ABEC-32A913B0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40212496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">
            <a:extLst xmlns:a="http://schemas.openxmlformats.org/drawingml/2006/main">
              <a:ext uri="{FF2B5EF4-FFF2-40B4-BE49-F238E27FC236}">
                <a16:creationId xmlns:a16="http://schemas.microsoft.com/office/drawing/2014/main" id="{8645B41D-8888-4ECF-BF5F-034D8391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There’s another talk in what we left out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9BD0904-F598-4CF7-B513-FF8C1735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A few months of change across the team, codebase and business.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D2BBE7C-387F-42DE-884E-59739CB1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45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Design system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A7278EB-4CDA-43D5-9E20-E66A8467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145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A shared UI language and a consistent quality bar.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85A4972-4075-4869-B3DD-64FAE716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22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Monorepo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71D09AD-99A4-4076-99B2-00932963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22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Shared code and coordinated changes.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71ABEC0-5E42-401B-B7E4-05704C3F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99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Ways of working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FB90CE4-A354-4241-988C-F2D46D8C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099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Clearer ownership and everyday engineering habits.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AC8B7AE-0F10-4577-9EE1-D32AE7A2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76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Product engineering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CFE8016-7B12-42BB-81B6-E042C3A7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576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Broader ownership, from product decisions to delivery.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E660B54-5D36-4D86-9CAE-FF21CFD2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53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AI development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ED9196F0-978E-4448-8795-E09469A8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053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Adoption across planning, code, review and verification.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26C316F-8EB0-44BC-90BB-3AF685F5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30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An AI harness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0552E62-13CB-46B0-A0BD-9032BCFE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6530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Context, skills, tools and checks around the agents.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16EDA8A-8715-4662-A132-D492DB16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47514659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ADB19950-AB34-4330-AA21-056EA6C6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What I’d take into another team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2D892FD-80E3-4197-8699-DAE7E535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07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Find the 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978B75A-F8E8-43E9-B5D4-E192C52F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07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Start where repeated work slows delivery.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0F654D7-2ABC-4937-860B-C466B03D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51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Write down the bar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3F734A6-A7C4-47D4-B290-345F4A1E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051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quality expectations clear to people and AI.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EDB2AA0-AF8D-495A-8CAA-5D56D767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95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Close the feedback loop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16254AE-7CB6-499F-A5EB-B551E1643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195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Connect checks, evidence and fixes.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E922A3F-E5A7-4225-B9A8-80C65011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39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Adapt the rollout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6748C3C-9298-4801-A34D-A98788CD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339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Choose tools and release rules that fit your team.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EE9D1D9-CF2E-402D-B777-83A2B66C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Keep the principles. Adapt the implementation.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213257B-6250-4BF2-81C6-73D2075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02475992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">
            <a:extLst xmlns:a="http://schemas.openxmlformats.org/drawingml/2006/main">
              <a:ext uri="{FF2B5EF4-FFF2-40B4-BE49-F238E27FC236}">
                <a16:creationId xmlns:a16="http://schemas.microsoft.com/office/drawing/2014/main" id="{57626DDD-622B-498C-9CBC-8BBC9A43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Confidence in AI-assisted development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B7C99E9-E12C-4E6A-A4D4-31099211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Seven practices for mobile development. One continuous loop.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6B550EF-B707-4609-B149-7BB8C7AC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Skills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A4C37E8-C31C-48B9-AE5F-24C13F2C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860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Repeat good engineering habits.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E7FE47E-439F-45D9-BD83-AFC801F4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622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Testing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077250B-C3F3-4981-B4A6-00916769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622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Protect behaviour with regression checks.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9037C83-3111-4F0A-9CB1-24D5BDAE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385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CI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3B0AED0-A1A3-457D-AE8B-5DF2000A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385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Check every PR. Block failures until fixed.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6F1FC78-AFA8-4E53-8989-340F0D2C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47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Device verification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9FADCF4-0A1F-401A-AC25-65E9EBB3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147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Maestro smoke and nightly checks. Video evidence.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1246631-2CEE-4012-8C2E-1E45DEFD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10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AI reviewers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A8722E56-785D-4F96-859A-7815C276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910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guidelines. Evaluate feedback. Fix valid issues.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1889217-72A8-435F-AACB-C85775B3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Sentry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E664314-FBEE-4429-A54D-485227FD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672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Turn production issues into regression checks.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DAE53526-6AC1-44CD-96AE-50903A0B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435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Delivery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0D24450E-ED31-4EB7-AFDF-22599BF3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435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Canary on merge. Nightly beta. Feature flags.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8E9309-60A5-4B99-A13F-9AA6A10E62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7ec942bdae4470"/>
          <a:stretch xmlns:a="http://schemas.openxmlformats.org/drawingml/2006/main"/>
        </p:blipFill>
        <p:spPr>
          <a:xfrm xmlns:a="http://schemas.openxmlformats.org/drawingml/2006/main">
            <a:off x="9525000" y="309562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8" name="Share page">
            <a:extLst xmlns:a="http://schemas.openxmlformats.org/drawingml/2006/main">
              <a:ext uri="{FF2B5EF4-FFF2-40B4-BE49-F238E27FC236}">
                <a16:creationId xmlns:a16="http://schemas.microsoft.com/office/drawing/2014/main" id="{9B5EBC54-C358-4C7A-BE76-53C7CCBB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24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MrAdib.com/@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17EA7711-33FF-4ED6-891E-7400F669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Less repetitive QA. More confidence. Faster delivery.</a:t>
            </a:r>
          </a:p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2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28F6CFF-1066-4A0C-A112-69700CCC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0365317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2026-10-22T11:24:50.9860000Z</dcterms:created>
  <dcterms:modified xsi:type="dcterms:W3CDTF">2026-10-22T11:24:50.9860000Z</dcterms:modified>
</coreProperties>
</file>